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7"/>
  </p:notesMasterIdLst>
  <p:sldIdLst>
    <p:sldId id="266" r:id="rId2"/>
    <p:sldId id="373" r:id="rId3"/>
    <p:sldId id="338" r:id="rId4"/>
    <p:sldId id="267" r:id="rId5"/>
    <p:sldId id="268" r:id="rId6"/>
    <p:sldId id="378" r:id="rId7"/>
    <p:sldId id="270" r:id="rId8"/>
    <p:sldId id="271" r:id="rId9"/>
    <p:sldId id="272" r:id="rId10"/>
    <p:sldId id="279" r:id="rId11"/>
    <p:sldId id="349" r:id="rId12"/>
    <p:sldId id="351" r:id="rId13"/>
    <p:sldId id="339" r:id="rId14"/>
    <p:sldId id="341" r:id="rId15"/>
    <p:sldId id="297" r:id="rId16"/>
    <p:sldId id="343" r:id="rId17"/>
    <p:sldId id="344" r:id="rId18"/>
    <p:sldId id="348" r:id="rId19"/>
    <p:sldId id="352" r:id="rId20"/>
    <p:sldId id="354" r:id="rId21"/>
    <p:sldId id="353" r:id="rId22"/>
    <p:sldId id="355" r:id="rId23"/>
    <p:sldId id="356" r:id="rId24"/>
    <p:sldId id="357" r:id="rId25"/>
    <p:sldId id="290" r:id="rId26"/>
    <p:sldId id="292" r:id="rId27"/>
    <p:sldId id="305" r:id="rId28"/>
    <p:sldId id="304" r:id="rId29"/>
    <p:sldId id="307" r:id="rId30"/>
    <p:sldId id="345" r:id="rId31"/>
    <p:sldId id="346" r:id="rId32"/>
    <p:sldId id="337" r:id="rId33"/>
    <p:sldId id="359" r:id="rId34"/>
    <p:sldId id="360" r:id="rId35"/>
    <p:sldId id="361" r:id="rId36"/>
    <p:sldId id="274" r:id="rId37"/>
    <p:sldId id="285" r:id="rId38"/>
    <p:sldId id="275" r:id="rId39"/>
    <p:sldId id="282" r:id="rId40"/>
    <p:sldId id="294" r:id="rId41"/>
    <p:sldId id="286" r:id="rId42"/>
    <p:sldId id="287" r:id="rId43"/>
    <p:sldId id="293" r:id="rId44"/>
    <p:sldId id="317" r:id="rId45"/>
    <p:sldId id="318" r:id="rId46"/>
    <p:sldId id="319" r:id="rId47"/>
    <p:sldId id="325" r:id="rId48"/>
    <p:sldId id="320" r:id="rId49"/>
    <p:sldId id="321" r:id="rId50"/>
    <p:sldId id="323" r:id="rId51"/>
    <p:sldId id="324" r:id="rId52"/>
    <p:sldId id="326" r:id="rId53"/>
    <p:sldId id="327" r:id="rId54"/>
    <p:sldId id="328" r:id="rId55"/>
    <p:sldId id="329" r:id="rId56"/>
    <p:sldId id="330" r:id="rId57"/>
    <p:sldId id="363" r:id="rId58"/>
    <p:sldId id="364" r:id="rId59"/>
    <p:sldId id="366" r:id="rId60"/>
    <p:sldId id="365" r:id="rId61"/>
    <p:sldId id="362" r:id="rId62"/>
    <p:sldId id="367" r:id="rId63"/>
    <p:sldId id="368" r:id="rId64"/>
    <p:sldId id="369" r:id="rId65"/>
    <p:sldId id="370" r:id="rId66"/>
    <p:sldId id="371" r:id="rId67"/>
    <p:sldId id="372" r:id="rId68"/>
    <p:sldId id="335" r:id="rId69"/>
    <p:sldId id="374" r:id="rId70"/>
    <p:sldId id="375" r:id="rId71"/>
    <p:sldId id="376" r:id="rId72"/>
    <p:sldId id="377" r:id="rId73"/>
    <p:sldId id="379" r:id="rId74"/>
    <p:sldId id="380" r:id="rId75"/>
    <p:sldId id="381" r:id="rId7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709" autoAdjust="0"/>
  </p:normalViewPr>
  <p:slideViewPr>
    <p:cSldViewPr>
      <p:cViewPr varScale="1">
        <p:scale>
          <a:sx n="73" d="100"/>
          <a:sy n="73" d="100"/>
        </p:scale>
        <p:origin x="1068"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_rels/data5.xml.rels><?xml version="1.0" encoding="UTF-8" standalone="yes"?>
<Relationships xmlns="http://schemas.openxmlformats.org/package/2006/relationships"><Relationship Id="rId1" Type="http://schemas.openxmlformats.org/officeDocument/2006/relationships/image" Target="../media/image46.jpeg"/></Relationships>
</file>

<file path=ppt/diagrams/_rels/drawing5.xml.rels><?xml version="1.0" encoding="UTF-8" standalone="yes"?>
<Relationships xmlns="http://schemas.openxmlformats.org/package/2006/relationships"><Relationship Id="rId1" Type="http://schemas.openxmlformats.org/officeDocument/2006/relationships/image" Target="../media/image46.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5B6BDA4-3D2A-49C8-9A4F-2734A57058D2}" type="doc">
      <dgm:prSet loTypeId="urn:microsoft.com/office/officeart/2005/8/layout/pyramid2" loCatId="list" qsTypeId="urn:microsoft.com/office/officeart/2005/8/quickstyle/simple1" qsCatId="simple" csTypeId="urn:microsoft.com/office/officeart/2005/8/colors/accent1_2" csCatId="accent1" phldr="1"/>
      <dgm:spPr/>
    </dgm:pt>
    <dgm:pt modelId="{4A42A65A-2C81-486E-AFD2-99BA7CDA00A3}">
      <dgm:prSet phldrT="[Text]"/>
      <dgm:spPr/>
      <dgm:t>
        <a:bodyPr/>
        <a:lstStyle/>
        <a:p>
          <a:r>
            <a:rPr lang="en-US" b="1">
              <a:latin typeface="Arial" charset="0"/>
            </a:rPr>
            <a:t>Quyết định về chiều dài</a:t>
          </a:r>
          <a:endParaRPr lang="en-US"/>
        </a:p>
      </dgm:t>
    </dgm:pt>
    <dgm:pt modelId="{CF520F51-CAE9-406E-8AE4-35EC2635FF75}" type="parTrans" cxnId="{6B695463-56E4-44DC-A8E0-9FEF9A3E0203}">
      <dgm:prSet/>
      <dgm:spPr/>
      <dgm:t>
        <a:bodyPr/>
        <a:lstStyle/>
        <a:p>
          <a:endParaRPr lang="en-US"/>
        </a:p>
      </dgm:t>
    </dgm:pt>
    <dgm:pt modelId="{5B8113BC-6ADA-417E-BD7A-7CC30356D4B5}" type="sibTrans" cxnId="{6B695463-56E4-44DC-A8E0-9FEF9A3E0203}">
      <dgm:prSet/>
      <dgm:spPr/>
      <dgm:t>
        <a:bodyPr/>
        <a:lstStyle/>
        <a:p>
          <a:endParaRPr lang="en-US"/>
        </a:p>
      </dgm:t>
    </dgm:pt>
    <dgm:pt modelId="{B2555946-24E2-4360-9D92-69B67657DE20}">
      <dgm:prSet phldrT="[Text]"/>
      <dgm:spPr/>
      <dgm:t>
        <a:bodyPr/>
        <a:lstStyle/>
        <a:p>
          <a:r>
            <a:rPr lang="en-US" b="1">
              <a:latin typeface="Arial" charset="0"/>
            </a:rPr>
            <a:t>Quyết định hiện đại hóa sản phẩm</a:t>
          </a:r>
          <a:endParaRPr lang="en-US"/>
        </a:p>
      </dgm:t>
    </dgm:pt>
    <dgm:pt modelId="{E6E34F0A-E77E-487A-B9EC-B5F81E315A6A}" type="parTrans" cxnId="{19533614-6B7F-4D8F-A9F4-7456BACD9909}">
      <dgm:prSet/>
      <dgm:spPr/>
      <dgm:t>
        <a:bodyPr/>
        <a:lstStyle/>
        <a:p>
          <a:endParaRPr lang="en-US"/>
        </a:p>
      </dgm:t>
    </dgm:pt>
    <dgm:pt modelId="{C271177B-8C76-42CB-9EA2-91462EF4AC9A}" type="sibTrans" cxnId="{19533614-6B7F-4D8F-A9F4-7456BACD9909}">
      <dgm:prSet/>
      <dgm:spPr/>
      <dgm:t>
        <a:bodyPr/>
        <a:lstStyle/>
        <a:p>
          <a:endParaRPr lang="en-US"/>
        </a:p>
      </dgm:t>
    </dgm:pt>
    <dgm:pt modelId="{F846F00A-BD74-436F-8650-DE9EE1FEA50A}">
      <dgm:prSet phldrT="[Text]"/>
      <dgm:spPr/>
      <dgm:t>
        <a:bodyPr/>
        <a:lstStyle/>
        <a:p>
          <a:r>
            <a:rPr lang="en-US" b="1">
              <a:latin typeface="Arial" charset="0"/>
            </a:rPr>
            <a:t>Quyết định khuếch trương và loại bỏ sản phẩm</a:t>
          </a:r>
          <a:endParaRPr lang="en-US"/>
        </a:p>
      </dgm:t>
    </dgm:pt>
    <dgm:pt modelId="{0E6D5098-CC11-434A-8EDA-FFE6F989E3B3}" type="parTrans" cxnId="{67475623-1B40-4299-8B58-697A35B062EE}">
      <dgm:prSet/>
      <dgm:spPr/>
      <dgm:t>
        <a:bodyPr/>
        <a:lstStyle/>
        <a:p>
          <a:endParaRPr lang="en-US"/>
        </a:p>
      </dgm:t>
    </dgm:pt>
    <dgm:pt modelId="{97F0A295-F9D5-4651-BC27-6C050772FB93}" type="sibTrans" cxnId="{67475623-1B40-4299-8B58-697A35B062EE}">
      <dgm:prSet/>
      <dgm:spPr/>
      <dgm:t>
        <a:bodyPr/>
        <a:lstStyle/>
        <a:p>
          <a:endParaRPr lang="en-US"/>
        </a:p>
      </dgm:t>
    </dgm:pt>
    <dgm:pt modelId="{4AC21817-9CEB-448F-BBF6-80EF4F030A05}" type="pres">
      <dgm:prSet presAssocID="{55B6BDA4-3D2A-49C8-9A4F-2734A57058D2}" presName="compositeShape" presStyleCnt="0">
        <dgm:presLayoutVars>
          <dgm:dir/>
          <dgm:resizeHandles/>
        </dgm:presLayoutVars>
      </dgm:prSet>
      <dgm:spPr/>
    </dgm:pt>
    <dgm:pt modelId="{BE1D2DF9-0C13-4201-8687-6B809AEAB428}" type="pres">
      <dgm:prSet presAssocID="{55B6BDA4-3D2A-49C8-9A4F-2734A57058D2}" presName="pyramid" presStyleLbl="node1" presStyleIdx="0" presStyleCnt="1"/>
      <dgm:spPr/>
    </dgm:pt>
    <dgm:pt modelId="{9D5E396A-BBD8-4E78-8A1A-311ACA55AFC6}" type="pres">
      <dgm:prSet presAssocID="{55B6BDA4-3D2A-49C8-9A4F-2734A57058D2}" presName="theList" presStyleCnt="0"/>
      <dgm:spPr/>
    </dgm:pt>
    <dgm:pt modelId="{865FF40F-0869-44B4-9553-2D8C2F485CBD}" type="pres">
      <dgm:prSet presAssocID="{4A42A65A-2C81-486E-AFD2-99BA7CDA00A3}" presName="aNode" presStyleLbl="fgAcc1" presStyleIdx="0" presStyleCnt="3">
        <dgm:presLayoutVars>
          <dgm:bulletEnabled val="1"/>
        </dgm:presLayoutVars>
      </dgm:prSet>
      <dgm:spPr/>
    </dgm:pt>
    <dgm:pt modelId="{A71B4EC9-3F19-4E17-91DA-5138F182C007}" type="pres">
      <dgm:prSet presAssocID="{4A42A65A-2C81-486E-AFD2-99BA7CDA00A3}" presName="aSpace" presStyleCnt="0"/>
      <dgm:spPr/>
    </dgm:pt>
    <dgm:pt modelId="{765E5998-0D12-4617-9B8F-8E867D3A66E0}" type="pres">
      <dgm:prSet presAssocID="{B2555946-24E2-4360-9D92-69B67657DE20}" presName="aNode" presStyleLbl="fgAcc1" presStyleIdx="1" presStyleCnt="3">
        <dgm:presLayoutVars>
          <dgm:bulletEnabled val="1"/>
        </dgm:presLayoutVars>
      </dgm:prSet>
      <dgm:spPr/>
    </dgm:pt>
    <dgm:pt modelId="{E621B81E-FA00-40C7-9DC2-52D9616BB7ED}" type="pres">
      <dgm:prSet presAssocID="{B2555946-24E2-4360-9D92-69B67657DE20}" presName="aSpace" presStyleCnt="0"/>
      <dgm:spPr/>
    </dgm:pt>
    <dgm:pt modelId="{8517779E-6509-4AE4-8B79-CBB1691D92E3}" type="pres">
      <dgm:prSet presAssocID="{F846F00A-BD74-436F-8650-DE9EE1FEA50A}" presName="aNode" presStyleLbl="fgAcc1" presStyleIdx="2" presStyleCnt="3">
        <dgm:presLayoutVars>
          <dgm:bulletEnabled val="1"/>
        </dgm:presLayoutVars>
      </dgm:prSet>
      <dgm:spPr/>
    </dgm:pt>
    <dgm:pt modelId="{2961C7B3-4370-46A9-A474-750EB9DD6478}" type="pres">
      <dgm:prSet presAssocID="{F846F00A-BD74-436F-8650-DE9EE1FEA50A}" presName="aSpace" presStyleCnt="0"/>
      <dgm:spPr/>
    </dgm:pt>
  </dgm:ptLst>
  <dgm:cxnLst>
    <dgm:cxn modelId="{19533614-6B7F-4D8F-A9F4-7456BACD9909}" srcId="{55B6BDA4-3D2A-49C8-9A4F-2734A57058D2}" destId="{B2555946-24E2-4360-9D92-69B67657DE20}" srcOrd="1" destOrd="0" parTransId="{E6E34F0A-E77E-487A-B9EC-B5F81E315A6A}" sibTransId="{C271177B-8C76-42CB-9EA2-91462EF4AC9A}"/>
    <dgm:cxn modelId="{67475623-1B40-4299-8B58-697A35B062EE}" srcId="{55B6BDA4-3D2A-49C8-9A4F-2734A57058D2}" destId="{F846F00A-BD74-436F-8650-DE9EE1FEA50A}" srcOrd="2" destOrd="0" parTransId="{0E6D5098-CC11-434A-8EDA-FFE6F989E3B3}" sibTransId="{97F0A295-F9D5-4651-BC27-6C050772FB93}"/>
    <dgm:cxn modelId="{6B695463-56E4-44DC-A8E0-9FEF9A3E0203}" srcId="{55B6BDA4-3D2A-49C8-9A4F-2734A57058D2}" destId="{4A42A65A-2C81-486E-AFD2-99BA7CDA00A3}" srcOrd="0" destOrd="0" parTransId="{CF520F51-CAE9-406E-8AE4-35EC2635FF75}" sibTransId="{5B8113BC-6ADA-417E-BD7A-7CC30356D4B5}"/>
    <dgm:cxn modelId="{61A59199-7D97-4575-B4B4-41190ADEA624}" type="presOf" srcId="{55B6BDA4-3D2A-49C8-9A4F-2734A57058D2}" destId="{4AC21817-9CEB-448F-BBF6-80EF4F030A05}" srcOrd="0" destOrd="0" presId="urn:microsoft.com/office/officeart/2005/8/layout/pyramid2"/>
    <dgm:cxn modelId="{94846CBB-CBE3-4222-A12B-6F9FA949839F}" type="presOf" srcId="{F846F00A-BD74-436F-8650-DE9EE1FEA50A}" destId="{8517779E-6509-4AE4-8B79-CBB1691D92E3}" srcOrd="0" destOrd="0" presId="urn:microsoft.com/office/officeart/2005/8/layout/pyramid2"/>
    <dgm:cxn modelId="{06C0B5D0-02BD-4036-998F-A4415231C90B}" type="presOf" srcId="{4A42A65A-2C81-486E-AFD2-99BA7CDA00A3}" destId="{865FF40F-0869-44B4-9553-2D8C2F485CBD}" srcOrd="0" destOrd="0" presId="urn:microsoft.com/office/officeart/2005/8/layout/pyramid2"/>
    <dgm:cxn modelId="{9C3539F1-88E9-463E-8248-98F983293B88}" type="presOf" srcId="{B2555946-24E2-4360-9D92-69B67657DE20}" destId="{765E5998-0D12-4617-9B8F-8E867D3A66E0}" srcOrd="0" destOrd="0" presId="urn:microsoft.com/office/officeart/2005/8/layout/pyramid2"/>
    <dgm:cxn modelId="{258593AE-32AC-48F2-8EC5-DE62772FF090}" type="presParOf" srcId="{4AC21817-9CEB-448F-BBF6-80EF4F030A05}" destId="{BE1D2DF9-0C13-4201-8687-6B809AEAB428}" srcOrd="0" destOrd="0" presId="urn:microsoft.com/office/officeart/2005/8/layout/pyramid2"/>
    <dgm:cxn modelId="{C777BA0D-1D3E-4530-9996-2BC7FD4F28ED}" type="presParOf" srcId="{4AC21817-9CEB-448F-BBF6-80EF4F030A05}" destId="{9D5E396A-BBD8-4E78-8A1A-311ACA55AFC6}" srcOrd="1" destOrd="0" presId="urn:microsoft.com/office/officeart/2005/8/layout/pyramid2"/>
    <dgm:cxn modelId="{68C24183-2150-409D-AC0D-9470713871D1}" type="presParOf" srcId="{9D5E396A-BBD8-4E78-8A1A-311ACA55AFC6}" destId="{865FF40F-0869-44B4-9553-2D8C2F485CBD}" srcOrd="0" destOrd="0" presId="urn:microsoft.com/office/officeart/2005/8/layout/pyramid2"/>
    <dgm:cxn modelId="{6E040918-0DB6-4C81-87FA-62839E984C47}" type="presParOf" srcId="{9D5E396A-BBD8-4E78-8A1A-311ACA55AFC6}" destId="{A71B4EC9-3F19-4E17-91DA-5138F182C007}" srcOrd="1" destOrd="0" presId="urn:microsoft.com/office/officeart/2005/8/layout/pyramid2"/>
    <dgm:cxn modelId="{2891C45D-F206-44E8-9A98-750BCCB5DCB8}" type="presParOf" srcId="{9D5E396A-BBD8-4E78-8A1A-311ACA55AFC6}" destId="{765E5998-0D12-4617-9B8F-8E867D3A66E0}" srcOrd="2" destOrd="0" presId="urn:microsoft.com/office/officeart/2005/8/layout/pyramid2"/>
    <dgm:cxn modelId="{334CB3DC-A6F1-4847-91CC-B10A87A9C5FE}" type="presParOf" srcId="{9D5E396A-BBD8-4E78-8A1A-311ACA55AFC6}" destId="{E621B81E-FA00-40C7-9DC2-52D9616BB7ED}" srcOrd="3" destOrd="0" presId="urn:microsoft.com/office/officeart/2005/8/layout/pyramid2"/>
    <dgm:cxn modelId="{B8A48939-41D5-46F3-88CD-37CA71F3BB6B}" type="presParOf" srcId="{9D5E396A-BBD8-4E78-8A1A-311ACA55AFC6}" destId="{8517779E-6509-4AE4-8B79-CBB1691D92E3}" srcOrd="4" destOrd="0" presId="urn:microsoft.com/office/officeart/2005/8/layout/pyramid2"/>
    <dgm:cxn modelId="{937947BF-5AB3-4ECD-9A2F-648E95ABCA73}" type="presParOf" srcId="{9D5E396A-BBD8-4E78-8A1A-311ACA55AFC6}" destId="{2961C7B3-4370-46A9-A474-750EB9DD6478}"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497230-286A-4253-B2C7-24A1949D58C9}"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E47A0B30-4291-4996-8640-7B11C83BCD05}">
      <dgm:prSet phldrT="[Text]" custT="1"/>
      <dgm:spPr/>
      <dgm:t>
        <a:bodyPr/>
        <a:lstStyle/>
        <a:p>
          <a:r>
            <a:rPr lang="en-US" sz="2800" dirty="0" err="1"/>
            <a:t>Quyết</a:t>
          </a:r>
          <a:r>
            <a:rPr lang="en-US" sz="2800" dirty="0"/>
            <a:t> </a:t>
          </a:r>
          <a:r>
            <a:rPr lang="en-US" sz="2800" dirty="0" err="1"/>
            <a:t>định</a:t>
          </a:r>
          <a:r>
            <a:rPr lang="en-US" sz="2800" dirty="0"/>
            <a:t> </a:t>
          </a:r>
          <a:r>
            <a:rPr lang="en-US" sz="2800" dirty="0" err="1"/>
            <a:t>về</a:t>
          </a:r>
          <a:r>
            <a:rPr lang="en-US" sz="2800" dirty="0"/>
            <a:t> </a:t>
          </a:r>
          <a:r>
            <a:rPr lang="en-US" sz="2800" dirty="0" err="1"/>
            <a:t>nội</a:t>
          </a:r>
          <a:r>
            <a:rPr lang="en-US" sz="2800" dirty="0"/>
            <a:t> dung </a:t>
          </a:r>
          <a:r>
            <a:rPr lang="en-US" sz="2800" dirty="0" err="1"/>
            <a:t>dịch</a:t>
          </a:r>
          <a:r>
            <a:rPr lang="en-US" sz="2800" dirty="0"/>
            <a:t> </a:t>
          </a:r>
          <a:r>
            <a:rPr lang="en-US" sz="2800" dirty="0" err="1"/>
            <a:t>vụ</a:t>
          </a:r>
          <a:r>
            <a:rPr lang="en-US" sz="2800" dirty="0"/>
            <a:t> </a:t>
          </a:r>
          <a:r>
            <a:rPr lang="en-US" sz="2800" dirty="0" err="1"/>
            <a:t>cung</a:t>
          </a:r>
          <a:r>
            <a:rPr lang="en-US" sz="2800" dirty="0"/>
            <a:t> </a:t>
          </a:r>
          <a:r>
            <a:rPr lang="en-US" sz="2800" dirty="0" err="1"/>
            <a:t>cấp</a:t>
          </a:r>
          <a:r>
            <a:rPr lang="en-US" sz="2800" dirty="0"/>
            <a:t> </a:t>
          </a:r>
          <a:r>
            <a:rPr lang="en-US" sz="2800" dirty="0" err="1"/>
            <a:t>cho</a:t>
          </a:r>
          <a:r>
            <a:rPr lang="en-US" sz="2800" dirty="0"/>
            <a:t> </a:t>
          </a:r>
          <a:r>
            <a:rPr lang="en-US" sz="2800" dirty="0" err="1"/>
            <a:t>khách</a:t>
          </a:r>
          <a:r>
            <a:rPr lang="en-US" sz="2800" dirty="0"/>
            <a:t> </a:t>
          </a:r>
          <a:r>
            <a:rPr lang="en-US" sz="2800" dirty="0" err="1"/>
            <a:t>hàng</a:t>
          </a:r>
          <a:r>
            <a:rPr lang="en-US" sz="2800" dirty="0"/>
            <a:t> </a:t>
          </a:r>
        </a:p>
      </dgm:t>
    </dgm:pt>
    <dgm:pt modelId="{9004AD3E-7D69-4406-89AD-A78800904125}" type="parTrans" cxnId="{F0F528F2-EF23-4A13-BC27-4D7276137D08}">
      <dgm:prSet/>
      <dgm:spPr/>
      <dgm:t>
        <a:bodyPr/>
        <a:lstStyle/>
        <a:p>
          <a:endParaRPr lang="en-US" sz="2800"/>
        </a:p>
      </dgm:t>
    </dgm:pt>
    <dgm:pt modelId="{432FB297-3024-4112-B302-498D58058B16}" type="sibTrans" cxnId="{F0F528F2-EF23-4A13-BC27-4D7276137D08}">
      <dgm:prSet/>
      <dgm:spPr/>
      <dgm:t>
        <a:bodyPr/>
        <a:lstStyle/>
        <a:p>
          <a:endParaRPr lang="en-US" sz="2800"/>
        </a:p>
      </dgm:t>
    </dgm:pt>
    <dgm:pt modelId="{CD553E3F-EBF4-4BF2-8434-607E5C00E415}">
      <dgm:prSet phldrT="[Text]" custT="1"/>
      <dgm:spPr/>
      <dgm:t>
        <a:bodyPr/>
        <a:lstStyle/>
        <a:p>
          <a:r>
            <a:rPr lang="en-US" sz="2800" dirty="0" err="1"/>
            <a:t>Quyết</a:t>
          </a:r>
          <a:r>
            <a:rPr lang="en-US" sz="2800" dirty="0"/>
            <a:t> </a:t>
          </a:r>
          <a:r>
            <a:rPr lang="en-US" sz="2800" dirty="0" err="1"/>
            <a:t>định</a:t>
          </a:r>
          <a:r>
            <a:rPr lang="en-US" sz="2800" dirty="0"/>
            <a:t> </a:t>
          </a:r>
          <a:r>
            <a:rPr lang="en-US" sz="2800" dirty="0" err="1"/>
            <a:t>về</a:t>
          </a:r>
          <a:r>
            <a:rPr lang="en-US" sz="2800" dirty="0"/>
            <a:t> </a:t>
          </a:r>
          <a:r>
            <a:rPr lang="en-US" sz="2800" dirty="0" err="1"/>
            <a:t>mức</a:t>
          </a:r>
          <a:r>
            <a:rPr lang="en-US" sz="2800" dirty="0"/>
            <a:t> </a:t>
          </a:r>
          <a:r>
            <a:rPr lang="en-US" sz="2800" dirty="0" err="1"/>
            <a:t>độ</a:t>
          </a:r>
          <a:r>
            <a:rPr lang="en-US" sz="2800" dirty="0"/>
            <a:t> </a:t>
          </a:r>
          <a:r>
            <a:rPr lang="en-US" sz="2800" dirty="0" err="1"/>
            <a:t>dịch</a:t>
          </a:r>
          <a:r>
            <a:rPr lang="en-US" sz="2800" dirty="0"/>
            <a:t> </a:t>
          </a:r>
          <a:r>
            <a:rPr lang="en-US" sz="2800" dirty="0" err="1"/>
            <a:t>vụ</a:t>
          </a:r>
          <a:r>
            <a:rPr lang="en-US" sz="2800" dirty="0"/>
            <a:t>  </a:t>
          </a:r>
          <a:r>
            <a:rPr lang="en-US" sz="2800" dirty="0" err="1"/>
            <a:t>cung</a:t>
          </a:r>
          <a:r>
            <a:rPr lang="en-US" sz="2800" dirty="0"/>
            <a:t> </a:t>
          </a:r>
          <a:r>
            <a:rPr lang="en-US" sz="2800" dirty="0" err="1"/>
            <a:t>cấp</a:t>
          </a:r>
          <a:r>
            <a:rPr lang="en-US" sz="2800" dirty="0"/>
            <a:t> </a:t>
          </a:r>
          <a:r>
            <a:rPr lang="en-US" sz="2800" dirty="0" err="1"/>
            <a:t>cho</a:t>
          </a:r>
          <a:r>
            <a:rPr lang="en-US" sz="2800" dirty="0"/>
            <a:t> </a:t>
          </a:r>
          <a:r>
            <a:rPr lang="en-US" sz="2800" dirty="0" err="1"/>
            <a:t>khách</a:t>
          </a:r>
          <a:r>
            <a:rPr lang="en-US" sz="2800" dirty="0"/>
            <a:t> </a:t>
          </a:r>
          <a:r>
            <a:rPr lang="en-US" sz="2800" dirty="0" err="1"/>
            <a:t>hàng</a:t>
          </a:r>
          <a:endParaRPr lang="en-US" sz="2800" dirty="0"/>
        </a:p>
      </dgm:t>
    </dgm:pt>
    <dgm:pt modelId="{C2793B70-C52B-4A78-842E-E5301AF130F6}" type="parTrans" cxnId="{D14B1659-655F-4CA2-A8B2-9142819CFEFE}">
      <dgm:prSet/>
      <dgm:spPr/>
      <dgm:t>
        <a:bodyPr/>
        <a:lstStyle/>
        <a:p>
          <a:endParaRPr lang="en-US" sz="2800"/>
        </a:p>
      </dgm:t>
    </dgm:pt>
    <dgm:pt modelId="{D9FD78F2-765C-47D2-9168-DDB8C047E092}" type="sibTrans" cxnId="{D14B1659-655F-4CA2-A8B2-9142819CFEFE}">
      <dgm:prSet/>
      <dgm:spPr/>
      <dgm:t>
        <a:bodyPr/>
        <a:lstStyle/>
        <a:p>
          <a:endParaRPr lang="en-US" sz="2800"/>
        </a:p>
      </dgm:t>
    </dgm:pt>
    <dgm:pt modelId="{F33AF8CF-73AB-49D8-8C17-C677F108F040}">
      <dgm:prSet phldrT="[Text]" custT="1"/>
      <dgm:spPr/>
      <dgm:t>
        <a:bodyPr/>
        <a:lstStyle/>
        <a:p>
          <a:r>
            <a:rPr lang="en-US" sz="2800" dirty="0" err="1"/>
            <a:t>Quyết</a:t>
          </a:r>
          <a:r>
            <a:rPr lang="en-US" sz="2800" dirty="0"/>
            <a:t> </a:t>
          </a:r>
          <a:r>
            <a:rPr lang="en-US" sz="2800" dirty="0" err="1"/>
            <a:t>định</a:t>
          </a:r>
          <a:r>
            <a:rPr lang="en-US" sz="2800" dirty="0"/>
            <a:t> </a:t>
          </a:r>
          <a:r>
            <a:rPr lang="en-US" sz="2800" dirty="0" err="1"/>
            <a:t>về</a:t>
          </a:r>
          <a:r>
            <a:rPr lang="en-US" sz="2800" dirty="0"/>
            <a:t> </a:t>
          </a:r>
          <a:r>
            <a:rPr lang="en-US" sz="2800" dirty="0" err="1"/>
            <a:t>hình</a:t>
          </a:r>
          <a:r>
            <a:rPr lang="en-US" sz="2800" dirty="0"/>
            <a:t> </a:t>
          </a:r>
          <a:r>
            <a:rPr lang="en-US" sz="2800" dirty="0" err="1"/>
            <a:t>thức</a:t>
          </a:r>
          <a:r>
            <a:rPr lang="en-US" sz="2800" dirty="0"/>
            <a:t> </a:t>
          </a:r>
          <a:r>
            <a:rPr lang="en-US" sz="2800" dirty="0" err="1"/>
            <a:t>cung</a:t>
          </a:r>
          <a:r>
            <a:rPr lang="en-US" sz="2800" dirty="0"/>
            <a:t> </a:t>
          </a:r>
          <a:r>
            <a:rPr lang="en-US" sz="2800" dirty="0" err="1"/>
            <a:t>cấp</a:t>
          </a:r>
          <a:r>
            <a:rPr lang="en-US" sz="2800" dirty="0"/>
            <a:t> </a:t>
          </a:r>
          <a:r>
            <a:rPr lang="en-US" sz="2800" dirty="0" err="1"/>
            <a:t>cho</a:t>
          </a:r>
          <a:r>
            <a:rPr lang="en-US" sz="2800" dirty="0"/>
            <a:t> </a:t>
          </a:r>
          <a:r>
            <a:rPr lang="en-US" sz="2800" dirty="0" err="1"/>
            <a:t>khách</a:t>
          </a:r>
          <a:r>
            <a:rPr lang="en-US" sz="2800" dirty="0"/>
            <a:t> </a:t>
          </a:r>
          <a:r>
            <a:rPr lang="en-US" sz="2800" dirty="0" err="1"/>
            <a:t>hàng</a:t>
          </a:r>
          <a:endParaRPr lang="en-US" sz="2800" dirty="0"/>
        </a:p>
      </dgm:t>
    </dgm:pt>
    <dgm:pt modelId="{90C481B7-939A-43F9-BD9E-42D6161F08F3}" type="parTrans" cxnId="{2DFE203B-B9A8-40B6-876E-5E39EB73E6C0}">
      <dgm:prSet/>
      <dgm:spPr/>
      <dgm:t>
        <a:bodyPr/>
        <a:lstStyle/>
        <a:p>
          <a:endParaRPr lang="en-US" sz="2800"/>
        </a:p>
      </dgm:t>
    </dgm:pt>
    <dgm:pt modelId="{035C1333-C8A0-4439-9F19-961634B8D969}" type="sibTrans" cxnId="{2DFE203B-B9A8-40B6-876E-5E39EB73E6C0}">
      <dgm:prSet/>
      <dgm:spPr/>
      <dgm:t>
        <a:bodyPr/>
        <a:lstStyle/>
        <a:p>
          <a:endParaRPr lang="en-US" sz="2800"/>
        </a:p>
      </dgm:t>
    </dgm:pt>
    <dgm:pt modelId="{2425BFA7-E3E4-454A-913E-FB0B7BB191BD}" type="pres">
      <dgm:prSet presAssocID="{04497230-286A-4253-B2C7-24A1949D58C9}" presName="linear" presStyleCnt="0">
        <dgm:presLayoutVars>
          <dgm:dir/>
          <dgm:animLvl val="lvl"/>
          <dgm:resizeHandles val="exact"/>
        </dgm:presLayoutVars>
      </dgm:prSet>
      <dgm:spPr/>
    </dgm:pt>
    <dgm:pt modelId="{D9B0AC7F-F482-4BBF-B01F-1E52D09C2F9B}" type="pres">
      <dgm:prSet presAssocID="{E47A0B30-4291-4996-8640-7B11C83BCD05}" presName="parentLin" presStyleCnt="0"/>
      <dgm:spPr/>
    </dgm:pt>
    <dgm:pt modelId="{0D2216AD-1D2F-4731-967E-6BE8EC11288F}" type="pres">
      <dgm:prSet presAssocID="{E47A0B30-4291-4996-8640-7B11C83BCD05}" presName="parentLeftMargin" presStyleLbl="node1" presStyleIdx="0" presStyleCnt="3"/>
      <dgm:spPr/>
    </dgm:pt>
    <dgm:pt modelId="{5F12F35B-C99B-477E-8332-5C4130B37D89}" type="pres">
      <dgm:prSet presAssocID="{E47A0B30-4291-4996-8640-7B11C83BCD05}" presName="parentText" presStyleLbl="node1" presStyleIdx="0" presStyleCnt="3" custScaleX="117215" custScaleY="213972">
        <dgm:presLayoutVars>
          <dgm:chMax val="0"/>
          <dgm:bulletEnabled val="1"/>
        </dgm:presLayoutVars>
      </dgm:prSet>
      <dgm:spPr/>
    </dgm:pt>
    <dgm:pt modelId="{71C1BD06-7D9F-48E2-8DB8-7368B96AB5DB}" type="pres">
      <dgm:prSet presAssocID="{E47A0B30-4291-4996-8640-7B11C83BCD05}" presName="negativeSpace" presStyleCnt="0"/>
      <dgm:spPr/>
    </dgm:pt>
    <dgm:pt modelId="{A8E755E6-221F-4706-A98D-1544ECE4A95B}" type="pres">
      <dgm:prSet presAssocID="{E47A0B30-4291-4996-8640-7B11C83BCD05}" presName="childText" presStyleLbl="conFgAcc1" presStyleIdx="0" presStyleCnt="3">
        <dgm:presLayoutVars>
          <dgm:bulletEnabled val="1"/>
        </dgm:presLayoutVars>
      </dgm:prSet>
      <dgm:spPr/>
    </dgm:pt>
    <dgm:pt modelId="{94E77341-E6ED-44FF-9DD9-F738E54B456A}" type="pres">
      <dgm:prSet presAssocID="{432FB297-3024-4112-B302-498D58058B16}" presName="spaceBetweenRectangles" presStyleCnt="0"/>
      <dgm:spPr/>
    </dgm:pt>
    <dgm:pt modelId="{2882D36B-E2E3-4B8B-A687-7A028F199960}" type="pres">
      <dgm:prSet presAssocID="{CD553E3F-EBF4-4BF2-8434-607E5C00E415}" presName="parentLin" presStyleCnt="0"/>
      <dgm:spPr/>
    </dgm:pt>
    <dgm:pt modelId="{527E4229-5A03-400D-9FE6-EA20CFDC3EDA}" type="pres">
      <dgm:prSet presAssocID="{CD553E3F-EBF4-4BF2-8434-607E5C00E415}" presName="parentLeftMargin" presStyleLbl="node1" presStyleIdx="0" presStyleCnt="3"/>
      <dgm:spPr/>
    </dgm:pt>
    <dgm:pt modelId="{D926FB36-7991-4CB7-B5DC-B1DB969B15B5}" type="pres">
      <dgm:prSet presAssocID="{CD553E3F-EBF4-4BF2-8434-607E5C00E415}" presName="parentText" presStyleLbl="node1" presStyleIdx="1" presStyleCnt="3" custScaleX="123281" custScaleY="181328">
        <dgm:presLayoutVars>
          <dgm:chMax val="0"/>
          <dgm:bulletEnabled val="1"/>
        </dgm:presLayoutVars>
      </dgm:prSet>
      <dgm:spPr/>
    </dgm:pt>
    <dgm:pt modelId="{F9BC6249-BBF1-4535-9995-21098344260E}" type="pres">
      <dgm:prSet presAssocID="{CD553E3F-EBF4-4BF2-8434-607E5C00E415}" presName="negativeSpace" presStyleCnt="0"/>
      <dgm:spPr/>
    </dgm:pt>
    <dgm:pt modelId="{1ABBFA35-D44D-48B4-8323-F6AF99A9C9BD}" type="pres">
      <dgm:prSet presAssocID="{CD553E3F-EBF4-4BF2-8434-607E5C00E415}" presName="childText" presStyleLbl="conFgAcc1" presStyleIdx="1" presStyleCnt="3">
        <dgm:presLayoutVars>
          <dgm:bulletEnabled val="1"/>
        </dgm:presLayoutVars>
      </dgm:prSet>
      <dgm:spPr/>
    </dgm:pt>
    <dgm:pt modelId="{BF92B432-A1A9-480D-8214-D2F0A14C5653}" type="pres">
      <dgm:prSet presAssocID="{D9FD78F2-765C-47D2-9168-DDB8C047E092}" presName="spaceBetweenRectangles" presStyleCnt="0"/>
      <dgm:spPr/>
    </dgm:pt>
    <dgm:pt modelId="{2ABD5902-EBE9-4FC5-80A5-98EFB9E4D237}" type="pres">
      <dgm:prSet presAssocID="{F33AF8CF-73AB-49D8-8C17-C677F108F040}" presName="parentLin" presStyleCnt="0"/>
      <dgm:spPr/>
    </dgm:pt>
    <dgm:pt modelId="{B0311023-3FF3-486E-B984-E62137BC9A97}" type="pres">
      <dgm:prSet presAssocID="{F33AF8CF-73AB-49D8-8C17-C677F108F040}" presName="parentLeftMargin" presStyleLbl="node1" presStyleIdx="1" presStyleCnt="3"/>
      <dgm:spPr/>
    </dgm:pt>
    <dgm:pt modelId="{6E7EC356-7DC4-41E6-BCE5-054CB2C82165}" type="pres">
      <dgm:prSet presAssocID="{F33AF8CF-73AB-49D8-8C17-C677F108F040}" presName="parentText" presStyleLbl="node1" presStyleIdx="2" presStyleCnt="3" custScaleX="122648" custScaleY="190575" custLinFactNeighborY="48496">
        <dgm:presLayoutVars>
          <dgm:chMax val="0"/>
          <dgm:bulletEnabled val="1"/>
        </dgm:presLayoutVars>
      </dgm:prSet>
      <dgm:spPr/>
    </dgm:pt>
    <dgm:pt modelId="{F1292025-19DF-4764-934E-37C481805220}" type="pres">
      <dgm:prSet presAssocID="{F33AF8CF-73AB-49D8-8C17-C677F108F040}" presName="negativeSpace" presStyleCnt="0"/>
      <dgm:spPr/>
    </dgm:pt>
    <dgm:pt modelId="{62274306-9077-477E-ADE4-BEA27CF9326D}" type="pres">
      <dgm:prSet presAssocID="{F33AF8CF-73AB-49D8-8C17-C677F108F040}" presName="childText" presStyleLbl="conFgAcc1" presStyleIdx="2" presStyleCnt="3">
        <dgm:presLayoutVars>
          <dgm:bulletEnabled val="1"/>
        </dgm:presLayoutVars>
      </dgm:prSet>
      <dgm:spPr/>
    </dgm:pt>
  </dgm:ptLst>
  <dgm:cxnLst>
    <dgm:cxn modelId="{FEE1D32C-8EF8-4C2D-A8B9-9CD47574C9E8}" type="presOf" srcId="{F33AF8CF-73AB-49D8-8C17-C677F108F040}" destId="{B0311023-3FF3-486E-B984-E62137BC9A97}" srcOrd="0" destOrd="0" presId="urn:microsoft.com/office/officeart/2005/8/layout/list1"/>
    <dgm:cxn modelId="{FBD1E42F-011D-4F35-AC61-8B1C9C1D97B0}" type="presOf" srcId="{E47A0B30-4291-4996-8640-7B11C83BCD05}" destId="{0D2216AD-1D2F-4731-967E-6BE8EC11288F}" srcOrd="0" destOrd="0" presId="urn:microsoft.com/office/officeart/2005/8/layout/list1"/>
    <dgm:cxn modelId="{2DFE203B-B9A8-40B6-876E-5E39EB73E6C0}" srcId="{04497230-286A-4253-B2C7-24A1949D58C9}" destId="{F33AF8CF-73AB-49D8-8C17-C677F108F040}" srcOrd="2" destOrd="0" parTransId="{90C481B7-939A-43F9-BD9E-42D6161F08F3}" sibTransId="{035C1333-C8A0-4439-9F19-961634B8D969}"/>
    <dgm:cxn modelId="{A6712762-C8AF-4EAB-A779-0452A34DED39}" type="presOf" srcId="{CD553E3F-EBF4-4BF2-8434-607E5C00E415}" destId="{527E4229-5A03-400D-9FE6-EA20CFDC3EDA}" srcOrd="0" destOrd="0" presId="urn:microsoft.com/office/officeart/2005/8/layout/list1"/>
    <dgm:cxn modelId="{D14B1659-655F-4CA2-A8B2-9142819CFEFE}" srcId="{04497230-286A-4253-B2C7-24A1949D58C9}" destId="{CD553E3F-EBF4-4BF2-8434-607E5C00E415}" srcOrd="1" destOrd="0" parTransId="{C2793B70-C52B-4A78-842E-E5301AF130F6}" sibTransId="{D9FD78F2-765C-47D2-9168-DDB8C047E092}"/>
    <dgm:cxn modelId="{776A31B5-F88C-45D4-95D3-DAEE950BCFA9}" type="presOf" srcId="{CD553E3F-EBF4-4BF2-8434-607E5C00E415}" destId="{D926FB36-7991-4CB7-B5DC-B1DB969B15B5}" srcOrd="1" destOrd="0" presId="urn:microsoft.com/office/officeart/2005/8/layout/list1"/>
    <dgm:cxn modelId="{5F1833B7-9B86-4CF7-A3DB-A40D92AE8253}" type="presOf" srcId="{E47A0B30-4291-4996-8640-7B11C83BCD05}" destId="{5F12F35B-C99B-477E-8332-5C4130B37D89}" srcOrd="1" destOrd="0" presId="urn:microsoft.com/office/officeart/2005/8/layout/list1"/>
    <dgm:cxn modelId="{9977ABEF-B2F0-476C-979E-50A143BABD80}" type="presOf" srcId="{F33AF8CF-73AB-49D8-8C17-C677F108F040}" destId="{6E7EC356-7DC4-41E6-BCE5-054CB2C82165}" srcOrd="1" destOrd="0" presId="urn:microsoft.com/office/officeart/2005/8/layout/list1"/>
    <dgm:cxn modelId="{F0F528F2-EF23-4A13-BC27-4D7276137D08}" srcId="{04497230-286A-4253-B2C7-24A1949D58C9}" destId="{E47A0B30-4291-4996-8640-7B11C83BCD05}" srcOrd="0" destOrd="0" parTransId="{9004AD3E-7D69-4406-89AD-A78800904125}" sibTransId="{432FB297-3024-4112-B302-498D58058B16}"/>
    <dgm:cxn modelId="{526937F7-2F73-4B1D-88E5-201754E6AD4B}" type="presOf" srcId="{04497230-286A-4253-B2C7-24A1949D58C9}" destId="{2425BFA7-E3E4-454A-913E-FB0B7BB191BD}" srcOrd="0" destOrd="0" presId="urn:microsoft.com/office/officeart/2005/8/layout/list1"/>
    <dgm:cxn modelId="{7699126A-8CA3-4D1A-A88F-86DD4EE9C42D}" type="presParOf" srcId="{2425BFA7-E3E4-454A-913E-FB0B7BB191BD}" destId="{D9B0AC7F-F482-4BBF-B01F-1E52D09C2F9B}" srcOrd="0" destOrd="0" presId="urn:microsoft.com/office/officeart/2005/8/layout/list1"/>
    <dgm:cxn modelId="{D7FFAF68-065B-4659-8AE3-7489342C0B43}" type="presParOf" srcId="{D9B0AC7F-F482-4BBF-B01F-1E52D09C2F9B}" destId="{0D2216AD-1D2F-4731-967E-6BE8EC11288F}" srcOrd="0" destOrd="0" presId="urn:microsoft.com/office/officeart/2005/8/layout/list1"/>
    <dgm:cxn modelId="{879765AE-3AB6-4655-8335-76B824CE77D0}" type="presParOf" srcId="{D9B0AC7F-F482-4BBF-B01F-1E52D09C2F9B}" destId="{5F12F35B-C99B-477E-8332-5C4130B37D89}" srcOrd="1" destOrd="0" presId="urn:microsoft.com/office/officeart/2005/8/layout/list1"/>
    <dgm:cxn modelId="{55C140C3-9897-431D-BFDB-0411E2BB8A9A}" type="presParOf" srcId="{2425BFA7-E3E4-454A-913E-FB0B7BB191BD}" destId="{71C1BD06-7D9F-48E2-8DB8-7368B96AB5DB}" srcOrd="1" destOrd="0" presId="urn:microsoft.com/office/officeart/2005/8/layout/list1"/>
    <dgm:cxn modelId="{4AAAE247-FB0A-4B91-9679-E28D28B56270}" type="presParOf" srcId="{2425BFA7-E3E4-454A-913E-FB0B7BB191BD}" destId="{A8E755E6-221F-4706-A98D-1544ECE4A95B}" srcOrd="2" destOrd="0" presId="urn:microsoft.com/office/officeart/2005/8/layout/list1"/>
    <dgm:cxn modelId="{40FFF273-1848-4E51-B297-221E0DA876B2}" type="presParOf" srcId="{2425BFA7-E3E4-454A-913E-FB0B7BB191BD}" destId="{94E77341-E6ED-44FF-9DD9-F738E54B456A}" srcOrd="3" destOrd="0" presId="urn:microsoft.com/office/officeart/2005/8/layout/list1"/>
    <dgm:cxn modelId="{86963350-FF37-495B-9378-3628ECCF101B}" type="presParOf" srcId="{2425BFA7-E3E4-454A-913E-FB0B7BB191BD}" destId="{2882D36B-E2E3-4B8B-A687-7A028F199960}" srcOrd="4" destOrd="0" presId="urn:microsoft.com/office/officeart/2005/8/layout/list1"/>
    <dgm:cxn modelId="{4045FFD3-EE47-4787-96F0-739BDD4668E5}" type="presParOf" srcId="{2882D36B-E2E3-4B8B-A687-7A028F199960}" destId="{527E4229-5A03-400D-9FE6-EA20CFDC3EDA}" srcOrd="0" destOrd="0" presId="urn:microsoft.com/office/officeart/2005/8/layout/list1"/>
    <dgm:cxn modelId="{21D880FF-2DCC-400E-9F91-D821CD3D0691}" type="presParOf" srcId="{2882D36B-E2E3-4B8B-A687-7A028F199960}" destId="{D926FB36-7991-4CB7-B5DC-B1DB969B15B5}" srcOrd="1" destOrd="0" presId="urn:microsoft.com/office/officeart/2005/8/layout/list1"/>
    <dgm:cxn modelId="{7F87FD10-B6B6-4623-840E-A2F5B7B8A3CE}" type="presParOf" srcId="{2425BFA7-E3E4-454A-913E-FB0B7BB191BD}" destId="{F9BC6249-BBF1-4535-9995-21098344260E}" srcOrd="5" destOrd="0" presId="urn:microsoft.com/office/officeart/2005/8/layout/list1"/>
    <dgm:cxn modelId="{C53026FE-6679-436F-9DD7-4C355CF06494}" type="presParOf" srcId="{2425BFA7-E3E4-454A-913E-FB0B7BB191BD}" destId="{1ABBFA35-D44D-48B4-8323-F6AF99A9C9BD}" srcOrd="6" destOrd="0" presId="urn:microsoft.com/office/officeart/2005/8/layout/list1"/>
    <dgm:cxn modelId="{050536FF-5F0E-413C-9B5A-C32DB0A3C5F9}" type="presParOf" srcId="{2425BFA7-E3E4-454A-913E-FB0B7BB191BD}" destId="{BF92B432-A1A9-480D-8214-D2F0A14C5653}" srcOrd="7" destOrd="0" presId="urn:microsoft.com/office/officeart/2005/8/layout/list1"/>
    <dgm:cxn modelId="{BB49C999-0C89-48C0-A9E0-41E3A53D88E3}" type="presParOf" srcId="{2425BFA7-E3E4-454A-913E-FB0B7BB191BD}" destId="{2ABD5902-EBE9-4FC5-80A5-98EFB9E4D237}" srcOrd="8" destOrd="0" presId="urn:microsoft.com/office/officeart/2005/8/layout/list1"/>
    <dgm:cxn modelId="{1AB92505-47E7-467C-9EA0-E022E7F0C566}" type="presParOf" srcId="{2ABD5902-EBE9-4FC5-80A5-98EFB9E4D237}" destId="{B0311023-3FF3-486E-B984-E62137BC9A97}" srcOrd="0" destOrd="0" presId="urn:microsoft.com/office/officeart/2005/8/layout/list1"/>
    <dgm:cxn modelId="{CCAAC191-F6D8-4506-822F-4DFE249B0D94}" type="presParOf" srcId="{2ABD5902-EBE9-4FC5-80A5-98EFB9E4D237}" destId="{6E7EC356-7DC4-41E6-BCE5-054CB2C82165}" srcOrd="1" destOrd="0" presId="urn:microsoft.com/office/officeart/2005/8/layout/list1"/>
    <dgm:cxn modelId="{AADB728D-87B0-4A56-94E2-248DC25FAF7F}" type="presParOf" srcId="{2425BFA7-E3E4-454A-913E-FB0B7BB191BD}" destId="{F1292025-19DF-4764-934E-37C481805220}" srcOrd="9" destOrd="0" presId="urn:microsoft.com/office/officeart/2005/8/layout/list1"/>
    <dgm:cxn modelId="{F5AA5BF9-553E-4694-AB3C-999B062C8CA1}" type="presParOf" srcId="{2425BFA7-E3E4-454A-913E-FB0B7BB191BD}" destId="{62274306-9077-477E-ADE4-BEA27CF9326D}"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69E639B-63DE-4DF7-94F0-521842D3FDE6}" type="doc">
      <dgm:prSet loTypeId="urn:microsoft.com/office/officeart/2005/8/layout/gear1" loCatId="cycle" qsTypeId="urn:microsoft.com/office/officeart/2005/8/quickstyle/simple1" qsCatId="simple" csTypeId="urn:microsoft.com/office/officeart/2005/8/colors/colorful2" csCatId="colorful" phldr="1"/>
      <dgm:spPr/>
    </dgm:pt>
    <dgm:pt modelId="{4501440C-2D11-4430-BF2B-491DCCBD3400}">
      <dgm:prSet phldrT="[Text]"/>
      <dgm:spPr/>
      <dgm:t>
        <a:bodyPr/>
        <a:lstStyle/>
        <a:p>
          <a:r>
            <a:rPr lang="en-US">
              <a:solidFill>
                <a:schemeClr val="tx1"/>
              </a:solidFill>
            </a:rPr>
            <a:t>Thỏa thuận để nhà phân phối cung cấp dịch vụ</a:t>
          </a:r>
        </a:p>
      </dgm:t>
    </dgm:pt>
    <dgm:pt modelId="{363EE3EB-73E6-430F-8478-B5C658AFBFE7}" type="parTrans" cxnId="{1953EC28-74C7-448D-9EF5-29BFB55C6EC2}">
      <dgm:prSet/>
      <dgm:spPr/>
      <dgm:t>
        <a:bodyPr/>
        <a:lstStyle/>
        <a:p>
          <a:endParaRPr lang="en-US">
            <a:solidFill>
              <a:schemeClr val="tx1"/>
            </a:solidFill>
          </a:endParaRPr>
        </a:p>
      </dgm:t>
    </dgm:pt>
    <dgm:pt modelId="{4D3BF5EC-A5FE-42C7-A747-C1660CB91E61}" type="sibTrans" cxnId="{1953EC28-74C7-448D-9EF5-29BFB55C6EC2}">
      <dgm:prSet/>
      <dgm:spPr/>
      <dgm:t>
        <a:bodyPr/>
        <a:lstStyle/>
        <a:p>
          <a:endParaRPr lang="en-US">
            <a:solidFill>
              <a:schemeClr val="tx1"/>
            </a:solidFill>
          </a:endParaRPr>
        </a:p>
      </dgm:t>
    </dgm:pt>
    <dgm:pt modelId="{C2558A09-76BD-4037-BA70-F15EE3D999E6}">
      <dgm:prSet phldrT="[Text]"/>
      <dgm:spPr/>
      <dgm:t>
        <a:bodyPr/>
        <a:lstStyle/>
        <a:p>
          <a:r>
            <a:rPr lang="en-US">
              <a:solidFill>
                <a:schemeClr val="tx1"/>
              </a:solidFill>
            </a:rPr>
            <a:t>Thuê các tổ chức khác</a:t>
          </a:r>
        </a:p>
      </dgm:t>
    </dgm:pt>
    <dgm:pt modelId="{189B7E8D-5481-41B8-A786-7418AED3823C}" type="parTrans" cxnId="{1F8B7E8B-962F-493A-8DD1-E8033CA88E7B}">
      <dgm:prSet/>
      <dgm:spPr/>
      <dgm:t>
        <a:bodyPr/>
        <a:lstStyle/>
        <a:p>
          <a:endParaRPr lang="en-US">
            <a:solidFill>
              <a:schemeClr val="tx1"/>
            </a:solidFill>
          </a:endParaRPr>
        </a:p>
      </dgm:t>
    </dgm:pt>
    <dgm:pt modelId="{3F595EB5-0ABE-4245-81BC-737FB438FB0A}" type="sibTrans" cxnId="{1F8B7E8B-962F-493A-8DD1-E8033CA88E7B}">
      <dgm:prSet/>
      <dgm:spPr/>
      <dgm:t>
        <a:bodyPr/>
        <a:lstStyle/>
        <a:p>
          <a:endParaRPr lang="en-US">
            <a:solidFill>
              <a:schemeClr val="tx1"/>
            </a:solidFill>
          </a:endParaRPr>
        </a:p>
      </dgm:t>
    </dgm:pt>
    <dgm:pt modelId="{F7086D9E-FF96-4BF0-AEA7-D637028E444F}">
      <dgm:prSet phldrT="[Text]"/>
      <dgm:spPr/>
      <dgm:t>
        <a:bodyPr/>
        <a:lstStyle/>
        <a:p>
          <a:r>
            <a:rPr lang="en-US">
              <a:solidFill>
                <a:schemeClr val="tx1"/>
              </a:solidFill>
            </a:rPr>
            <a:t>Công ty tự cung cấp</a:t>
          </a:r>
        </a:p>
      </dgm:t>
    </dgm:pt>
    <dgm:pt modelId="{A6CB5383-969D-47BF-8087-0CA9DA230F6A}" type="parTrans" cxnId="{7BF2A27B-20F8-41E9-BD25-0C6F3597F811}">
      <dgm:prSet/>
      <dgm:spPr/>
      <dgm:t>
        <a:bodyPr/>
        <a:lstStyle/>
        <a:p>
          <a:endParaRPr lang="en-US">
            <a:solidFill>
              <a:schemeClr val="tx1"/>
            </a:solidFill>
          </a:endParaRPr>
        </a:p>
      </dgm:t>
    </dgm:pt>
    <dgm:pt modelId="{19731942-61C5-4E56-8CBE-2EBB69E44AFD}" type="sibTrans" cxnId="{7BF2A27B-20F8-41E9-BD25-0C6F3597F811}">
      <dgm:prSet/>
      <dgm:spPr/>
      <dgm:t>
        <a:bodyPr/>
        <a:lstStyle/>
        <a:p>
          <a:endParaRPr lang="en-US">
            <a:solidFill>
              <a:schemeClr val="tx1"/>
            </a:solidFill>
          </a:endParaRPr>
        </a:p>
      </dgm:t>
    </dgm:pt>
    <dgm:pt modelId="{A80C6C96-6D15-4EA0-B261-27B9664AA94F}" type="pres">
      <dgm:prSet presAssocID="{F69E639B-63DE-4DF7-94F0-521842D3FDE6}" presName="composite" presStyleCnt="0">
        <dgm:presLayoutVars>
          <dgm:chMax val="3"/>
          <dgm:animLvl val="lvl"/>
          <dgm:resizeHandles val="exact"/>
        </dgm:presLayoutVars>
      </dgm:prSet>
      <dgm:spPr/>
    </dgm:pt>
    <dgm:pt modelId="{ADB85862-2D09-4404-BB28-2B0B7D5CFBEC}" type="pres">
      <dgm:prSet presAssocID="{4501440C-2D11-4430-BF2B-491DCCBD3400}" presName="gear1" presStyleLbl="node1" presStyleIdx="0" presStyleCnt="3">
        <dgm:presLayoutVars>
          <dgm:chMax val="1"/>
          <dgm:bulletEnabled val="1"/>
        </dgm:presLayoutVars>
      </dgm:prSet>
      <dgm:spPr/>
    </dgm:pt>
    <dgm:pt modelId="{C8D3EB69-DD66-4F97-BCAB-9FC8E117A1E3}" type="pres">
      <dgm:prSet presAssocID="{4501440C-2D11-4430-BF2B-491DCCBD3400}" presName="gear1srcNode" presStyleLbl="node1" presStyleIdx="0" presStyleCnt="3"/>
      <dgm:spPr/>
    </dgm:pt>
    <dgm:pt modelId="{BB3F22AD-AAF9-4568-9290-777A52045C17}" type="pres">
      <dgm:prSet presAssocID="{4501440C-2D11-4430-BF2B-491DCCBD3400}" presName="gear1dstNode" presStyleLbl="node1" presStyleIdx="0" presStyleCnt="3"/>
      <dgm:spPr/>
    </dgm:pt>
    <dgm:pt modelId="{586FEB82-C1C7-449F-8E86-73EE09AC250F}" type="pres">
      <dgm:prSet presAssocID="{C2558A09-76BD-4037-BA70-F15EE3D999E6}" presName="gear2" presStyleLbl="node1" presStyleIdx="1" presStyleCnt="3">
        <dgm:presLayoutVars>
          <dgm:chMax val="1"/>
          <dgm:bulletEnabled val="1"/>
        </dgm:presLayoutVars>
      </dgm:prSet>
      <dgm:spPr/>
    </dgm:pt>
    <dgm:pt modelId="{C7D37BC3-1AD4-4F50-9082-4909B6AB9526}" type="pres">
      <dgm:prSet presAssocID="{C2558A09-76BD-4037-BA70-F15EE3D999E6}" presName="gear2srcNode" presStyleLbl="node1" presStyleIdx="1" presStyleCnt="3"/>
      <dgm:spPr/>
    </dgm:pt>
    <dgm:pt modelId="{2F94BE09-32E8-4B57-BC42-CF6784D5429A}" type="pres">
      <dgm:prSet presAssocID="{C2558A09-76BD-4037-BA70-F15EE3D999E6}" presName="gear2dstNode" presStyleLbl="node1" presStyleIdx="1" presStyleCnt="3"/>
      <dgm:spPr/>
    </dgm:pt>
    <dgm:pt modelId="{EDB82C65-2A99-427C-8EEA-85817E3D527D}" type="pres">
      <dgm:prSet presAssocID="{F7086D9E-FF96-4BF0-AEA7-D637028E444F}" presName="gear3" presStyleLbl="node1" presStyleIdx="2" presStyleCnt="3"/>
      <dgm:spPr/>
    </dgm:pt>
    <dgm:pt modelId="{436B2C37-4B85-4AC0-AA04-2F752D3855DC}" type="pres">
      <dgm:prSet presAssocID="{F7086D9E-FF96-4BF0-AEA7-D637028E444F}" presName="gear3tx" presStyleLbl="node1" presStyleIdx="2" presStyleCnt="3">
        <dgm:presLayoutVars>
          <dgm:chMax val="1"/>
          <dgm:bulletEnabled val="1"/>
        </dgm:presLayoutVars>
      </dgm:prSet>
      <dgm:spPr/>
    </dgm:pt>
    <dgm:pt modelId="{B68F6ED1-532F-4616-9665-ACD014E5BC49}" type="pres">
      <dgm:prSet presAssocID="{F7086D9E-FF96-4BF0-AEA7-D637028E444F}" presName="gear3srcNode" presStyleLbl="node1" presStyleIdx="2" presStyleCnt="3"/>
      <dgm:spPr/>
    </dgm:pt>
    <dgm:pt modelId="{45401A54-B1FF-437B-A575-77675A81DF2D}" type="pres">
      <dgm:prSet presAssocID="{F7086D9E-FF96-4BF0-AEA7-D637028E444F}" presName="gear3dstNode" presStyleLbl="node1" presStyleIdx="2" presStyleCnt="3"/>
      <dgm:spPr/>
    </dgm:pt>
    <dgm:pt modelId="{6DBDDC7B-F742-445D-8472-320F57B77A45}" type="pres">
      <dgm:prSet presAssocID="{4D3BF5EC-A5FE-42C7-A747-C1660CB91E61}" presName="connector1" presStyleLbl="sibTrans2D1" presStyleIdx="0" presStyleCnt="3"/>
      <dgm:spPr/>
    </dgm:pt>
    <dgm:pt modelId="{1E1555DC-80F6-45BA-ACBE-E15043B4C2F0}" type="pres">
      <dgm:prSet presAssocID="{3F595EB5-0ABE-4245-81BC-737FB438FB0A}" presName="connector2" presStyleLbl="sibTrans2D1" presStyleIdx="1" presStyleCnt="3"/>
      <dgm:spPr/>
    </dgm:pt>
    <dgm:pt modelId="{3E979857-3388-4289-A18C-2586B2408A0D}" type="pres">
      <dgm:prSet presAssocID="{19731942-61C5-4E56-8CBE-2EBB69E44AFD}" presName="connector3" presStyleLbl="sibTrans2D1" presStyleIdx="2" presStyleCnt="3"/>
      <dgm:spPr/>
    </dgm:pt>
  </dgm:ptLst>
  <dgm:cxnLst>
    <dgm:cxn modelId="{32A2441E-7AE0-44CF-A45F-E1AAFEDC9F17}" type="presOf" srcId="{C2558A09-76BD-4037-BA70-F15EE3D999E6}" destId="{2F94BE09-32E8-4B57-BC42-CF6784D5429A}" srcOrd="2" destOrd="0" presId="urn:microsoft.com/office/officeart/2005/8/layout/gear1"/>
    <dgm:cxn modelId="{1953EC28-74C7-448D-9EF5-29BFB55C6EC2}" srcId="{F69E639B-63DE-4DF7-94F0-521842D3FDE6}" destId="{4501440C-2D11-4430-BF2B-491DCCBD3400}" srcOrd="0" destOrd="0" parTransId="{363EE3EB-73E6-430F-8478-B5C658AFBFE7}" sibTransId="{4D3BF5EC-A5FE-42C7-A747-C1660CB91E61}"/>
    <dgm:cxn modelId="{5794CC29-3959-4686-A047-254374AD87B1}" type="presOf" srcId="{F7086D9E-FF96-4BF0-AEA7-D637028E444F}" destId="{45401A54-B1FF-437B-A575-77675A81DF2D}" srcOrd="3" destOrd="0" presId="urn:microsoft.com/office/officeart/2005/8/layout/gear1"/>
    <dgm:cxn modelId="{1D1B7933-D3D1-4677-9F26-A9152D9970E4}" type="presOf" srcId="{C2558A09-76BD-4037-BA70-F15EE3D999E6}" destId="{586FEB82-C1C7-449F-8E86-73EE09AC250F}" srcOrd="0" destOrd="0" presId="urn:microsoft.com/office/officeart/2005/8/layout/gear1"/>
    <dgm:cxn modelId="{B746603D-0BF0-4801-BCC0-5E95AA6702A8}" type="presOf" srcId="{4501440C-2D11-4430-BF2B-491DCCBD3400}" destId="{C8D3EB69-DD66-4F97-BCAB-9FC8E117A1E3}" srcOrd="1" destOrd="0" presId="urn:microsoft.com/office/officeart/2005/8/layout/gear1"/>
    <dgm:cxn modelId="{60615460-01F0-44BC-9C77-2F30D91E966C}" type="presOf" srcId="{19731942-61C5-4E56-8CBE-2EBB69E44AFD}" destId="{3E979857-3388-4289-A18C-2586B2408A0D}" srcOrd="0" destOrd="0" presId="urn:microsoft.com/office/officeart/2005/8/layout/gear1"/>
    <dgm:cxn modelId="{7BF2A27B-20F8-41E9-BD25-0C6F3597F811}" srcId="{F69E639B-63DE-4DF7-94F0-521842D3FDE6}" destId="{F7086D9E-FF96-4BF0-AEA7-D637028E444F}" srcOrd="2" destOrd="0" parTransId="{A6CB5383-969D-47BF-8087-0CA9DA230F6A}" sibTransId="{19731942-61C5-4E56-8CBE-2EBB69E44AFD}"/>
    <dgm:cxn modelId="{9F9D2181-396B-41E9-96D0-657785CD7FCE}" type="presOf" srcId="{C2558A09-76BD-4037-BA70-F15EE3D999E6}" destId="{C7D37BC3-1AD4-4F50-9082-4909B6AB9526}" srcOrd="1" destOrd="0" presId="urn:microsoft.com/office/officeart/2005/8/layout/gear1"/>
    <dgm:cxn modelId="{1F8B7E8B-962F-493A-8DD1-E8033CA88E7B}" srcId="{F69E639B-63DE-4DF7-94F0-521842D3FDE6}" destId="{C2558A09-76BD-4037-BA70-F15EE3D999E6}" srcOrd="1" destOrd="0" parTransId="{189B7E8D-5481-41B8-A786-7418AED3823C}" sibTransId="{3F595EB5-0ABE-4245-81BC-737FB438FB0A}"/>
    <dgm:cxn modelId="{D70F4EA4-5BB3-40A1-9D66-6FD2D0F97AD1}" type="presOf" srcId="{F69E639B-63DE-4DF7-94F0-521842D3FDE6}" destId="{A80C6C96-6D15-4EA0-B261-27B9664AA94F}" srcOrd="0" destOrd="0" presId="urn:microsoft.com/office/officeart/2005/8/layout/gear1"/>
    <dgm:cxn modelId="{B14AE9C2-2C80-4E7D-9F79-547A2B7A69D1}" type="presOf" srcId="{4D3BF5EC-A5FE-42C7-A747-C1660CB91E61}" destId="{6DBDDC7B-F742-445D-8472-320F57B77A45}" srcOrd="0" destOrd="0" presId="urn:microsoft.com/office/officeart/2005/8/layout/gear1"/>
    <dgm:cxn modelId="{E11059CA-56A8-407D-BC33-13B25A420639}" type="presOf" srcId="{F7086D9E-FF96-4BF0-AEA7-D637028E444F}" destId="{EDB82C65-2A99-427C-8EEA-85817E3D527D}" srcOrd="0" destOrd="0" presId="urn:microsoft.com/office/officeart/2005/8/layout/gear1"/>
    <dgm:cxn modelId="{1DCFE6CD-D993-4938-AE1B-E26ADCC6BFAB}" type="presOf" srcId="{4501440C-2D11-4430-BF2B-491DCCBD3400}" destId="{BB3F22AD-AAF9-4568-9290-777A52045C17}" srcOrd="2" destOrd="0" presId="urn:microsoft.com/office/officeart/2005/8/layout/gear1"/>
    <dgm:cxn modelId="{7040E6D1-9056-4AEC-A25F-650B4DCDA627}" type="presOf" srcId="{3F595EB5-0ABE-4245-81BC-737FB438FB0A}" destId="{1E1555DC-80F6-45BA-ACBE-E15043B4C2F0}" srcOrd="0" destOrd="0" presId="urn:microsoft.com/office/officeart/2005/8/layout/gear1"/>
    <dgm:cxn modelId="{209077D7-1485-4016-A972-64295485A670}" type="presOf" srcId="{F7086D9E-FF96-4BF0-AEA7-D637028E444F}" destId="{436B2C37-4B85-4AC0-AA04-2F752D3855DC}" srcOrd="1" destOrd="0" presId="urn:microsoft.com/office/officeart/2005/8/layout/gear1"/>
    <dgm:cxn modelId="{1D80C5DF-E36F-4859-A8D8-0DC0DC5F6CC8}" type="presOf" srcId="{4501440C-2D11-4430-BF2B-491DCCBD3400}" destId="{ADB85862-2D09-4404-BB28-2B0B7D5CFBEC}" srcOrd="0" destOrd="0" presId="urn:microsoft.com/office/officeart/2005/8/layout/gear1"/>
    <dgm:cxn modelId="{FC0783EF-2A03-4788-92AA-658C44316501}" type="presOf" srcId="{F7086D9E-FF96-4BF0-AEA7-D637028E444F}" destId="{B68F6ED1-532F-4616-9665-ACD014E5BC49}" srcOrd="2" destOrd="0" presId="urn:microsoft.com/office/officeart/2005/8/layout/gear1"/>
    <dgm:cxn modelId="{374AC3E8-765E-4BF3-AC80-FA20ACDDA315}" type="presParOf" srcId="{A80C6C96-6D15-4EA0-B261-27B9664AA94F}" destId="{ADB85862-2D09-4404-BB28-2B0B7D5CFBEC}" srcOrd="0" destOrd="0" presId="urn:microsoft.com/office/officeart/2005/8/layout/gear1"/>
    <dgm:cxn modelId="{7E7AB1FB-0C15-4077-9D21-D6BFBF68CF4A}" type="presParOf" srcId="{A80C6C96-6D15-4EA0-B261-27B9664AA94F}" destId="{C8D3EB69-DD66-4F97-BCAB-9FC8E117A1E3}" srcOrd="1" destOrd="0" presId="urn:microsoft.com/office/officeart/2005/8/layout/gear1"/>
    <dgm:cxn modelId="{0675561A-B162-49AB-99A7-81CA9E829576}" type="presParOf" srcId="{A80C6C96-6D15-4EA0-B261-27B9664AA94F}" destId="{BB3F22AD-AAF9-4568-9290-777A52045C17}" srcOrd="2" destOrd="0" presId="urn:microsoft.com/office/officeart/2005/8/layout/gear1"/>
    <dgm:cxn modelId="{41D5C1B5-452F-4A55-A3A8-F3882C09711F}" type="presParOf" srcId="{A80C6C96-6D15-4EA0-B261-27B9664AA94F}" destId="{586FEB82-C1C7-449F-8E86-73EE09AC250F}" srcOrd="3" destOrd="0" presId="urn:microsoft.com/office/officeart/2005/8/layout/gear1"/>
    <dgm:cxn modelId="{37C97809-4464-4B75-9870-15E951C8E399}" type="presParOf" srcId="{A80C6C96-6D15-4EA0-B261-27B9664AA94F}" destId="{C7D37BC3-1AD4-4F50-9082-4909B6AB9526}" srcOrd="4" destOrd="0" presId="urn:microsoft.com/office/officeart/2005/8/layout/gear1"/>
    <dgm:cxn modelId="{AE904E32-9CCA-41AE-93EB-837E7A0F3DF3}" type="presParOf" srcId="{A80C6C96-6D15-4EA0-B261-27B9664AA94F}" destId="{2F94BE09-32E8-4B57-BC42-CF6784D5429A}" srcOrd="5" destOrd="0" presId="urn:microsoft.com/office/officeart/2005/8/layout/gear1"/>
    <dgm:cxn modelId="{DA9527F3-F472-4219-8564-ACCA38A36235}" type="presParOf" srcId="{A80C6C96-6D15-4EA0-B261-27B9664AA94F}" destId="{EDB82C65-2A99-427C-8EEA-85817E3D527D}" srcOrd="6" destOrd="0" presId="urn:microsoft.com/office/officeart/2005/8/layout/gear1"/>
    <dgm:cxn modelId="{D31F50C5-964C-4F0D-A6AD-C5A4EC86C532}" type="presParOf" srcId="{A80C6C96-6D15-4EA0-B261-27B9664AA94F}" destId="{436B2C37-4B85-4AC0-AA04-2F752D3855DC}" srcOrd="7" destOrd="0" presId="urn:microsoft.com/office/officeart/2005/8/layout/gear1"/>
    <dgm:cxn modelId="{81F33D05-19B4-471B-8574-7D5A6CE7DE23}" type="presParOf" srcId="{A80C6C96-6D15-4EA0-B261-27B9664AA94F}" destId="{B68F6ED1-532F-4616-9665-ACD014E5BC49}" srcOrd="8" destOrd="0" presId="urn:microsoft.com/office/officeart/2005/8/layout/gear1"/>
    <dgm:cxn modelId="{E8108A35-777E-4BF0-BED5-33D5E5E0BB1F}" type="presParOf" srcId="{A80C6C96-6D15-4EA0-B261-27B9664AA94F}" destId="{45401A54-B1FF-437B-A575-77675A81DF2D}" srcOrd="9" destOrd="0" presId="urn:microsoft.com/office/officeart/2005/8/layout/gear1"/>
    <dgm:cxn modelId="{BFFB10D0-CB2B-4197-BFCA-EC00E74247A1}" type="presParOf" srcId="{A80C6C96-6D15-4EA0-B261-27B9664AA94F}" destId="{6DBDDC7B-F742-445D-8472-320F57B77A45}" srcOrd="10" destOrd="0" presId="urn:microsoft.com/office/officeart/2005/8/layout/gear1"/>
    <dgm:cxn modelId="{053151A8-7B9C-4464-A024-E5DD76BF95A5}" type="presParOf" srcId="{A80C6C96-6D15-4EA0-B261-27B9664AA94F}" destId="{1E1555DC-80F6-45BA-ACBE-E15043B4C2F0}" srcOrd="11" destOrd="0" presId="urn:microsoft.com/office/officeart/2005/8/layout/gear1"/>
    <dgm:cxn modelId="{A5D094EC-94D4-480C-BF3E-6B7D0C477F6F}" type="presParOf" srcId="{A80C6C96-6D15-4EA0-B261-27B9664AA94F}" destId="{3E979857-3388-4289-A18C-2586B2408A0D}"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C60A1DD-4B3B-4342-B533-F3F685474A9F}" type="doc">
      <dgm:prSet loTypeId="urn:microsoft.com/office/officeart/2005/8/layout/gear1" loCatId="process" qsTypeId="urn:microsoft.com/office/officeart/2005/8/quickstyle/simple1" qsCatId="simple" csTypeId="urn:microsoft.com/office/officeart/2005/8/colors/colorful2" csCatId="colorful" phldr="1"/>
      <dgm:spPr/>
    </dgm:pt>
    <dgm:pt modelId="{D439E0AC-E5D0-473D-B50F-3F2B2094376C}">
      <dgm:prSet phldrT="[Text]"/>
      <dgm:spPr/>
      <dgm:t>
        <a:bodyPr/>
        <a:lstStyle/>
        <a:p>
          <a:r>
            <a:rPr lang="en-US">
              <a:solidFill>
                <a:schemeClr val="tx1"/>
              </a:solidFill>
            </a:rPr>
            <a:t>Cải tiến marketing-mix</a:t>
          </a:r>
        </a:p>
      </dgm:t>
    </dgm:pt>
    <dgm:pt modelId="{B8DE5EF4-5DDB-4D6D-B3F1-6001A4222E67}" type="parTrans" cxnId="{128609D5-05A7-4297-BFF2-14124651FDF7}">
      <dgm:prSet/>
      <dgm:spPr/>
      <dgm:t>
        <a:bodyPr/>
        <a:lstStyle/>
        <a:p>
          <a:endParaRPr lang="en-US">
            <a:solidFill>
              <a:schemeClr val="tx1"/>
            </a:solidFill>
          </a:endParaRPr>
        </a:p>
      </dgm:t>
    </dgm:pt>
    <dgm:pt modelId="{1FC91E10-7177-4616-85C0-29A77D0A366B}" type="sibTrans" cxnId="{128609D5-05A7-4297-BFF2-14124651FDF7}">
      <dgm:prSet/>
      <dgm:spPr/>
      <dgm:t>
        <a:bodyPr/>
        <a:lstStyle/>
        <a:p>
          <a:endParaRPr lang="en-US">
            <a:solidFill>
              <a:schemeClr val="tx1"/>
            </a:solidFill>
          </a:endParaRPr>
        </a:p>
      </dgm:t>
    </dgm:pt>
    <dgm:pt modelId="{B4F93377-5651-4A41-A4D6-75B6CDE079B9}">
      <dgm:prSet phldrT="[Text]"/>
      <dgm:spPr/>
      <dgm:t>
        <a:bodyPr/>
        <a:lstStyle/>
        <a:p>
          <a:r>
            <a:rPr lang="en-US">
              <a:solidFill>
                <a:schemeClr val="tx1"/>
              </a:solidFill>
            </a:rPr>
            <a:t>Đổi mới thị trường</a:t>
          </a:r>
        </a:p>
      </dgm:t>
    </dgm:pt>
    <dgm:pt modelId="{810FF900-6D00-4DAE-B296-2B9C3B4030B3}" type="parTrans" cxnId="{005E5F5F-C4BC-4FAE-AC51-DC6E7B02740B}">
      <dgm:prSet/>
      <dgm:spPr/>
      <dgm:t>
        <a:bodyPr/>
        <a:lstStyle/>
        <a:p>
          <a:endParaRPr lang="en-US">
            <a:solidFill>
              <a:schemeClr val="tx1"/>
            </a:solidFill>
          </a:endParaRPr>
        </a:p>
      </dgm:t>
    </dgm:pt>
    <dgm:pt modelId="{03FD8A94-2488-4738-8DC6-8F7B0D326637}" type="sibTrans" cxnId="{005E5F5F-C4BC-4FAE-AC51-DC6E7B02740B}">
      <dgm:prSet/>
      <dgm:spPr/>
      <dgm:t>
        <a:bodyPr/>
        <a:lstStyle/>
        <a:p>
          <a:endParaRPr lang="en-US">
            <a:solidFill>
              <a:schemeClr val="tx1"/>
            </a:solidFill>
          </a:endParaRPr>
        </a:p>
      </dgm:t>
    </dgm:pt>
    <dgm:pt modelId="{B756070A-0D81-4433-8CCC-EF6B40513C88}">
      <dgm:prSet phldrT="[Text]"/>
      <dgm:spPr/>
      <dgm:t>
        <a:bodyPr/>
        <a:lstStyle/>
        <a:p>
          <a:r>
            <a:rPr lang="en-US">
              <a:solidFill>
                <a:schemeClr val="tx1"/>
              </a:solidFill>
            </a:rPr>
            <a:t>Đổi mới sản phẩm</a:t>
          </a:r>
        </a:p>
      </dgm:t>
    </dgm:pt>
    <dgm:pt modelId="{5CBBBC4D-3610-48B4-9E7E-A1FF21A2A808}" type="parTrans" cxnId="{0A14873F-9A04-4072-A5A3-F66EA6E3EC09}">
      <dgm:prSet/>
      <dgm:spPr/>
      <dgm:t>
        <a:bodyPr/>
        <a:lstStyle/>
        <a:p>
          <a:endParaRPr lang="en-US">
            <a:solidFill>
              <a:schemeClr val="tx1"/>
            </a:solidFill>
          </a:endParaRPr>
        </a:p>
      </dgm:t>
    </dgm:pt>
    <dgm:pt modelId="{11CBE780-0CEE-427E-A0BF-DA68D9ACF475}" type="sibTrans" cxnId="{0A14873F-9A04-4072-A5A3-F66EA6E3EC09}">
      <dgm:prSet/>
      <dgm:spPr/>
      <dgm:t>
        <a:bodyPr/>
        <a:lstStyle/>
        <a:p>
          <a:endParaRPr lang="en-US">
            <a:solidFill>
              <a:schemeClr val="tx1"/>
            </a:solidFill>
          </a:endParaRPr>
        </a:p>
      </dgm:t>
    </dgm:pt>
    <dgm:pt modelId="{071549E8-E5BB-42B7-A16D-D8536422474C}" type="pres">
      <dgm:prSet presAssocID="{0C60A1DD-4B3B-4342-B533-F3F685474A9F}" presName="composite" presStyleCnt="0">
        <dgm:presLayoutVars>
          <dgm:chMax val="3"/>
          <dgm:animLvl val="lvl"/>
          <dgm:resizeHandles val="exact"/>
        </dgm:presLayoutVars>
      </dgm:prSet>
      <dgm:spPr/>
    </dgm:pt>
    <dgm:pt modelId="{D05DD9CD-8AEA-47CE-A433-A3F0515F7A23}" type="pres">
      <dgm:prSet presAssocID="{D439E0AC-E5D0-473D-B50F-3F2B2094376C}" presName="gear1" presStyleLbl="node1" presStyleIdx="0" presStyleCnt="3">
        <dgm:presLayoutVars>
          <dgm:chMax val="1"/>
          <dgm:bulletEnabled val="1"/>
        </dgm:presLayoutVars>
      </dgm:prSet>
      <dgm:spPr/>
    </dgm:pt>
    <dgm:pt modelId="{242D6B7C-B3AF-4AB8-9D57-2F58AD6FCAFD}" type="pres">
      <dgm:prSet presAssocID="{D439E0AC-E5D0-473D-B50F-3F2B2094376C}" presName="gear1srcNode" presStyleLbl="node1" presStyleIdx="0" presStyleCnt="3"/>
      <dgm:spPr/>
    </dgm:pt>
    <dgm:pt modelId="{03A0E38B-8C4E-48A3-8E2F-307F5CFFB21F}" type="pres">
      <dgm:prSet presAssocID="{D439E0AC-E5D0-473D-B50F-3F2B2094376C}" presName="gear1dstNode" presStyleLbl="node1" presStyleIdx="0" presStyleCnt="3"/>
      <dgm:spPr/>
    </dgm:pt>
    <dgm:pt modelId="{D4E89CB8-45F6-4674-AC9C-21AC40AB15E7}" type="pres">
      <dgm:prSet presAssocID="{B4F93377-5651-4A41-A4D6-75B6CDE079B9}" presName="gear2" presStyleLbl="node1" presStyleIdx="1" presStyleCnt="3">
        <dgm:presLayoutVars>
          <dgm:chMax val="1"/>
          <dgm:bulletEnabled val="1"/>
        </dgm:presLayoutVars>
      </dgm:prSet>
      <dgm:spPr/>
    </dgm:pt>
    <dgm:pt modelId="{9388D29C-CCBA-46EF-85D8-2D62CB606B88}" type="pres">
      <dgm:prSet presAssocID="{B4F93377-5651-4A41-A4D6-75B6CDE079B9}" presName="gear2srcNode" presStyleLbl="node1" presStyleIdx="1" presStyleCnt="3"/>
      <dgm:spPr/>
    </dgm:pt>
    <dgm:pt modelId="{2AE1B1A6-E12C-464E-A7CE-8818F43D1B40}" type="pres">
      <dgm:prSet presAssocID="{B4F93377-5651-4A41-A4D6-75B6CDE079B9}" presName="gear2dstNode" presStyleLbl="node1" presStyleIdx="1" presStyleCnt="3"/>
      <dgm:spPr/>
    </dgm:pt>
    <dgm:pt modelId="{43D76352-C8A5-4299-BC1C-C77B674AFFB8}" type="pres">
      <dgm:prSet presAssocID="{B756070A-0D81-4433-8CCC-EF6B40513C88}" presName="gear3" presStyleLbl="node1" presStyleIdx="2" presStyleCnt="3"/>
      <dgm:spPr/>
    </dgm:pt>
    <dgm:pt modelId="{56FE940C-127D-4028-BAEC-842F82C9B6B3}" type="pres">
      <dgm:prSet presAssocID="{B756070A-0D81-4433-8CCC-EF6B40513C88}" presName="gear3tx" presStyleLbl="node1" presStyleIdx="2" presStyleCnt="3">
        <dgm:presLayoutVars>
          <dgm:chMax val="1"/>
          <dgm:bulletEnabled val="1"/>
        </dgm:presLayoutVars>
      </dgm:prSet>
      <dgm:spPr/>
    </dgm:pt>
    <dgm:pt modelId="{8C95DD1D-06F0-4922-8053-31D7465D2ECF}" type="pres">
      <dgm:prSet presAssocID="{B756070A-0D81-4433-8CCC-EF6B40513C88}" presName="gear3srcNode" presStyleLbl="node1" presStyleIdx="2" presStyleCnt="3"/>
      <dgm:spPr/>
    </dgm:pt>
    <dgm:pt modelId="{1606F0C4-8088-4BB5-A900-01751F2E0EBB}" type="pres">
      <dgm:prSet presAssocID="{B756070A-0D81-4433-8CCC-EF6B40513C88}" presName="gear3dstNode" presStyleLbl="node1" presStyleIdx="2" presStyleCnt="3"/>
      <dgm:spPr/>
    </dgm:pt>
    <dgm:pt modelId="{3202E1C5-0AB5-4CD4-9E4C-31592C24E314}" type="pres">
      <dgm:prSet presAssocID="{1FC91E10-7177-4616-85C0-29A77D0A366B}" presName="connector1" presStyleLbl="sibTrans2D1" presStyleIdx="0" presStyleCnt="3"/>
      <dgm:spPr/>
    </dgm:pt>
    <dgm:pt modelId="{31160C05-7D5E-40E0-BE36-5F3091119F7F}" type="pres">
      <dgm:prSet presAssocID="{03FD8A94-2488-4738-8DC6-8F7B0D326637}" presName="connector2" presStyleLbl="sibTrans2D1" presStyleIdx="1" presStyleCnt="3"/>
      <dgm:spPr/>
    </dgm:pt>
    <dgm:pt modelId="{4424EBAF-8A89-45A8-8D56-F1FA8D6F9BB1}" type="pres">
      <dgm:prSet presAssocID="{11CBE780-0CEE-427E-A0BF-DA68D9ACF475}" presName="connector3" presStyleLbl="sibTrans2D1" presStyleIdx="2" presStyleCnt="3"/>
      <dgm:spPr/>
    </dgm:pt>
  </dgm:ptLst>
  <dgm:cxnLst>
    <dgm:cxn modelId="{A7243F00-2D31-4FBA-A906-9E37F783B17A}" type="presOf" srcId="{B4F93377-5651-4A41-A4D6-75B6CDE079B9}" destId="{2AE1B1A6-E12C-464E-A7CE-8818F43D1B40}" srcOrd="2" destOrd="0" presId="urn:microsoft.com/office/officeart/2005/8/layout/gear1"/>
    <dgm:cxn modelId="{855A8F20-58A8-4429-A1F2-4CA03A4823C1}" type="presOf" srcId="{1FC91E10-7177-4616-85C0-29A77D0A366B}" destId="{3202E1C5-0AB5-4CD4-9E4C-31592C24E314}" srcOrd="0" destOrd="0" presId="urn:microsoft.com/office/officeart/2005/8/layout/gear1"/>
    <dgm:cxn modelId="{5EB63222-6551-4E2F-BCB4-ADDD54259CB5}" type="presOf" srcId="{D439E0AC-E5D0-473D-B50F-3F2B2094376C}" destId="{242D6B7C-B3AF-4AB8-9D57-2F58AD6FCAFD}" srcOrd="1" destOrd="0" presId="urn:microsoft.com/office/officeart/2005/8/layout/gear1"/>
    <dgm:cxn modelId="{D570A332-4594-4D42-98CF-4F05D6B9D3CD}" type="presOf" srcId="{D439E0AC-E5D0-473D-B50F-3F2B2094376C}" destId="{03A0E38B-8C4E-48A3-8E2F-307F5CFFB21F}" srcOrd="2" destOrd="0" presId="urn:microsoft.com/office/officeart/2005/8/layout/gear1"/>
    <dgm:cxn modelId="{CB0C9238-C660-4F72-9A2D-24A0EF02CF5C}" type="presOf" srcId="{B756070A-0D81-4433-8CCC-EF6B40513C88}" destId="{1606F0C4-8088-4BB5-A900-01751F2E0EBB}" srcOrd="3" destOrd="0" presId="urn:microsoft.com/office/officeart/2005/8/layout/gear1"/>
    <dgm:cxn modelId="{0A14873F-9A04-4072-A5A3-F66EA6E3EC09}" srcId="{0C60A1DD-4B3B-4342-B533-F3F685474A9F}" destId="{B756070A-0D81-4433-8CCC-EF6B40513C88}" srcOrd="2" destOrd="0" parTransId="{5CBBBC4D-3610-48B4-9E7E-A1FF21A2A808}" sibTransId="{11CBE780-0CEE-427E-A0BF-DA68D9ACF475}"/>
    <dgm:cxn modelId="{53DD9E5C-D033-4715-B08B-25B5EB827950}" type="presOf" srcId="{B4F93377-5651-4A41-A4D6-75B6CDE079B9}" destId="{D4E89CB8-45F6-4674-AC9C-21AC40AB15E7}" srcOrd="0" destOrd="0" presId="urn:microsoft.com/office/officeart/2005/8/layout/gear1"/>
    <dgm:cxn modelId="{005E5F5F-C4BC-4FAE-AC51-DC6E7B02740B}" srcId="{0C60A1DD-4B3B-4342-B533-F3F685474A9F}" destId="{B4F93377-5651-4A41-A4D6-75B6CDE079B9}" srcOrd="1" destOrd="0" parTransId="{810FF900-6D00-4DAE-B296-2B9C3B4030B3}" sibTransId="{03FD8A94-2488-4738-8DC6-8F7B0D326637}"/>
    <dgm:cxn modelId="{B62AE568-2827-4C41-8287-A19201A5975F}" type="presOf" srcId="{B756070A-0D81-4433-8CCC-EF6B40513C88}" destId="{8C95DD1D-06F0-4922-8053-31D7465D2ECF}" srcOrd="2" destOrd="0" presId="urn:microsoft.com/office/officeart/2005/8/layout/gear1"/>
    <dgm:cxn modelId="{78EAD073-C241-4F88-BF32-261A1CB58E26}" type="presOf" srcId="{03FD8A94-2488-4738-8DC6-8F7B0D326637}" destId="{31160C05-7D5E-40E0-BE36-5F3091119F7F}" srcOrd="0" destOrd="0" presId="urn:microsoft.com/office/officeart/2005/8/layout/gear1"/>
    <dgm:cxn modelId="{77C3A278-8892-4AA7-A1F1-461CACB34A88}" type="presOf" srcId="{B756070A-0D81-4433-8CCC-EF6B40513C88}" destId="{43D76352-C8A5-4299-BC1C-C77B674AFFB8}" srcOrd="0" destOrd="0" presId="urn:microsoft.com/office/officeart/2005/8/layout/gear1"/>
    <dgm:cxn modelId="{4B235795-EA58-4DE1-862F-6D7B2CB3FA58}" type="presOf" srcId="{B4F93377-5651-4A41-A4D6-75B6CDE079B9}" destId="{9388D29C-CCBA-46EF-85D8-2D62CB606B88}" srcOrd="1" destOrd="0" presId="urn:microsoft.com/office/officeart/2005/8/layout/gear1"/>
    <dgm:cxn modelId="{55358CAD-6FC7-4F51-B408-E5011EBB4FF9}" type="presOf" srcId="{D439E0AC-E5D0-473D-B50F-3F2B2094376C}" destId="{D05DD9CD-8AEA-47CE-A433-A3F0515F7A23}" srcOrd="0" destOrd="0" presId="urn:microsoft.com/office/officeart/2005/8/layout/gear1"/>
    <dgm:cxn modelId="{03BB1FB1-82D2-480C-87D8-09DC8F21D334}" type="presOf" srcId="{0C60A1DD-4B3B-4342-B533-F3F685474A9F}" destId="{071549E8-E5BB-42B7-A16D-D8536422474C}" srcOrd="0" destOrd="0" presId="urn:microsoft.com/office/officeart/2005/8/layout/gear1"/>
    <dgm:cxn modelId="{858559B3-EBE4-406B-A177-16813BEE14AB}" type="presOf" srcId="{B756070A-0D81-4433-8CCC-EF6B40513C88}" destId="{56FE940C-127D-4028-BAEC-842F82C9B6B3}" srcOrd="1" destOrd="0" presId="urn:microsoft.com/office/officeart/2005/8/layout/gear1"/>
    <dgm:cxn modelId="{128609D5-05A7-4297-BFF2-14124651FDF7}" srcId="{0C60A1DD-4B3B-4342-B533-F3F685474A9F}" destId="{D439E0AC-E5D0-473D-B50F-3F2B2094376C}" srcOrd="0" destOrd="0" parTransId="{B8DE5EF4-5DDB-4D6D-B3F1-6001A4222E67}" sibTransId="{1FC91E10-7177-4616-85C0-29A77D0A366B}"/>
    <dgm:cxn modelId="{0FA218D5-D892-4AF0-B287-EB160816A5E0}" type="presOf" srcId="{11CBE780-0CEE-427E-A0BF-DA68D9ACF475}" destId="{4424EBAF-8A89-45A8-8D56-F1FA8D6F9BB1}" srcOrd="0" destOrd="0" presId="urn:microsoft.com/office/officeart/2005/8/layout/gear1"/>
    <dgm:cxn modelId="{861CAB86-640E-44C4-818B-520B4AB1461E}" type="presParOf" srcId="{071549E8-E5BB-42B7-A16D-D8536422474C}" destId="{D05DD9CD-8AEA-47CE-A433-A3F0515F7A23}" srcOrd="0" destOrd="0" presId="urn:microsoft.com/office/officeart/2005/8/layout/gear1"/>
    <dgm:cxn modelId="{86AFBC67-8A95-4A6C-B183-CAEBDD2F2C85}" type="presParOf" srcId="{071549E8-E5BB-42B7-A16D-D8536422474C}" destId="{242D6B7C-B3AF-4AB8-9D57-2F58AD6FCAFD}" srcOrd="1" destOrd="0" presId="urn:microsoft.com/office/officeart/2005/8/layout/gear1"/>
    <dgm:cxn modelId="{8B9E866F-94EB-45E2-A851-7D74D059D10F}" type="presParOf" srcId="{071549E8-E5BB-42B7-A16D-D8536422474C}" destId="{03A0E38B-8C4E-48A3-8E2F-307F5CFFB21F}" srcOrd="2" destOrd="0" presId="urn:microsoft.com/office/officeart/2005/8/layout/gear1"/>
    <dgm:cxn modelId="{212D34C4-ED26-4761-96E4-59BFF977A377}" type="presParOf" srcId="{071549E8-E5BB-42B7-A16D-D8536422474C}" destId="{D4E89CB8-45F6-4674-AC9C-21AC40AB15E7}" srcOrd="3" destOrd="0" presId="urn:microsoft.com/office/officeart/2005/8/layout/gear1"/>
    <dgm:cxn modelId="{7194AB87-D421-4BED-8B6C-A83A732E02E5}" type="presParOf" srcId="{071549E8-E5BB-42B7-A16D-D8536422474C}" destId="{9388D29C-CCBA-46EF-85D8-2D62CB606B88}" srcOrd="4" destOrd="0" presId="urn:microsoft.com/office/officeart/2005/8/layout/gear1"/>
    <dgm:cxn modelId="{2DA58F8A-7BAB-4F05-88AC-9B47FCF596F4}" type="presParOf" srcId="{071549E8-E5BB-42B7-A16D-D8536422474C}" destId="{2AE1B1A6-E12C-464E-A7CE-8818F43D1B40}" srcOrd="5" destOrd="0" presId="urn:microsoft.com/office/officeart/2005/8/layout/gear1"/>
    <dgm:cxn modelId="{664C349D-E290-49C0-8FE3-9E005430ECC7}" type="presParOf" srcId="{071549E8-E5BB-42B7-A16D-D8536422474C}" destId="{43D76352-C8A5-4299-BC1C-C77B674AFFB8}" srcOrd="6" destOrd="0" presId="urn:microsoft.com/office/officeart/2005/8/layout/gear1"/>
    <dgm:cxn modelId="{5A33BCDF-E16F-4D86-ABE5-01CF3611E9D0}" type="presParOf" srcId="{071549E8-E5BB-42B7-A16D-D8536422474C}" destId="{56FE940C-127D-4028-BAEC-842F82C9B6B3}" srcOrd="7" destOrd="0" presId="urn:microsoft.com/office/officeart/2005/8/layout/gear1"/>
    <dgm:cxn modelId="{1BD7D516-252F-4B77-8126-CF7521021FA0}" type="presParOf" srcId="{071549E8-E5BB-42B7-A16D-D8536422474C}" destId="{8C95DD1D-06F0-4922-8053-31D7465D2ECF}" srcOrd="8" destOrd="0" presId="urn:microsoft.com/office/officeart/2005/8/layout/gear1"/>
    <dgm:cxn modelId="{8B906AAB-BCFA-4E6D-A656-9C2E67EC6821}" type="presParOf" srcId="{071549E8-E5BB-42B7-A16D-D8536422474C}" destId="{1606F0C4-8088-4BB5-A900-01751F2E0EBB}" srcOrd="9" destOrd="0" presId="urn:microsoft.com/office/officeart/2005/8/layout/gear1"/>
    <dgm:cxn modelId="{F61BDA21-AB9F-4C52-A90E-190BDBDB14DF}" type="presParOf" srcId="{071549E8-E5BB-42B7-A16D-D8536422474C}" destId="{3202E1C5-0AB5-4CD4-9E4C-31592C24E314}" srcOrd="10" destOrd="0" presId="urn:microsoft.com/office/officeart/2005/8/layout/gear1"/>
    <dgm:cxn modelId="{920CD22D-ADED-48B4-A1C5-CCF72A512B11}" type="presParOf" srcId="{071549E8-E5BB-42B7-A16D-D8536422474C}" destId="{31160C05-7D5E-40E0-BE36-5F3091119F7F}" srcOrd="11" destOrd="0" presId="urn:microsoft.com/office/officeart/2005/8/layout/gear1"/>
    <dgm:cxn modelId="{0DF4086A-CB8F-48E6-8DAC-AC7386AFC795}" type="presParOf" srcId="{071549E8-E5BB-42B7-A16D-D8536422474C}" destId="{4424EBAF-8A89-45A8-8D56-F1FA8D6F9BB1}"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5C0FA0A-EBC1-40BC-ADF2-DE3B88951C92}" type="doc">
      <dgm:prSet loTypeId="urn:microsoft.com/office/officeart/2005/8/layout/vList3#1" loCatId="list" qsTypeId="urn:microsoft.com/office/officeart/2005/8/quickstyle/simple1" qsCatId="simple" csTypeId="urn:microsoft.com/office/officeart/2005/8/colors/colorful1#2" csCatId="colorful" phldr="1"/>
      <dgm:spPr/>
    </dgm:pt>
    <dgm:pt modelId="{9C6239DB-5DEF-4857-A647-91EE3DAB73CA}">
      <dgm:prSet phldrT="[Text]" custT="1"/>
      <dgm:spPr/>
      <dgm:t>
        <a:bodyPr/>
        <a:lstStyle/>
        <a:p>
          <a:r>
            <a:rPr lang="en-US" sz="3200"/>
            <a:t>Duy trì</a:t>
          </a:r>
        </a:p>
      </dgm:t>
    </dgm:pt>
    <dgm:pt modelId="{AB044219-7A52-4DA1-907E-2F20D4192F4C}" type="parTrans" cxnId="{CA79B93D-3434-4F55-8981-15365483E3AC}">
      <dgm:prSet/>
      <dgm:spPr/>
      <dgm:t>
        <a:bodyPr/>
        <a:lstStyle/>
        <a:p>
          <a:endParaRPr lang="en-US" sz="3200"/>
        </a:p>
      </dgm:t>
    </dgm:pt>
    <dgm:pt modelId="{031A898A-018C-47EC-991D-47AC031465C2}" type="sibTrans" cxnId="{CA79B93D-3434-4F55-8981-15365483E3AC}">
      <dgm:prSet/>
      <dgm:spPr/>
      <dgm:t>
        <a:bodyPr/>
        <a:lstStyle/>
        <a:p>
          <a:endParaRPr lang="en-US" sz="3200"/>
        </a:p>
      </dgm:t>
    </dgm:pt>
    <dgm:pt modelId="{F75B6A22-E616-48DE-BFEC-861145C1B02C}">
      <dgm:prSet phldrT="[Text]" custT="1"/>
      <dgm:spPr/>
      <dgm:t>
        <a:bodyPr/>
        <a:lstStyle/>
        <a:p>
          <a:r>
            <a:rPr lang="en-US" sz="3200"/>
            <a:t>Thu hoạch</a:t>
          </a:r>
        </a:p>
      </dgm:t>
    </dgm:pt>
    <dgm:pt modelId="{7CF78F43-1A6C-4090-A5B2-12999A87B9CE}" type="parTrans" cxnId="{2F0212B7-E43E-47ED-946F-544ACAB057D3}">
      <dgm:prSet/>
      <dgm:spPr/>
      <dgm:t>
        <a:bodyPr/>
        <a:lstStyle/>
        <a:p>
          <a:endParaRPr lang="en-US" sz="3200"/>
        </a:p>
      </dgm:t>
    </dgm:pt>
    <dgm:pt modelId="{FB8960B8-852C-4298-BCA5-5320784FD0AF}" type="sibTrans" cxnId="{2F0212B7-E43E-47ED-946F-544ACAB057D3}">
      <dgm:prSet/>
      <dgm:spPr/>
      <dgm:t>
        <a:bodyPr/>
        <a:lstStyle/>
        <a:p>
          <a:endParaRPr lang="en-US" sz="3200"/>
        </a:p>
      </dgm:t>
    </dgm:pt>
    <dgm:pt modelId="{12037644-018B-425E-8C05-884DECEEC5F4}">
      <dgm:prSet phldrT="[Text]" custT="1"/>
      <dgm:spPr/>
      <dgm:t>
        <a:bodyPr/>
        <a:lstStyle/>
        <a:p>
          <a:r>
            <a:rPr lang="en-US" sz="3200"/>
            <a:t>Loại bỏ</a:t>
          </a:r>
        </a:p>
      </dgm:t>
    </dgm:pt>
    <dgm:pt modelId="{E33121AA-064D-4717-9447-47F9A29DD12C}" type="parTrans" cxnId="{893630CE-BB3B-42F2-B087-CAF8AAD37B61}">
      <dgm:prSet/>
      <dgm:spPr/>
      <dgm:t>
        <a:bodyPr/>
        <a:lstStyle/>
        <a:p>
          <a:endParaRPr lang="en-US" sz="3200"/>
        </a:p>
      </dgm:t>
    </dgm:pt>
    <dgm:pt modelId="{830BACDE-52AD-490C-86FA-4991C54BB775}" type="sibTrans" cxnId="{893630CE-BB3B-42F2-B087-CAF8AAD37B61}">
      <dgm:prSet/>
      <dgm:spPr/>
      <dgm:t>
        <a:bodyPr/>
        <a:lstStyle/>
        <a:p>
          <a:endParaRPr lang="en-US" sz="3200"/>
        </a:p>
      </dgm:t>
    </dgm:pt>
    <dgm:pt modelId="{3B231C7F-24E3-4C8E-BB48-B6B037138F5C}" type="pres">
      <dgm:prSet presAssocID="{65C0FA0A-EBC1-40BC-ADF2-DE3B88951C92}" presName="linearFlow" presStyleCnt="0">
        <dgm:presLayoutVars>
          <dgm:dir/>
          <dgm:resizeHandles val="exact"/>
        </dgm:presLayoutVars>
      </dgm:prSet>
      <dgm:spPr/>
    </dgm:pt>
    <dgm:pt modelId="{3FCCF1C8-D352-4FD8-AC5D-C128A98A3762}" type="pres">
      <dgm:prSet presAssocID="{9C6239DB-5DEF-4857-A647-91EE3DAB73CA}" presName="composite" presStyleCnt="0"/>
      <dgm:spPr/>
    </dgm:pt>
    <dgm:pt modelId="{79994D29-6AE7-46C5-BEFA-2A10E00C38D4}" type="pres">
      <dgm:prSet presAssocID="{9C6239DB-5DEF-4857-A647-91EE3DAB73CA}" presName="imgShp" presStyleLbl="fgImgPlace1" presStyleIdx="0" presStyleCnt="3"/>
      <dgm:spPr>
        <a:blipFill rotWithShape="0">
          <a:blip xmlns:r="http://schemas.openxmlformats.org/officeDocument/2006/relationships" r:embed="rId1"/>
          <a:stretch>
            <a:fillRect/>
          </a:stretch>
        </a:blipFill>
      </dgm:spPr>
    </dgm:pt>
    <dgm:pt modelId="{7AA27433-4052-48F7-BDA7-BCAFCDD933CD}" type="pres">
      <dgm:prSet presAssocID="{9C6239DB-5DEF-4857-A647-91EE3DAB73CA}" presName="txShp" presStyleLbl="node1" presStyleIdx="0" presStyleCnt="3">
        <dgm:presLayoutVars>
          <dgm:bulletEnabled val="1"/>
        </dgm:presLayoutVars>
      </dgm:prSet>
      <dgm:spPr/>
    </dgm:pt>
    <dgm:pt modelId="{3FBBDB62-704E-410E-9E7B-B9E343F43B9F}" type="pres">
      <dgm:prSet presAssocID="{031A898A-018C-47EC-991D-47AC031465C2}" presName="spacing" presStyleCnt="0"/>
      <dgm:spPr/>
    </dgm:pt>
    <dgm:pt modelId="{8D36E2D0-13BF-403B-B2F8-E40FB423681F}" type="pres">
      <dgm:prSet presAssocID="{F75B6A22-E616-48DE-BFEC-861145C1B02C}" presName="composite" presStyleCnt="0"/>
      <dgm:spPr/>
    </dgm:pt>
    <dgm:pt modelId="{809FFBD3-301F-48A0-9ABB-3888E8FB9EDA}" type="pres">
      <dgm:prSet presAssocID="{F75B6A22-E616-48DE-BFEC-861145C1B02C}" presName="imgShp" presStyleLbl="fgImgPlace1" presStyleIdx="1" presStyleCnt="3"/>
      <dgm:spPr>
        <a:blipFill rotWithShape="0">
          <a:blip xmlns:r="http://schemas.openxmlformats.org/officeDocument/2006/relationships" r:embed="rId1"/>
          <a:stretch>
            <a:fillRect/>
          </a:stretch>
        </a:blipFill>
      </dgm:spPr>
    </dgm:pt>
    <dgm:pt modelId="{8DFFFCD0-A864-4086-B676-5F45C6B11644}" type="pres">
      <dgm:prSet presAssocID="{F75B6A22-E616-48DE-BFEC-861145C1B02C}" presName="txShp" presStyleLbl="node1" presStyleIdx="1" presStyleCnt="3">
        <dgm:presLayoutVars>
          <dgm:bulletEnabled val="1"/>
        </dgm:presLayoutVars>
      </dgm:prSet>
      <dgm:spPr/>
    </dgm:pt>
    <dgm:pt modelId="{D9F98F15-E684-4C94-9451-B517F7D9E7B1}" type="pres">
      <dgm:prSet presAssocID="{FB8960B8-852C-4298-BCA5-5320784FD0AF}" presName="spacing" presStyleCnt="0"/>
      <dgm:spPr/>
    </dgm:pt>
    <dgm:pt modelId="{BBA12A0F-404A-4E41-BEC1-C13F195CF4E6}" type="pres">
      <dgm:prSet presAssocID="{12037644-018B-425E-8C05-884DECEEC5F4}" presName="composite" presStyleCnt="0"/>
      <dgm:spPr/>
    </dgm:pt>
    <dgm:pt modelId="{568C51E9-FB75-4AF4-8843-1C4E54B8BC76}" type="pres">
      <dgm:prSet presAssocID="{12037644-018B-425E-8C05-884DECEEC5F4}" presName="imgShp" presStyleLbl="fgImgPlace1" presStyleIdx="2" presStyleCnt="3"/>
      <dgm:spPr>
        <a:blipFill rotWithShape="0">
          <a:blip xmlns:r="http://schemas.openxmlformats.org/officeDocument/2006/relationships" r:embed="rId1"/>
          <a:stretch>
            <a:fillRect/>
          </a:stretch>
        </a:blipFill>
      </dgm:spPr>
    </dgm:pt>
    <dgm:pt modelId="{F2460D55-D9BD-49B2-8B92-B4E283B2CA89}" type="pres">
      <dgm:prSet presAssocID="{12037644-018B-425E-8C05-884DECEEC5F4}" presName="txShp" presStyleLbl="node1" presStyleIdx="2" presStyleCnt="3">
        <dgm:presLayoutVars>
          <dgm:bulletEnabled val="1"/>
        </dgm:presLayoutVars>
      </dgm:prSet>
      <dgm:spPr/>
    </dgm:pt>
  </dgm:ptLst>
  <dgm:cxnLst>
    <dgm:cxn modelId="{F5F47327-AD32-4A26-87DB-40B4EDFC08AC}" type="presOf" srcId="{F75B6A22-E616-48DE-BFEC-861145C1B02C}" destId="{8DFFFCD0-A864-4086-B676-5F45C6B11644}" srcOrd="0" destOrd="0" presId="urn:microsoft.com/office/officeart/2005/8/layout/vList3#1"/>
    <dgm:cxn modelId="{CA79B93D-3434-4F55-8981-15365483E3AC}" srcId="{65C0FA0A-EBC1-40BC-ADF2-DE3B88951C92}" destId="{9C6239DB-5DEF-4857-A647-91EE3DAB73CA}" srcOrd="0" destOrd="0" parTransId="{AB044219-7A52-4DA1-907E-2F20D4192F4C}" sibTransId="{031A898A-018C-47EC-991D-47AC031465C2}"/>
    <dgm:cxn modelId="{2C1D8488-72CC-45A4-8D7D-4A836007C8C3}" type="presOf" srcId="{9C6239DB-5DEF-4857-A647-91EE3DAB73CA}" destId="{7AA27433-4052-48F7-BDA7-BCAFCDD933CD}" srcOrd="0" destOrd="0" presId="urn:microsoft.com/office/officeart/2005/8/layout/vList3#1"/>
    <dgm:cxn modelId="{2F0212B7-E43E-47ED-946F-544ACAB057D3}" srcId="{65C0FA0A-EBC1-40BC-ADF2-DE3B88951C92}" destId="{F75B6A22-E616-48DE-BFEC-861145C1B02C}" srcOrd="1" destOrd="0" parTransId="{7CF78F43-1A6C-4090-A5B2-12999A87B9CE}" sibTransId="{FB8960B8-852C-4298-BCA5-5320784FD0AF}"/>
    <dgm:cxn modelId="{F12258C9-6AEB-4EAA-AAE3-F4A7C7E64998}" type="presOf" srcId="{12037644-018B-425E-8C05-884DECEEC5F4}" destId="{F2460D55-D9BD-49B2-8B92-B4E283B2CA89}" srcOrd="0" destOrd="0" presId="urn:microsoft.com/office/officeart/2005/8/layout/vList3#1"/>
    <dgm:cxn modelId="{893630CE-BB3B-42F2-B087-CAF8AAD37B61}" srcId="{65C0FA0A-EBC1-40BC-ADF2-DE3B88951C92}" destId="{12037644-018B-425E-8C05-884DECEEC5F4}" srcOrd="2" destOrd="0" parTransId="{E33121AA-064D-4717-9447-47F9A29DD12C}" sibTransId="{830BACDE-52AD-490C-86FA-4991C54BB775}"/>
    <dgm:cxn modelId="{A5D364E6-35E4-4973-AB89-803C15E312E4}" type="presOf" srcId="{65C0FA0A-EBC1-40BC-ADF2-DE3B88951C92}" destId="{3B231C7F-24E3-4C8E-BB48-B6B037138F5C}" srcOrd="0" destOrd="0" presId="urn:microsoft.com/office/officeart/2005/8/layout/vList3#1"/>
    <dgm:cxn modelId="{18A40B3F-1DA4-4E88-B20E-6EE636C411D8}" type="presParOf" srcId="{3B231C7F-24E3-4C8E-BB48-B6B037138F5C}" destId="{3FCCF1C8-D352-4FD8-AC5D-C128A98A3762}" srcOrd="0" destOrd="0" presId="urn:microsoft.com/office/officeart/2005/8/layout/vList3#1"/>
    <dgm:cxn modelId="{7F380AD6-E3AC-469F-9609-F71307493287}" type="presParOf" srcId="{3FCCF1C8-D352-4FD8-AC5D-C128A98A3762}" destId="{79994D29-6AE7-46C5-BEFA-2A10E00C38D4}" srcOrd="0" destOrd="0" presId="urn:microsoft.com/office/officeart/2005/8/layout/vList3#1"/>
    <dgm:cxn modelId="{37F3E5F0-EC72-48A1-9F41-527BC684CE3C}" type="presParOf" srcId="{3FCCF1C8-D352-4FD8-AC5D-C128A98A3762}" destId="{7AA27433-4052-48F7-BDA7-BCAFCDD933CD}" srcOrd="1" destOrd="0" presId="urn:microsoft.com/office/officeart/2005/8/layout/vList3#1"/>
    <dgm:cxn modelId="{B359CECF-393A-4B2C-9B0A-2A6DDFB020E3}" type="presParOf" srcId="{3B231C7F-24E3-4C8E-BB48-B6B037138F5C}" destId="{3FBBDB62-704E-410E-9E7B-B9E343F43B9F}" srcOrd="1" destOrd="0" presId="urn:microsoft.com/office/officeart/2005/8/layout/vList3#1"/>
    <dgm:cxn modelId="{B145EB38-6BF6-4BE7-B32F-2422BDA22487}" type="presParOf" srcId="{3B231C7F-24E3-4C8E-BB48-B6B037138F5C}" destId="{8D36E2D0-13BF-403B-B2F8-E40FB423681F}" srcOrd="2" destOrd="0" presId="urn:microsoft.com/office/officeart/2005/8/layout/vList3#1"/>
    <dgm:cxn modelId="{01A7CB2B-61D4-4CD4-BEB1-37CEAD688642}" type="presParOf" srcId="{8D36E2D0-13BF-403B-B2F8-E40FB423681F}" destId="{809FFBD3-301F-48A0-9ABB-3888E8FB9EDA}" srcOrd="0" destOrd="0" presId="urn:microsoft.com/office/officeart/2005/8/layout/vList3#1"/>
    <dgm:cxn modelId="{E6B51972-ED96-48C7-94A7-81F03018D604}" type="presParOf" srcId="{8D36E2D0-13BF-403B-B2F8-E40FB423681F}" destId="{8DFFFCD0-A864-4086-B676-5F45C6B11644}" srcOrd="1" destOrd="0" presId="urn:microsoft.com/office/officeart/2005/8/layout/vList3#1"/>
    <dgm:cxn modelId="{E52B4E35-9BBB-4EA1-9C21-8D1D58B41D2C}" type="presParOf" srcId="{3B231C7F-24E3-4C8E-BB48-B6B037138F5C}" destId="{D9F98F15-E684-4C94-9451-B517F7D9E7B1}" srcOrd="3" destOrd="0" presId="urn:microsoft.com/office/officeart/2005/8/layout/vList3#1"/>
    <dgm:cxn modelId="{3F92B7EC-E367-4DF2-ABA7-1D3416C87419}" type="presParOf" srcId="{3B231C7F-24E3-4C8E-BB48-B6B037138F5C}" destId="{BBA12A0F-404A-4E41-BEC1-C13F195CF4E6}" srcOrd="4" destOrd="0" presId="urn:microsoft.com/office/officeart/2005/8/layout/vList3#1"/>
    <dgm:cxn modelId="{095662D5-5EBB-468A-8BCB-F706F27062D1}" type="presParOf" srcId="{BBA12A0F-404A-4E41-BEC1-C13F195CF4E6}" destId="{568C51E9-FB75-4AF4-8843-1C4E54B8BC76}" srcOrd="0" destOrd="0" presId="urn:microsoft.com/office/officeart/2005/8/layout/vList3#1"/>
    <dgm:cxn modelId="{FE0531B1-0D79-4D24-8891-CF7777DE88B6}" type="presParOf" srcId="{BBA12A0F-404A-4E41-BEC1-C13F195CF4E6}" destId="{F2460D55-D9BD-49B2-8B92-B4E283B2CA89}" srcOrd="1" destOrd="0" presId="urn:microsoft.com/office/officeart/2005/8/layout/vList3#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1D2DF9-0C13-4201-8687-6B809AEAB428}">
      <dsp:nvSpPr>
        <dsp:cNvPr id="0" name=""/>
        <dsp:cNvSpPr/>
      </dsp:nvSpPr>
      <dsp:spPr>
        <a:xfrm>
          <a:off x="1732279" y="0"/>
          <a:ext cx="4673600" cy="4673600"/>
        </a:xfrm>
        <a:prstGeom prst="triangl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65FF40F-0869-44B4-9553-2D8C2F485CBD}">
      <dsp:nvSpPr>
        <dsp:cNvPr id="0" name=""/>
        <dsp:cNvSpPr/>
      </dsp:nvSpPr>
      <dsp:spPr>
        <a:xfrm>
          <a:off x="4069079" y="469870"/>
          <a:ext cx="3037840" cy="1106328"/>
        </a:xfrm>
        <a:prstGeom prst="round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kern="1200">
              <a:latin typeface="Arial" charset="0"/>
            </a:rPr>
            <a:t>Quyết định về chiều dài</a:t>
          </a:r>
          <a:endParaRPr lang="en-US" sz="2100" kern="1200"/>
        </a:p>
      </dsp:txBody>
      <dsp:txXfrm>
        <a:off x="4123085" y="523876"/>
        <a:ext cx="2929828" cy="998316"/>
      </dsp:txXfrm>
    </dsp:sp>
    <dsp:sp modelId="{765E5998-0D12-4617-9B8F-8E867D3A66E0}">
      <dsp:nvSpPr>
        <dsp:cNvPr id="0" name=""/>
        <dsp:cNvSpPr/>
      </dsp:nvSpPr>
      <dsp:spPr>
        <a:xfrm>
          <a:off x="4069079" y="1714490"/>
          <a:ext cx="3037840" cy="1106328"/>
        </a:xfrm>
        <a:prstGeom prst="round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kern="1200">
              <a:latin typeface="Arial" charset="0"/>
            </a:rPr>
            <a:t>Quyết định hiện đại hóa sản phẩm</a:t>
          </a:r>
          <a:endParaRPr lang="en-US" sz="2100" kern="1200"/>
        </a:p>
      </dsp:txBody>
      <dsp:txXfrm>
        <a:off x="4123085" y="1768496"/>
        <a:ext cx="2929828" cy="998316"/>
      </dsp:txXfrm>
    </dsp:sp>
    <dsp:sp modelId="{8517779E-6509-4AE4-8B79-CBB1691D92E3}">
      <dsp:nvSpPr>
        <dsp:cNvPr id="0" name=""/>
        <dsp:cNvSpPr/>
      </dsp:nvSpPr>
      <dsp:spPr>
        <a:xfrm>
          <a:off x="4069079" y="2959109"/>
          <a:ext cx="3037840" cy="1106328"/>
        </a:xfrm>
        <a:prstGeom prst="round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kern="1200">
              <a:latin typeface="Arial" charset="0"/>
            </a:rPr>
            <a:t>Quyết định khuếch trương và loại bỏ sản phẩm</a:t>
          </a:r>
          <a:endParaRPr lang="en-US" sz="2100" kern="1200"/>
        </a:p>
      </dsp:txBody>
      <dsp:txXfrm>
        <a:off x="4123085" y="3013115"/>
        <a:ext cx="2929828" cy="9983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E755E6-221F-4706-A98D-1544ECE4A95B}">
      <dsp:nvSpPr>
        <dsp:cNvPr id="0" name=""/>
        <dsp:cNvSpPr/>
      </dsp:nvSpPr>
      <dsp:spPr>
        <a:xfrm>
          <a:off x="0" y="1017269"/>
          <a:ext cx="6019799" cy="529200"/>
        </a:xfrm>
        <a:prstGeom prst="rect">
          <a:avLst/>
        </a:prstGeom>
        <a:solidFill>
          <a:schemeClr val="lt1">
            <a:alpha val="90000"/>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F12F35B-C99B-477E-8332-5C4130B37D89}">
      <dsp:nvSpPr>
        <dsp:cNvPr id="0" name=""/>
        <dsp:cNvSpPr/>
      </dsp:nvSpPr>
      <dsp:spPr>
        <a:xfrm>
          <a:off x="300989" y="774"/>
          <a:ext cx="4939275" cy="1326455"/>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9274" tIns="0" rIns="159274" bIns="0" numCol="1" spcCol="1270" anchor="ctr" anchorCtr="0">
          <a:noAutofit/>
        </a:bodyPr>
        <a:lstStyle/>
        <a:p>
          <a:pPr marL="0" lvl="0" indent="0" algn="l" defTabSz="1244600">
            <a:lnSpc>
              <a:spcPct val="90000"/>
            </a:lnSpc>
            <a:spcBef>
              <a:spcPct val="0"/>
            </a:spcBef>
            <a:spcAft>
              <a:spcPct val="35000"/>
            </a:spcAft>
            <a:buNone/>
          </a:pPr>
          <a:r>
            <a:rPr lang="en-US" sz="2800" kern="1200" dirty="0" err="1"/>
            <a:t>Quyết</a:t>
          </a:r>
          <a:r>
            <a:rPr lang="en-US" sz="2800" kern="1200" dirty="0"/>
            <a:t> </a:t>
          </a:r>
          <a:r>
            <a:rPr lang="en-US" sz="2800" kern="1200" dirty="0" err="1"/>
            <a:t>định</a:t>
          </a:r>
          <a:r>
            <a:rPr lang="en-US" sz="2800" kern="1200" dirty="0"/>
            <a:t> </a:t>
          </a:r>
          <a:r>
            <a:rPr lang="en-US" sz="2800" kern="1200" dirty="0" err="1"/>
            <a:t>về</a:t>
          </a:r>
          <a:r>
            <a:rPr lang="en-US" sz="2800" kern="1200" dirty="0"/>
            <a:t> </a:t>
          </a:r>
          <a:r>
            <a:rPr lang="en-US" sz="2800" kern="1200" dirty="0" err="1"/>
            <a:t>nội</a:t>
          </a:r>
          <a:r>
            <a:rPr lang="en-US" sz="2800" kern="1200" dirty="0"/>
            <a:t> dung </a:t>
          </a:r>
          <a:r>
            <a:rPr lang="en-US" sz="2800" kern="1200" dirty="0" err="1"/>
            <a:t>dịch</a:t>
          </a:r>
          <a:r>
            <a:rPr lang="en-US" sz="2800" kern="1200" dirty="0"/>
            <a:t> </a:t>
          </a:r>
          <a:r>
            <a:rPr lang="en-US" sz="2800" kern="1200" dirty="0" err="1"/>
            <a:t>vụ</a:t>
          </a:r>
          <a:r>
            <a:rPr lang="en-US" sz="2800" kern="1200" dirty="0"/>
            <a:t> </a:t>
          </a:r>
          <a:r>
            <a:rPr lang="en-US" sz="2800" kern="1200" dirty="0" err="1"/>
            <a:t>cung</a:t>
          </a:r>
          <a:r>
            <a:rPr lang="en-US" sz="2800" kern="1200" dirty="0"/>
            <a:t> </a:t>
          </a:r>
          <a:r>
            <a:rPr lang="en-US" sz="2800" kern="1200" dirty="0" err="1"/>
            <a:t>cấp</a:t>
          </a:r>
          <a:r>
            <a:rPr lang="en-US" sz="2800" kern="1200" dirty="0"/>
            <a:t> </a:t>
          </a:r>
          <a:r>
            <a:rPr lang="en-US" sz="2800" kern="1200" dirty="0" err="1"/>
            <a:t>cho</a:t>
          </a:r>
          <a:r>
            <a:rPr lang="en-US" sz="2800" kern="1200" dirty="0"/>
            <a:t> </a:t>
          </a:r>
          <a:r>
            <a:rPr lang="en-US" sz="2800" kern="1200" dirty="0" err="1"/>
            <a:t>khách</a:t>
          </a:r>
          <a:r>
            <a:rPr lang="en-US" sz="2800" kern="1200" dirty="0"/>
            <a:t> </a:t>
          </a:r>
          <a:r>
            <a:rPr lang="en-US" sz="2800" kern="1200" dirty="0" err="1"/>
            <a:t>hàng</a:t>
          </a:r>
          <a:r>
            <a:rPr lang="en-US" sz="2800" kern="1200" dirty="0"/>
            <a:t> </a:t>
          </a:r>
        </a:p>
      </dsp:txBody>
      <dsp:txXfrm>
        <a:off x="365741" y="65526"/>
        <a:ext cx="4809771" cy="1196951"/>
      </dsp:txXfrm>
    </dsp:sp>
    <dsp:sp modelId="{1ABBFA35-D44D-48B4-8323-F6AF99A9C9BD}">
      <dsp:nvSpPr>
        <dsp:cNvPr id="0" name=""/>
        <dsp:cNvSpPr/>
      </dsp:nvSpPr>
      <dsp:spPr>
        <a:xfrm>
          <a:off x="0" y="2473998"/>
          <a:ext cx="6019799" cy="529200"/>
        </a:xfrm>
        <a:prstGeom prst="rect">
          <a:avLst/>
        </a:prstGeom>
        <a:solidFill>
          <a:schemeClr val="lt1">
            <a:alpha val="90000"/>
            <a:hueOff val="0"/>
            <a:satOff val="0"/>
            <a:lumOff val="0"/>
            <a:alphaOff val="0"/>
          </a:schemeClr>
        </a:solidFill>
        <a:ln w="19050" cap="rnd" cmpd="sng" algn="ctr">
          <a:solidFill>
            <a:schemeClr val="accent2">
              <a:hueOff val="-1482143"/>
              <a:satOff val="7100"/>
              <a:lumOff val="6569"/>
              <a:alphaOff val="0"/>
            </a:schemeClr>
          </a:solidFill>
          <a:prstDash val="solid"/>
        </a:ln>
        <a:effectLst/>
      </dsp:spPr>
      <dsp:style>
        <a:lnRef idx="2">
          <a:scrgbClr r="0" g="0" b="0"/>
        </a:lnRef>
        <a:fillRef idx="1">
          <a:scrgbClr r="0" g="0" b="0"/>
        </a:fillRef>
        <a:effectRef idx="0">
          <a:scrgbClr r="0" g="0" b="0"/>
        </a:effectRef>
        <a:fontRef idx="minor"/>
      </dsp:style>
    </dsp:sp>
    <dsp:sp modelId="{D926FB36-7991-4CB7-B5DC-B1DB969B15B5}">
      <dsp:nvSpPr>
        <dsp:cNvPr id="0" name=""/>
        <dsp:cNvSpPr/>
      </dsp:nvSpPr>
      <dsp:spPr>
        <a:xfrm>
          <a:off x="300989" y="1659869"/>
          <a:ext cx="5194887" cy="1124088"/>
        </a:xfrm>
        <a:prstGeom prst="roundRect">
          <a:avLst/>
        </a:prstGeom>
        <a:solidFill>
          <a:schemeClr val="accent2">
            <a:hueOff val="-1482143"/>
            <a:satOff val="7100"/>
            <a:lumOff val="656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9274" tIns="0" rIns="159274" bIns="0" numCol="1" spcCol="1270" anchor="ctr" anchorCtr="0">
          <a:noAutofit/>
        </a:bodyPr>
        <a:lstStyle/>
        <a:p>
          <a:pPr marL="0" lvl="0" indent="0" algn="l" defTabSz="1244600">
            <a:lnSpc>
              <a:spcPct val="90000"/>
            </a:lnSpc>
            <a:spcBef>
              <a:spcPct val="0"/>
            </a:spcBef>
            <a:spcAft>
              <a:spcPct val="35000"/>
            </a:spcAft>
            <a:buNone/>
          </a:pPr>
          <a:r>
            <a:rPr lang="en-US" sz="2800" kern="1200" dirty="0" err="1"/>
            <a:t>Quyết</a:t>
          </a:r>
          <a:r>
            <a:rPr lang="en-US" sz="2800" kern="1200" dirty="0"/>
            <a:t> </a:t>
          </a:r>
          <a:r>
            <a:rPr lang="en-US" sz="2800" kern="1200" dirty="0" err="1"/>
            <a:t>định</a:t>
          </a:r>
          <a:r>
            <a:rPr lang="en-US" sz="2800" kern="1200" dirty="0"/>
            <a:t> </a:t>
          </a:r>
          <a:r>
            <a:rPr lang="en-US" sz="2800" kern="1200" dirty="0" err="1"/>
            <a:t>về</a:t>
          </a:r>
          <a:r>
            <a:rPr lang="en-US" sz="2800" kern="1200" dirty="0"/>
            <a:t> </a:t>
          </a:r>
          <a:r>
            <a:rPr lang="en-US" sz="2800" kern="1200" dirty="0" err="1"/>
            <a:t>mức</a:t>
          </a:r>
          <a:r>
            <a:rPr lang="en-US" sz="2800" kern="1200" dirty="0"/>
            <a:t> </a:t>
          </a:r>
          <a:r>
            <a:rPr lang="en-US" sz="2800" kern="1200" dirty="0" err="1"/>
            <a:t>độ</a:t>
          </a:r>
          <a:r>
            <a:rPr lang="en-US" sz="2800" kern="1200" dirty="0"/>
            <a:t> </a:t>
          </a:r>
          <a:r>
            <a:rPr lang="en-US" sz="2800" kern="1200" dirty="0" err="1"/>
            <a:t>dịch</a:t>
          </a:r>
          <a:r>
            <a:rPr lang="en-US" sz="2800" kern="1200" dirty="0"/>
            <a:t> </a:t>
          </a:r>
          <a:r>
            <a:rPr lang="en-US" sz="2800" kern="1200" dirty="0" err="1"/>
            <a:t>vụ</a:t>
          </a:r>
          <a:r>
            <a:rPr lang="en-US" sz="2800" kern="1200" dirty="0"/>
            <a:t>  </a:t>
          </a:r>
          <a:r>
            <a:rPr lang="en-US" sz="2800" kern="1200" dirty="0" err="1"/>
            <a:t>cung</a:t>
          </a:r>
          <a:r>
            <a:rPr lang="en-US" sz="2800" kern="1200" dirty="0"/>
            <a:t> </a:t>
          </a:r>
          <a:r>
            <a:rPr lang="en-US" sz="2800" kern="1200" dirty="0" err="1"/>
            <a:t>cấp</a:t>
          </a:r>
          <a:r>
            <a:rPr lang="en-US" sz="2800" kern="1200" dirty="0"/>
            <a:t> </a:t>
          </a:r>
          <a:r>
            <a:rPr lang="en-US" sz="2800" kern="1200" dirty="0" err="1"/>
            <a:t>cho</a:t>
          </a:r>
          <a:r>
            <a:rPr lang="en-US" sz="2800" kern="1200" dirty="0"/>
            <a:t> </a:t>
          </a:r>
          <a:r>
            <a:rPr lang="en-US" sz="2800" kern="1200" dirty="0" err="1"/>
            <a:t>khách</a:t>
          </a:r>
          <a:r>
            <a:rPr lang="en-US" sz="2800" kern="1200" dirty="0"/>
            <a:t> </a:t>
          </a:r>
          <a:r>
            <a:rPr lang="en-US" sz="2800" kern="1200" dirty="0" err="1"/>
            <a:t>hàng</a:t>
          </a:r>
          <a:endParaRPr lang="en-US" sz="2800" kern="1200" dirty="0"/>
        </a:p>
      </dsp:txBody>
      <dsp:txXfrm>
        <a:off x="355862" y="1714742"/>
        <a:ext cx="5085141" cy="1014342"/>
      </dsp:txXfrm>
    </dsp:sp>
    <dsp:sp modelId="{62274306-9077-477E-ADE4-BEA27CF9326D}">
      <dsp:nvSpPr>
        <dsp:cNvPr id="0" name=""/>
        <dsp:cNvSpPr/>
      </dsp:nvSpPr>
      <dsp:spPr>
        <a:xfrm>
          <a:off x="0" y="3988050"/>
          <a:ext cx="6019799" cy="529200"/>
        </a:xfrm>
        <a:prstGeom prst="rect">
          <a:avLst/>
        </a:prstGeom>
        <a:solidFill>
          <a:schemeClr val="lt1">
            <a:alpha val="90000"/>
            <a:hueOff val="0"/>
            <a:satOff val="0"/>
            <a:lumOff val="0"/>
            <a:alphaOff val="0"/>
          </a:schemeClr>
        </a:solidFill>
        <a:ln w="19050" cap="rnd" cmpd="sng" algn="ctr">
          <a:solidFill>
            <a:schemeClr val="accent2">
              <a:hueOff val="-2964286"/>
              <a:satOff val="14200"/>
              <a:lumOff val="13137"/>
              <a:alphaOff val="0"/>
            </a:schemeClr>
          </a:solidFill>
          <a:prstDash val="solid"/>
        </a:ln>
        <a:effectLst/>
      </dsp:spPr>
      <dsp:style>
        <a:lnRef idx="2">
          <a:scrgbClr r="0" g="0" b="0"/>
        </a:lnRef>
        <a:fillRef idx="1">
          <a:scrgbClr r="0" g="0" b="0"/>
        </a:fillRef>
        <a:effectRef idx="0">
          <a:scrgbClr r="0" g="0" b="0"/>
        </a:effectRef>
        <a:fontRef idx="minor"/>
      </dsp:style>
    </dsp:sp>
    <dsp:sp modelId="{6E7EC356-7DC4-41E6-BCE5-054CB2C82165}">
      <dsp:nvSpPr>
        <dsp:cNvPr id="0" name=""/>
        <dsp:cNvSpPr/>
      </dsp:nvSpPr>
      <dsp:spPr>
        <a:xfrm>
          <a:off x="300989" y="3336612"/>
          <a:ext cx="5168214" cy="1181412"/>
        </a:xfrm>
        <a:prstGeom prst="roundRect">
          <a:avLst/>
        </a:prstGeom>
        <a:solidFill>
          <a:schemeClr val="accent2">
            <a:hueOff val="-2964286"/>
            <a:satOff val="14200"/>
            <a:lumOff val="1313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9274" tIns="0" rIns="159274" bIns="0" numCol="1" spcCol="1270" anchor="ctr" anchorCtr="0">
          <a:noAutofit/>
        </a:bodyPr>
        <a:lstStyle/>
        <a:p>
          <a:pPr marL="0" lvl="0" indent="0" algn="l" defTabSz="1244600">
            <a:lnSpc>
              <a:spcPct val="90000"/>
            </a:lnSpc>
            <a:spcBef>
              <a:spcPct val="0"/>
            </a:spcBef>
            <a:spcAft>
              <a:spcPct val="35000"/>
            </a:spcAft>
            <a:buNone/>
          </a:pPr>
          <a:r>
            <a:rPr lang="en-US" sz="2800" kern="1200" dirty="0" err="1"/>
            <a:t>Quyết</a:t>
          </a:r>
          <a:r>
            <a:rPr lang="en-US" sz="2800" kern="1200" dirty="0"/>
            <a:t> </a:t>
          </a:r>
          <a:r>
            <a:rPr lang="en-US" sz="2800" kern="1200" dirty="0" err="1"/>
            <a:t>định</a:t>
          </a:r>
          <a:r>
            <a:rPr lang="en-US" sz="2800" kern="1200" dirty="0"/>
            <a:t> </a:t>
          </a:r>
          <a:r>
            <a:rPr lang="en-US" sz="2800" kern="1200" dirty="0" err="1"/>
            <a:t>về</a:t>
          </a:r>
          <a:r>
            <a:rPr lang="en-US" sz="2800" kern="1200" dirty="0"/>
            <a:t> </a:t>
          </a:r>
          <a:r>
            <a:rPr lang="en-US" sz="2800" kern="1200" dirty="0" err="1"/>
            <a:t>hình</a:t>
          </a:r>
          <a:r>
            <a:rPr lang="en-US" sz="2800" kern="1200" dirty="0"/>
            <a:t> </a:t>
          </a:r>
          <a:r>
            <a:rPr lang="en-US" sz="2800" kern="1200" dirty="0" err="1"/>
            <a:t>thức</a:t>
          </a:r>
          <a:r>
            <a:rPr lang="en-US" sz="2800" kern="1200" dirty="0"/>
            <a:t> </a:t>
          </a:r>
          <a:r>
            <a:rPr lang="en-US" sz="2800" kern="1200" dirty="0" err="1"/>
            <a:t>cung</a:t>
          </a:r>
          <a:r>
            <a:rPr lang="en-US" sz="2800" kern="1200" dirty="0"/>
            <a:t> </a:t>
          </a:r>
          <a:r>
            <a:rPr lang="en-US" sz="2800" kern="1200" dirty="0" err="1"/>
            <a:t>cấp</a:t>
          </a:r>
          <a:r>
            <a:rPr lang="en-US" sz="2800" kern="1200" dirty="0"/>
            <a:t> </a:t>
          </a:r>
          <a:r>
            <a:rPr lang="en-US" sz="2800" kern="1200" dirty="0" err="1"/>
            <a:t>cho</a:t>
          </a:r>
          <a:r>
            <a:rPr lang="en-US" sz="2800" kern="1200" dirty="0"/>
            <a:t> </a:t>
          </a:r>
          <a:r>
            <a:rPr lang="en-US" sz="2800" kern="1200" dirty="0" err="1"/>
            <a:t>khách</a:t>
          </a:r>
          <a:r>
            <a:rPr lang="en-US" sz="2800" kern="1200" dirty="0"/>
            <a:t> </a:t>
          </a:r>
          <a:r>
            <a:rPr lang="en-US" sz="2800" kern="1200" dirty="0" err="1"/>
            <a:t>hàng</a:t>
          </a:r>
          <a:endParaRPr lang="en-US" sz="2800" kern="1200" dirty="0"/>
        </a:p>
      </dsp:txBody>
      <dsp:txXfrm>
        <a:off x="358661" y="3394284"/>
        <a:ext cx="5052870" cy="10660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B85862-2D09-4404-BB28-2B0B7D5CFBEC}">
      <dsp:nvSpPr>
        <dsp:cNvPr id="0" name=""/>
        <dsp:cNvSpPr/>
      </dsp:nvSpPr>
      <dsp:spPr>
        <a:xfrm>
          <a:off x="2980134" y="1746646"/>
          <a:ext cx="2134790" cy="2134790"/>
        </a:xfrm>
        <a:prstGeom prst="gear9">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Thỏa thuận để nhà phân phối cung cấp dịch vụ</a:t>
          </a:r>
        </a:p>
      </dsp:txBody>
      <dsp:txXfrm>
        <a:off x="3409322" y="2246710"/>
        <a:ext cx="1276414" cy="1097327"/>
      </dsp:txXfrm>
    </dsp:sp>
    <dsp:sp modelId="{586FEB82-C1C7-449F-8E86-73EE09AC250F}">
      <dsp:nvSpPr>
        <dsp:cNvPr id="0" name=""/>
        <dsp:cNvSpPr/>
      </dsp:nvSpPr>
      <dsp:spPr>
        <a:xfrm>
          <a:off x="1738074" y="1242059"/>
          <a:ext cx="1552574" cy="1552574"/>
        </a:xfrm>
        <a:prstGeom prst="gear6">
          <a:avLst/>
        </a:prstGeom>
        <a:solidFill>
          <a:schemeClr val="accent2">
            <a:hueOff val="-1482143"/>
            <a:satOff val="7100"/>
            <a:lumOff val="656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Thuê các tổ chức khác</a:t>
          </a:r>
        </a:p>
      </dsp:txBody>
      <dsp:txXfrm>
        <a:off x="2128939" y="1635287"/>
        <a:ext cx="770844" cy="766118"/>
      </dsp:txXfrm>
    </dsp:sp>
    <dsp:sp modelId="{EDB82C65-2A99-427C-8EEA-85817E3D527D}">
      <dsp:nvSpPr>
        <dsp:cNvPr id="0" name=""/>
        <dsp:cNvSpPr/>
      </dsp:nvSpPr>
      <dsp:spPr>
        <a:xfrm rot="20700000">
          <a:off x="2607675" y="170941"/>
          <a:ext cx="1521206" cy="1521206"/>
        </a:xfrm>
        <a:prstGeom prst="gear6">
          <a:avLst/>
        </a:prstGeom>
        <a:solidFill>
          <a:schemeClr val="accent2">
            <a:hueOff val="-2964286"/>
            <a:satOff val="14200"/>
            <a:lumOff val="1313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Công ty tự cung cấp</a:t>
          </a:r>
        </a:p>
      </dsp:txBody>
      <dsp:txXfrm rot="-20700000">
        <a:off x="2941320" y="504586"/>
        <a:ext cx="853916" cy="853916"/>
      </dsp:txXfrm>
    </dsp:sp>
    <dsp:sp modelId="{6DBDDC7B-F742-445D-8472-320F57B77A45}">
      <dsp:nvSpPr>
        <dsp:cNvPr id="0" name=""/>
        <dsp:cNvSpPr/>
      </dsp:nvSpPr>
      <dsp:spPr>
        <a:xfrm>
          <a:off x="2812582" y="1426440"/>
          <a:ext cx="2732531" cy="2732531"/>
        </a:xfrm>
        <a:prstGeom prst="circularArrow">
          <a:avLst>
            <a:gd name="adj1" fmla="val 4687"/>
            <a:gd name="adj2" fmla="val 299029"/>
            <a:gd name="adj3" fmla="val 2508344"/>
            <a:gd name="adj4" fmla="val 15878230"/>
            <a:gd name="adj5" fmla="val 5469"/>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E1555DC-80F6-45BA-ACBE-E15043B4C2F0}">
      <dsp:nvSpPr>
        <dsp:cNvPr id="0" name=""/>
        <dsp:cNvSpPr/>
      </dsp:nvSpPr>
      <dsp:spPr>
        <a:xfrm>
          <a:off x="1463116" y="899876"/>
          <a:ext cx="1985355" cy="1985355"/>
        </a:xfrm>
        <a:prstGeom prst="leftCircularArrow">
          <a:avLst>
            <a:gd name="adj1" fmla="val 6452"/>
            <a:gd name="adj2" fmla="val 429999"/>
            <a:gd name="adj3" fmla="val 10489124"/>
            <a:gd name="adj4" fmla="val 14837806"/>
            <a:gd name="adj5" fmla="val 7527"/>
          </a:avLst>
        </a:prstGeom>
        <a:solidFill>
          <a:schemeClr val="accent2">
            <a:hueOff val="-1482143"/>
            <a:satOff val="7100"/>
            <a:lumOff val="6569"/>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E979857-3388-4289-A18C-2586B2408A0D}">
      <dsp:nvSpPr>
        <dsp:cNvPr id="0" name=""/>
        <dsp:cNvSpPr/>
      </dsp:nvSpPr>
      <dsp:spPr>
        <a:xfrm>
          <a:off x="2255804" y="-160917"/>
          <a:ext cx="2140612" cy="2140612"/>
        </a:xfrm>
        <a:prstGeom prst="circularArrow">
          <a:avLst>
            <a:gd name="adj1" fmla="val 5984"/>
            <a:gd name="adj2" fmla="val 394124"/>
            <a:gd name="adj3" fmla="val 13313824"/>
            <a:gd name="adj4" fmla="val 10508221"/>
            <a:gd name="adj5" fmla="val 6981"/>
          </a:avLst>
        </a:prstGeom>
        <a:solidFill>
          <a:schemeClr val="accent2">
            <a:hueOff val="-2964286"/>
            <a:satOff val="14200"/>
            <a:lumOff val="13137"/>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5DD9CD-8AEA-47CE-A433-A3F0515F7A23}">
      <dsp:nvSpPr>
        <dsp:cNvPr id="0" name=""/>
        <dsp:cNvSpPr/>
      </dsp:nvSpPr>
      <dsp:spPr>
        <a:xfrm>
          <a:off x="3888501" y="2036683"/>
          <a:ext cx="2489279" cy="2489279"/>
        </a:xfrm>
        <a:prstGeom prst="gear9">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rPr>
            <a:t>Cải tiến marketing-mix</a:t>
          </a:r>
        </a:p>
      </dsp:txBody>
      <dsp:txXfrm>
        <a:off x="4388957" y="2619785"/>
        <a:ext cx="1488367" cy="1279541"/>
      </dsp:txXfrm>
    </dsp:sp>
    <dsp:sp modelId="{D4E89CB8-45F6-4674-AC9C-21AC40AB15E7}">
      <dsp:nvSpPr>
        <dsp:cNvPr id="0" name=""/>
        <dsp:cNvSpPr/>
      </dsp:nvSpPr>
      <dsp:spPr>
        <a:xfrm>
          <a:off x="2440193" y="1448308"/>
          <a:ext cx="1810385" cy="1810385"/>
        </a:xfrm>
        <a:prstGeom prst="gear6">
          <a:avLst/>
        </a:prstGeom>
        <a:solidFill>
          <a:schemeClr val="accent2">
            <a:hueOff val="-1482143"/>
            <a:satOff val="7100"/>
            <a:lumOff val="656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rPr>
            <a:t>Đổi mới thị trường</a:t>
          </a:r>
        </a:p>
      </dsp:txBody>
      <dsp:txXfrm>
        <a:off x="2895963" y="1906833"/>
        <a:ext cx="898845" cy="893335"/>
      </dsp:txXfrm>
    </dsp:sp>
    <dsp:sp modelId="{43D76352-C8A5-4299-BC1C-C77B674AFFB8}">
      <dsp:nvSpPr>
        <dsp:cNvPr id="0" name=""/>
        <dsp:cNvSpPr/>
      </dsp:nvSpPr>
      <dsp:spPr>
        <a:xfrm rot="20700000">
          <a:off x="3454194" y="199327"/>
          <a:ext cx="1773807" cy="1773807"/>
        </a:xfrm>
        <a:prstGeom prst="gear6">
          <a:avLst/>
        </a:prstGeom>
        <a:solidFill>
          <a:schemeClr val="accent2">
            <a:hueOff val="-2964286"/>
            <a:satOff val="14200"/>
            <a:lumOff val="1313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rPr>
            <a:t>Đổi mới sản phẩm</a:t>
          </a:r>
        </a:p>
      </dsp:txBody>
      <dsp:txXfrm rot="-20700000">
        <a:off x="3843242" y="588375"/>
        <a:ext cx="995711" cy="995711"/>
      </dsp:txXfrm>
    </dsp:sp>
    <dsp:sp modelId="{3202E1C5-0AB5-4CD4-9E4C-31592C24E314}">
      <dsp:nvSpPr>
        <dsp:cNvPr id="0" name=""/>
        <dsp:cNvSpPr/>
      </dsp:nvSpPr>
      <dsp:spPr>
        <a:xfrm>
          <a:off x="3700746" y="1658974"/>
          <a:ext cx="3186277" cy="3186277"/>
        </a:xfrm>
        <a:prstGeom prst="circularArrow">
          <a:avLst>
            <a:gd name="adj1" fmla="val 4687"/>
            <a:gd name="adj2" fmla="val 299029"/>
            <a:gd name="adj3" fmla="val 2523572"/>
            <a:gd name="adj4" fmla="val 15845412"/>
            <a:gd name="adj5" fmla="val 5469"/>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1160C05-7D5E-40E0-BE36-5F3091119F7F}">
      <dsp:nvSpPr>
        <dsp:cNvPr id="0" name=""/>
        <dsp:cNvSpPr/>
      </dsp:nvSpPr>
      <dsp:spPr>
        <a:xfrm>
          <a:off x="2119577" y="1046315"/>
          <a:ext cx="2315030" cy="2315030"/>
        </a:xfrm>
        <a:prstGeom prst="leftCircularArrow">
          <a:avLst>
            <a:gd name="adj1" fmla="val 6452"/>
            <a:gd name="adj2" fmla="val 429999"/>
            <a:gd name="adj3" fmla="val 10489124"/>
            <a:gd name="adj4" fmla="val 14837806"/>
            <a:gd name="adj5" fmla="val 7527"/>
          </a:avLst>
        </a:prstGeom>
        <a:solidFill>
          <a:schemeClr val="accent2">
            <a:hueOff val="-1482143"/>
            <a:satOff val="7100"/>
            <a:lumOff val="6569"/>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424EBAF-8A89-45A8-8D56-F1FA8D6F9BB1}">
      <dsp:nvSpPr>
        <dsp:cNvPr id="0" name=""/>
        <dsp:cNvSpPr/>
      </dsp:nvSpPr>
      <dsp:spPr>
        <a:xfrm>
          <a:off x="3043894" y="-190626"/>
          <a:ext cx="2496068" cy="2496068"/>
        </a:xfrm>
        <a:prstGeom prst="circularArrow">
          <a:avLst>
            <a:gd name="adj1" fmla="val 5984"/>
            <a:gd name="adj2" fmla="val 394124"/>
            <a:gd name="adj3" fmla="val 13313824"/>
            <a:gd name="adj4" fmla="val 10508221"/>
            <a:gd name="adj5" fmla="val 6981"/>
          </a:avLst>
        </a:prstGeom>
        <a:solidFill>
          <a:schemeClr val="accent2">
            <a:hueOff val="-2964286"/>
            <a:satOff val="14200"/>
            <a:lumOff val="13137"/>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A27433-4052-48F7-BDA7-BCAFCDD933CD}">
      <dsp:nvSpPr>
        <dsp:cNvPr id="0" name=""/>
        <dsp:cNvSpPr/>
      </dsp:nvSpPr>
      <dsp:spPr>
        <a:xfrm rot="10800000">
          <a:off x="1422924" y="1130"/>
          <a:ext cx="4611243" cy="1045784"/>
        </a:xfrm>
        <a:prstGeom prst="homePlate">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61162" tIns="121920" rIns="227584" bIns="121920" numCol="1" spcCol="1270" anchor="ctr" anchorCtr="0">
          <a:noAutofit/>
        </a:bodyPr>
        <a:lstStyle/>
        <a:p>
          <a:pPr marL="0" lvl="0" indent="0" algn="ctr" defTabSz="1422400">
            <a:lnSpc>
              <a:spcPct val="90000"/>
            </a:lnSpc>
            <a:spcBef>
              <a:spcPct val="0"/>
            </a:spcBef>
            <a:spcAft>
              <a:spcPct val="35000"/>
            </a:spcAft>
            <a:buNone/>
          </a:pPr>
          <a:r>
            <a:rPr lang="en-US" sz="3200" kern="1200"/>
            <a:t>Duy trì</a:t>
          </a:r>
        </a:p>
      </dsp:txBody>
      <dsp:txXfrm rot="10800000">
        <a:off x="1684370" y="1130"/>
        <a:ext cx="4349797" cy="1045784"/>
      </dsp:txXfrm>
    </dsp:sp>
    <dsp:sp modelId="{79994D29-6AE7-46C5-BEFA-2A10E00C38D4}">
      <dsp:nvSpPr>
        <dsp:cNvPr id="0" name=""/>
        <dsp:cNvSpPr/>
      </dsp:nvSpPr>
      <dsp:spPr>
        <a:xfrm>
          <a:off x="900032" y="1130"/>
          <a:ext cx="1045784" cy="1045784"/>
        </a:xfrm>
        <a:prstGeom prst="ellipse">
          <a:avLst/>
        </a:prstGeom>
        <a:blipFill rotWithShape="0">
          <a:blip xmlns:r="http://schemas.openxmlformats.org/officeDocument/2006/relationships" r:embed="rId1"/>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DFFFCD0-A864-4086-B676-5F45C6B11644}">
      <dsp:nvSpPr>
        <dsp:cNvPr id="0" name=""/>
        <dsp:cNvSpPr/>
      </dsp:nvSpPr>
      <dsp:spPr>
        <a:xfrm rot="10800000">
          <a:off x="1422924" y="1359089"/>
          <a:ext cx="4611243" cy="1045784"/>
        </a:xfrm>
        <a:prstGeom prst="homePlate">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61162" tIns="121920" rIns="227584" bIns="121920" numCol="1" spcCol="1270" anchor="ctr" anchorCtr="0">
          <a:noAutofit/>
        </a:bodyPr>
        <a:lstStyle/>
        <a:p>
          <a:pPr marL="0" lvl="0" indent="0" algn="ctr" defTabSz="1422400">
            <a:lnSpc>
              <a:spcPct val="90000"/>
            </a:lnSpc>
            <a:spcBef>
              <a:spcPct val="0"/>
            </a:spcBef>
            <a:spcAft>
              <a:spcPct val="35000"/>
            </a:spcAft>
            <a:buNone/>
          </a:pPr>
          <a:r>
            <a:rPr lang="en-US" sz="3200" kern="1200"/>
            <a:t>Thu hoạch</a:t>
          </a:r>
        </a:p>
      </dsp:txBody>
      <dsp:txXfrm rot="10800000">
        <a:off x="1684370" y="1359089"/>
        <a:ext cx="4349797" cy="1045784"/>
      </dsp:txXfrm>
    </dsp:sp>
    <dsp:sp modelId="{809FFBD3-301F-48A0-9ABB-3888E8FB9EDA}">
      <dsp:nvSpPr>
        <dsp:cNvPr id="0" name=""/>
        <dsp:cNvSpPr/>
      </dsp:nvSpPr>
      <dsp:spPr>
        <a:xfrm>
          <a:off x="900032" y="1359089"/>
          <a:ext cx="1045784" cy="1045784"/>
        </a:xfrm>
        <a:prstGeom prst="ellipse">
          <a:avLst/>
        </a:prstGeom>
        <a:blipFill rotWithShape="0">
          <a:blip xmlns:r="http://schemas.openxmlformats.org/officeDocument/2006/relationships" r:embed="rId1"/>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2460D55-D9BD-49B2-8B92-B4E283B2CA89}">
      <dsp:nvSpPr>
        <dsp:cNvPr id="0" name=""/>
        <dsp:cNvSpPr/>
      </dsp:nvSpPr>
      <dsp:spPr>
        <a:xfrm rot="10800000">
          <a:off x="1422924" y="2717048"/>
          <a:ext cx="4611243" cy="1045784"/>
        </a:xfrm>
        <a:prstGeom prst="homePlate">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61162" tIns="121920" rIns="227584" bIns="121920" numCol="1" spcCol="1270" anchor="ctr" anchorCtr="0">
          <a:noAutofit/>
        </a:bodyPr>
        <a:lstStyle/>
        <a:p>
          <a:pPr marL="0" lvl="0" indent="0" algn="ctr" defTabSz="1422400">
            <a:lnSpc>
              <a:spcPct val="90000"/>
            </a:lnSpc>
            <a:spcBef>
              <a:spcPct val="0"/>
            </a:spcBef>
            <a:spcAft>
              <a:spcPct val="35000"/>
            </a:spcAft>
            <a:buNone/>
          </a:pPr>
          <a:r>
            <a:rPr lang="en-US" sz="3200" kern="1200"/>
            <a:t>Loại bỏ</a:t>
          </a:r>
        </a:p>
      </dsp:txBody>
      <dsp:txXfrm rot="10800000">
        <a:off x="1684370" y="2717048"/>
        <a:ext cx="4349797" cy="1045784"/>
      </dsp:txXfrm>
    </dsp:sp>
    <dsp:sp modelId="{568C51E9-FB75-4AF4-8843-1C4E54B8BC76}">
      <dsp:nvSpPr>
        <dsp:cNvPr id="0" name=""/>
        <dsp:cNvSpPr/>
      </dsp:nvSpPr>
      <dsp:spPr>
        <a:xfrm>
          <a:off x="900032" y="2717048"/>
          <a:ext cx="1045784" cy="1045784"/>
        </a:xfrm>
        <a:prstGeom prst="ellipse">
          <a:avLst/>
        </a:prstGeom>
        <a:blipFill rotWithShape="0">
          <a:blip xmlns:r="http://schemas.openxmlformats.org/officeDocument/2006/relationships" r:embed="rId1"/>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3#1">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FE13B7-EC96-44EF-8A91-ADF950EF2157}" type="datetimeFigureOut">
              <a:rPr lang="en-US" smtClean="0"/>
              <a:pPr/>
              <a:t>10/13/2023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51D8ED5-E995-4758-96F3-8838DFC8A5BB}" type="slidenum">
              <a:rPr lang="en-US" smtClean="0"/>
              <a:pPr/>
              <a:t>‹#›</a:t>
            </a:fld>
            <a:endParaRPr lang="en-US"/>
          </a:p>
        </p:txBody>
      </p:sp>
    </p:spTree>
    <p:extLst>
      <p:ext uri="{BB962C8B-B14F-4D97-AF65-F5344CB8AC3E}">
        <p14:creationId xmlns:p14="http://schemas.microsoft.com/office/powerpoint/2010/main" val="1672867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E747C8B-69DE-4031-856F-BB9E7300A55F}" type="datetimeFigureOut">
              <a:rPr lang="en-US" smtClean="0"/>
              <a:pPr/>
              <a:t>10/13/2023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614D4-4DED-4258-8B90-9DA5FBAD689B}" type="slidenum">
              <a:rPr lang="en-US" smtClean="0"/>
              <a:pPr/>
              <a:t>‹#›</a:t>
            </a:fld>
            <a:endParaRPr lang="en-US"/>
          </a:p>
        </p:txBody>
      </p:sp>
    </p:spTree>
    <p:extLst>
      <p:ext uri="{BB962C8B-B14F-4D97-AF65-F5344CB8AC3E}">
        <p14:creationId xmlns:p14="http://schemas.microsoft.com/office/powerpoint/2010/main" val="2633251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747C8B-69DE-4031-856F-BB9E7300A55F}" type="datetimeFigureOut">
              <a:rPr lang="en-US" smtClean="0"/>
              <a:pPr/>
              <a:t>10/13/2023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614D4-4DED-4258-8B90-9DA5FBAD689B}" type="slidenum">
              <a:rPr lang="en-US" smtClean="0"/>
              <a:pPr/>
              <a:t>‹#›</a:t>
            </a:fld>
            <a:endParaRPr lang="en-US"/>
          </a:p>
        </p:txBody>
      </p:sp>
    </p:spTree>
    <p:extLst>
      <p:ext uri="{BB962C8B-B14F-4D97-AF65-F5344CB8AC3E}">
        <p14:creationId xmlns:p14="http://schemas.microsoft.com/office/powerpoint/2010/main" val="1790752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747C8B-69DE-4031-856F-BB9E7300A55F}" type="datetimeFigureOut">
              <a:rPr lang="en-US" smtClean="0"/>
              <a:pPr/>
              <a:t>10/13/2023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614D4-4DED-4258-8B90-9DA5FBAD689B}" type="slidenum">
              <a:rPr lang="en-US" smtClean="0"/>
              <a:pPr/>
              <a:t>‹#›</a:t>
            </a:fld>
            <a:endParaRPr lang="en-US"/>
          </a:p>
        </p:txBody>
      </p:sp>
    </p:spTree>
    <p:extLst>
      <p:ext uri="{BB962C8B-B14F-4D97-AF65-F5344CB8AC3E}">
        <p14:creationId xmlns:p14="http://schemas.microsoft.com/office/powerpoint/2010/main" val="1371767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E747C8B-69DE-4031-856F-BB9E7300A55F}" type="datetimeFigureOut">
              <a:rPr lang="en-US" smtClean="0"/>
              <a:pPr/>
              <a:t>10/13/2023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2614D4-4DED-4258-8B90-9DA5FBAD689B}" type="slidenum">
              <a:rPr lang="en-US" smtClean="0"/>
              <a:pPr/>
              <a:t>‹#›</a:t>
            </a:fld>
            <a:endParaRPr lang="en-US"/>
          </a:p>
        </p:txBody>
      </p:sp>
    </p:spTree>
    <p:extLst>
      <p:ext uri="{BB962C8B-B14F-4D97-AF65-F5344CB8AC3E}">
        <p14:creationId xmlns:p14="http://schemas.microsoft.com/office/powerpoint/2010/main" val="2245333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E747C8B-69DE-4031-856F-BB9E7300A55F}" type="datetimeFigureOut">
              <a:rPr lang="en-US" smtClean="0"/>
              <a:pPr/>
              <a:t>10/13/2023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2614D4-4DED-4258-8B90-9DA5FBAD689B}" type="slidenum">
              <a:rPr lang="en-US" smtClean="0"/>
              <a:pPr/>
              <a:t>‹#›</a:t>
            </a:fld>
            <a:endParaRPr lang="en-US"/>
          </a:p>
        </p:txBody>
      </p:sp>
    </p:spTree>
    <p:extLst>
      <p:ext uri="{BB962C8B-B14F-4D97-AF65-F5344CB8AC3E}">
        <p14:creationId xmlns:p14="http://schemas.microsoft.com/office/powerpoint/2010/main" val="2854193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E747C8B-69DE-4031-856F-BB9E7300A55F}" type="datetimeFigureOut">
              <a:rPr lang="en-US" smtClean="0"/>
              <a:pPr/>
              <a:t>10/13/2023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2614D4-4DED-4258-8B90-9DA5FBAD689B}" type="slidenum">
              <a:rPr lang="en-US" smtClean="0"/>
              <a:pPr/>
              <a:t>‹#›</a:t>
            </a:fld>
            <a:endParaRPr lang="en-US"/>
          </a:p>
        </p:txBody>
      </p:sp>
    </p:spTree>
    <p:extLst>
      <p:ext uri="{BB962C8B-B14F-4D97-AF65-F5344CB8AC3E}">
        <p14:creationId xmlns:p14="http://schemas.microsoft.com/office/powerpoint/2010/main" val="2429884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747C8B-69DE-4031-856F-BB9E7300A55F}" type="datetimeFigureOut">
              <a:rPr lang="en-US" smtClean="0"/>
              <a:pPr/>
              <a:t>10/13/2023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2614D4-4DED-4258-8B90-9DA5FBAD689B}" type="slidenum">
              <a:rPr lang="en-US" smtClean="0"/>
              <a:pPr/>
              <a:t>‹#›</a:t>
            </a:fld>
            <a:endParaRPr lang="en-US"/>
          </a:p>
        </p:txBody>
      </p:sp>
    </p:spTree>
    <p:extLst>
      <p:ext uri="{BB962C8B-B14F-4D97-AF65-F5344CB8AC3E}">
        <p14:creationId xmlns:p14="http://schemas.microsoft.com/office/powerpoint/2010/main" val="1567075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E747C8B-69DE-4031-856F-BB9E7300A55F}" type="datetimeFigureOut">
              <a:rPr lang="en-US" smtClean="0"/>
              <a:pPr/>
              <a:t>10/13/2023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2614D4-4DED-4258-8B90-9DA5FBAD689B}" type="slidenum">
              <a:rPr lang="en-US" smtClean="0"/>
              <a:pPr/>
              <a:t>‹#›</a:t>
            </a:fld>
            <a:endParaRPr lang="en-US"/>
          </a:p>
        </p:txBody>
      </p:sp>
    </p:spTree>
    <p:extLst>
      <p:ext uri="{BB962C8B-B14F-4D97-AF65-F5344CB8AC3E}">
        <p14:creationId xmlns:p14="http://schemas.microsoft.com/office/powerpoint/2010/main" val="1275128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E747C8B-69DE-4031-856F-BB9E7300A55F}" type="datetimeFigureOut">
              <a:rPr lang="en-US" smtClean="0"/>
              <a:pPr/>
              <a:t>10/13/2023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2614D4-4DED-4258-8B90-9DA5FBAD689B}" type="slidenum">
              <a:rPr lang="en-US" smtClean="0"/>
              <a:pPr/>
              <a:t>‹#›</a:t>
            </a:fld>
            <a:endParaRPr lang="en-US"/>
          </a:p>
        </p:txBody>
      </p:sp>
    </p:spTree>
    <p:extLst>
      <p:ext uri="{BB962C8B-B14F-4D97-AF65-F5344CB8AC3E}">
        <p14:creationId xmlns:p14="http://schemas.microsoft.com/office/powerpoint/2010/main" val="3478428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747C8B-69DE-4031-856F-BB9E7300A55F}" type="datetimeFigureOut">
              <a:rPr lang="en-US" smtClean="0"/>
              <a:pPr/>
              <a:t>10/13/2023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614D4-4DED-4258-8B90-9DA5FBAD689B}" type="slidenum">
              <a:rPr lang="en-US" smtClean="0"/>
              <a:pPr/>
              <a:t>‹#›</a:t>
            </a:fld>
            <a:endParaRPr lang="en-US"/>
          </a:p>
        </p:txBody>
      </p:sp>
    </p:spTree>
    <p:extLst>
      <p:ext uri="{BB962C8B-B14F-4D97-AF65-F5344CB8AC3E}">
        <p14:creationId xmlns:p14="http://schemas.microsoft.com/office/powerpoint/2010/main" val="2360756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747C8B-69DE-4031-856F-BB9E7300A55F}" type="datetimeFigureOut">
              <a:rPr lang="en-US" smtClean="0"/>
              <a:pPr/>
              <a:t>10/13/2023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614D4-4DED-4258-8B90-9DA5FBAD689B}"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8430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747C8B-69DE-4031-856F-BB9E7300A55F}" type="datetimeFigureOut">
              <a:rPr lang="en-US" smtClean="0"/>
              <a:pPr/>
              <a:t>10/13/2023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614D4-4DED-4258-8B90-9DA5FBAD689B}" type="slidenum">
              <a:rPr lang="en-US" smtClean="0"/>
              <a:pPr/>
              <a:t>‹#›</a:t>
            </a:fld>
            <a:endParaRPr lang="en-US"/>
          </a:p>
        </p:txBody>
      </p:sp>
    </p:spTree>
    <p:extLst>
      <p:ext uri="{BB962C8B-B14F-4D97-AF65-F5344CB8AC3E}">
        <p14:creationId xmlns:p14="http://schemas.microsoft.com/office/powerpoint/2010/main" val="9177484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747C8B-69DE-4031-856F-BB9E7300A55F}" type="datetimeFigureOut">
              <a:rPr lang="en-US" smtClean="0"/>
              <a:pPr/>
              <a:t>10/13/2023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614D4-4DED-4258-8B90-9DA5FBAD689B}"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348169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747C8B-69DE-4031-856F-BB9E7300A55F}" type="datetimeFigureOut">
              <a:rPr lang="en-US" smtClean="0"/>
              <a:pPr/>
              <a:t>10/13/2023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614D4-4DED-4258-8B90-9DA5FBAD689B}" type="slidenum">
              <a:rPr lang="en-US" smtClean="0"/>
              <a:pPr/>
              <a:t>‹#›</a:t>
            </a:fld>
            <a:endParaRPr lang="en-US"/>
          </a:p>
        </p:txBody>
      </p:sp>
    </p:spTree>
    <p:extLst>
      <p:ext uri="{BB962C8B-B14F-4D97-AF65-F5344CB8AC3E}">
        <p14:creationId xmlns:p14="http://schemas.microsoft.com/office/powerpoint/2010/main" val="7192562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747C8B-69DE-4031-856F-BB9E7300A55F}" type="datetimeFigureOut">
              <a:rPr lang="en-US" smtClean="0"/>
              <a:pPr/>
              <a:t>10/13/2023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614D4-4DED-4258-8B90-9DA5FBAD689B}" type="slidenum">
              <a:rPr lang="en-US" smtClean="0"/>
              <a:pPr/>
              <a:t>‹#›</a:t>
            </a:fld>
            <a:endParaRPr lang="en-US"/>
          </a:p>
        </p:txBody>
      </p:sp>
    </p:spTree>
    <p:extLst>
      <p:ext uri="{BB962C8B-B14F-4D97-AF65-F5344CB8AC3E}">
        <p14:creationId xmlns:p14="http://schemas.microsoft.com/office/powerpoint/2010/main" val="17725263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747C8B-69DE-4031-856F-BB9E7300A55F}" type="datetimeFigureOut">
              <a:rPr lang="en-US" smtClean="0"/>
              <a:pPr/>
              <a:t>10/13/2023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614D4-4DED-4258-8B90-9DA5FBAD689B}" type="slidenum">
              <a:rPr lang="en-US" smtClean="0"/>
              <a:pPr/>
              <a:t>‹#›</a:t>
            </a:fld>
            <a:endParaRPr lang="en-US"/>
          </a:p>
        </p:txBody>
      </p:sp>
    </p:spTree>
    <p:extLst>
      <p:ext uri="{BB962C8B-B14F-4D97-AF65-F5344CB8AC3E}">
        <p14:creationId xmlns:p14="http://schemas.microsoft.com/office/powerpoint/2010/main" val="2156388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E747C8B-69DE-4031-856F-BB9E7300A55F}" type="datetimeFigureOut">
              <a:rPr lang="en-US" smtClean="0"/>
              <a:pPr/>
              <a:t>10/13/2023</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292614D4-4DED-4258-8B90-9DA5FBAD689B}" type="slidenum">
              <a:rPr lang="en-US" smtClean="0"/>
              <a:pPr/>
              <a:t>‹#›</a:t>
            </a:fld>
            <a:endParaRPr lang="en-US"/>
          </a:p>
        </p:txBody>
      </p:sp>
    </p:spTree>
    <p:extLst>
      <p:ext uri="{BB962C8B-B14F-4D97-AF65-F5344CB8AC3E}">
        <p14:creationId xmlns:p14="http://schemas.microsoft.com/office/powerpoint/2010/main" val="18100917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8.wmf"/><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5.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wmf"/></Relationships>
</file>

<file path=ppt/slides/_rels/slide1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7" Type="http://schemas.openxmlformats.org/officeDocument/2006/relationships/image" Target="../media/image21.jpeg"/><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oleObject" Target="../embeddings/oleObject7.bin"/><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oleObject" Target="../embeddings/oleObject8.bin"/><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oleObject" Target="../embeddings/oleObject9.bin"/><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oleObject" Target="../embeddings/oleObject10.bin"/><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32.jpeg"/><Relationship Id="rId3" Type="http://schemas.openxmlformats.org/officeDocument/2006/relationships/image" Target="../media/image10.jpeg"/><Relationship Id="rId7" Type="http://schemas.openxmlformats.org/officeDocument/2006/relationships/image" Target="../media/image31.jpeg"/><Relationship Id="rId2" Type="http://schemas.openxmlformats.org/officeDocument/2006/relationships/image" Target="../media/image27.jpeg"/><Relationship Id="rId1" Type="http://schemas.openxmlformats.org/officeDocument/2006/relationships/slideLayout" Target="../slideLayouts/slideLayout2.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1.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wmf"/><Relationship Id="rId7" Type="http://schemas.openxmlformats.org/officeDocument/2006/relationships/image" Target="../media/image36.wmf"/><Relationship Id="rId2" Type="http://schemas.openxmlformats.org/officeDocument/2006/relationships/oleObject" Target="../embeddings/oleObject12.bin"/><Relationship Id="rId1" Type="http://schemas.openxmlformats.org/officeDocument/2006/relationships/slideLayout" Target="../slideLayouts/slideLayout2.xml"/><Relationship Id="rId6" Type="http://schemas.openxmlformats.org/officeDocument/2006/relationships/oleObject" Target="../embeddings/oleObject14.bin"/><Relationship Id="rId5" Type="http://schemas.openxmlformats.org/officeDocument/2006/relationships/image" Target="../media/image35.wmf"/><Relationship Id="rId4" Type="http://schemas.openxmlformats.org/officeDocument/2006/relationships/oleObject" Target="../embeddings/oleObject13.bin"/></Relationships>
</file>

<file path=ppt/slides/_rels/slide4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gi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6.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57.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0">
            <a:schemeClr val="accent5"/>
          </a:lnRef>
          <a:fillRef idx="3">
            <a:schemeClr val="accent5"/>
          </a:fillRef>
          <a:effectRef idx="3">
            <a:schemeClr val="accent5"/>
          </a:effectRef>
          <a:fontRef idx="minor">
            <a:schemeClr val="lt1"/>
          </a:fontRef>
        </p:style>
        <p:txBody>
          <a:bodyPr>
            <a:noAutofit/>
          </a:bodyPr>
          <a:lstStyle/>
          <a:p>
            <a:br>
              <a:rPr lang="en-US" sz="3200" b="1" dirty="0">
                <a:latin typeface="Times New Roman" pitchFamily="18" charset="0"/>
                <a:cs typeface="Times New Roman" pitchFamily="18" charset="0"/>
              </a:rPr>
            </a:br>
            <a:r>
              <a:rPr lang="en-US" sz="3200" b="1" dirty="0">
                <a:latin typeface="Times New Roman" pitchFamily="18" charset="0"/>
                <a:cs typeface="Times New Roman" pitchFamily="18" charset="0"/>
              </a:rPr>
              <a:t>CHƯƠNG IV: HOẠCH ĐỊNH CHÍNH SÁCH SẢN PHẨM</a:t>
            </a:r>
            <a:br>
              <a:rPr lang="en-US" sz="3200" b="1" dirty="0">
                <a:latin typeface="Times New Roman" pitchFamily="18" charset="0"/>
                <a:cs typeface="Times New Roman" pitchFamily="18" charset="0"/>
              </a:rPr>
            </a:b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609599" y="2438400"/>
            <a:ext cx="6553202" cy="3810000"/>
          </a:xfrm>
        </p:spPr>
        <p:style>
          <a:lnRef idx="2">
            <a:schemeClr val="accent2"/>
          </a:lnRef>
          <a:fillRef idx="1">
            <a:schemeClr val="lt1"/>
          </a:fillRef>
          <a:effectRef idx="0">
            <a:schemeClr val="accent2"/>
          </a:effectRef>
          <a:fontRef idx="minor">
            <a:schemeClr val="dk1"/>
          </a:fontRef>
        </p:style>
        <p:txBody>
          <a:bodyPr>
            <a:normAutofit/>
          </a:bodyPr>
          <a:lstStyle/>
          <a:p>
            <a:pPr>
              <a:lnSpc>
                <a:spcPct val="150000"/>
              </a:lnSpc>
              <a:buFont typeface="Wingdings" pitchFamily="2" charset="2"/>
              <a:buChar char="v"/>
            </a:pPr>
            <a:r>
              <a:rPr lang="en-US" sz="3200" dirty="0" err="1">
                <a:latin typeface="Times New Roman" panose="02020603050405020304" pitchFamily="18" charset="0"/>
                <a:cs typeface="Times New Roman" panose="02020603050405020304" pitchFamily="18" charset="0"/>
              </a:rPr>
              <a:t>Nội</a:t>
            </a:r>
            <a:r>
              <a:rPr lang="en-US" sz="3200" dirty="0">
                <a:latin typeface="Times New Roman" panose="02020603050405020304" pitchFamily="18" charset="0"/>
                <a:cs typeface="Times New Roman" panose="02020603050405020304" pitchFamily="18" charset="0"/>
              </a:rPr>
              <a:t> dung:</a:t>
            </a:r>
          </a:p>
          <a:p>
            <a:pPr marL="571500" indent="-571500">
              <a:lnSpc>
                <a:spcPct val="150000"/>
              </a:lnSpc>
              <a:buAutoNum type="romanUcPeriod"/>
            </a:pPr>
            <a:r>
              <a:rPr lang="en-US" sz="3200" dirty="0" err="1">
                <a:latin typeface="Times New Roman" panose="02020603050405020304" pitchFamily="18" charset="0"/>
                <a:cs typeface="Times New Roman" panose="02020603050405020304" pitchFamily="18" charset="0"/>
              </a:rPr>
              <a:t>Sản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phẩm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phân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loại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sản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phẩm</a:t>
            </a:r>
            <a:endParaRPr lang="en-US" sz="3200" dirty="0">
              <a:latin typeface="Times New Roman" panose="02020603050405020304" pitchFamily="18" charset="0"/>
              <a:cs typeface="Times New Roman" panose="02020603050405020304" pitchFamily="18" charset="0"/>
            </a:endParaRPr>
          </a:p>
          <a:p>
            <a:pPr marL="571500" indent="-571500">
              <a:lnSpc>
                <a:spcPct val="150000"/>
              </a:lnSpc>
              <a:buAutoNum type="romanUcPeriod"/>
            </a:pPr>
            <a:r>
              <a:rPr lang="en-US" sz="3200" dirty="0">
                <a:latin typeface="Times New Roman" panose="02020603050405020304" pitchFamily="18" charset="0"/>
                <a:cs typeface="Times New Roman" panose="02020603050405020304" pitchFamily="18" charset="0"/>
              </a:rPr>
              <a:t>Chu </a:t>
            </a:r>
            <a:r>
              <a:rPr lang="en-US" sz="3200" dirty="0" err="1">
                <a:latin typeface="Times New Roman" panose="02020603050405020304" pitchFamily="18" charset="0"/>
                <a:cs typeface="Times New Roman" panose="02020603050405020304" pitchFamily="18" charset="0"/>
              </a:rPr>
              <a:t>kỳ</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sống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của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sản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phẩm</a:t>
            </a:r>
            <a:endParaRPr lang="en-US" sz="3200" dirty="0">
              <a:latin typeface="Times New Roman" panose="02020603050405020304" pitchFamily="18" charset="0"/>
              <a:cs typeface="Times New Roman" panose="02020603050405020304" pitchFamily="18" charset="0"/>
            </a:endParaRPr>
          </a:p>
          <a:p>
            <a:pPr marL="571500" indent="-571500">
              <a:lnSpc>
                <a:spcPct val="150000"/>
              </a:lnSpc>
              <a:buAutoNum type="romanUcPeriod"/>
            </a:pPr>
            <a:r>
              <a:rPr lang="en-US" sz="3200" dirty="0" err="1">
                <a:latin typeface="Times New Roman" panose="02020603050405020304" pitchFamily="18" charset="0"/>
                <a:cs typeface="Times New Roman" panose="02020603050405020304" pitchFamily="18" charset="0"/>
              </a:rPr>
              <a:t>Nội</a:t>
            </a:r>
            <a:r>
              <a:rPr lang="en-US" sz="3200" dirty="0">
                <a:latin typeface="Times New Roman" panose="02020603050405020304" pitchFamily="18" charset="0"/>
                <a:cs typeface="Times New Roman" panose="02020603050405020304" pitchFamily="18" charset="0"/>
              </a:rPr>
              <a:t> dung </a:t>
            </a:r>
            <a:r>
              <a:rPr lang="en-US" sz="3200" dirty="0" err="1">
                <a:latin typeface="Times New Roman" panose="02020603050405020304" pitchFamily="18" charset="0"/>
                <a:cs typeface="Times New Roman" panose="02020603050405020304" pitchFamily="18" charset="0"/>
              </a:rPr>
              <a:t>của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chính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sách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sản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phẩm</a:t>
            </a:r>
            <a:endParaRPr lang="en-US" sz="3200" dirty="0">
              <a:latin typeface="Times New Roman" panose="02020603050405020304" pitchFamily="18" charset="0"/>
              <a:cs typeface="Times New Roman" panose="02020603050405020304" pitchFamily="18" charset="0"/>
            </a:endParaRPr>
          </a:p>
          <a:p>
            <a:pPr marL="0" indent="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1EF9C-4F2B-4AC8-9C07-DD99251911C5}"/>
              </a:ext>
            </a:extLst>
          </p:cNvPr>
          <p:cNvSpPr>
            <a:spLocks noGrp="1"/>
          </p:cNvSpPr>
          <p:nvPr>
            <p:ph type="title"/>
          </p:nvPr>
        </p:nvSpPr>
        <p:spPr>
          <a:xfrm>
            <a:off x="381001" y="0"/>
            <a:ext cx="6095999" cy="685800"/>
          </a:xfrm>
        </p:spPr>
        <p:txBody>
          <a:bodyPr/>
          <a:lstStyle/>
          <a:p>
            <a:r>
              <a:rPr lang="en-US" dirty="0" err="1">
                <a:solidFill>
                  <a:srgbClr val="FF0000"/>
                </a:solidFill>
                <a:latin typeface="Times New Roman" panose="02020603050405020304" pitchFamily="18" charset="0"/>
                <a:cs typeface="Times New Roman" panose="02020603050405020304" pitchFamily="18" charset="0"/>
              </a:rPr>
              <a:t>Công</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việc</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của</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nhà</a:t>
            </a:r>
            <a:r>
              <a:rPr lang="en-US" dirty="0">
                <a:solidFill>
                  <a:srgbClr val="FF0000"/>
                </a:solidFill>
                <a:latin typeface="Times New Roman" panose="02020603050405020304" pitchFamily="18" charset="0"/>
                <a:cs typeface="Times New Roman" panose="02020603050405020304" pitchFamily="18" charset="0"/>
              </a:rPr>
              <a:t> QT Mar</a:t>
            </a:r>
          </a:p>
        </p:txBody>
      </p:sp>
      <p:sp>
        <p:nvSpPr>
          <p:cNvPr id="3" name="Content Placeholder 2">
            <a:extLst>
              <a:ext uri="{FF2B5EF4-FFF2-40B4-BE49-F238E27FC236}">
                <a16:creationId xmlns:a16="http://schemas.microsoft.com/office/drawing/2014/main" id="{C4B4509D-CEB2-409E-818C-0697E9E9D17E}"/>
              </a:ext>
            </a:extLst>
          </p:cNvPr>
          <p:cNvSpPr>
            <a:spLocks noGrp="1"/>
          </p:cNvSpPr>
          <p:nvPr>
            <p:ph idx="1"/>
          </p:nvPr>
        </p:nvSpPr>
        <p:spPr>
          <a:xfrm>
            <a:off x="0" y="838200"/>
            <a:ext cx="7467600" cy="5715000"/>
          </a:xfrm>
        </p:spPr>
        <p:txBody>
          <a:bodyPr>
            <a:noAutofit/>
          </a:bodyPr>
          <a:lstStyle/>
          <a:p>
            <a:pPr algn="just"/>
            <a:r>
              <a:rPr lang="en-US" sz="2400" dirty="0">
                <a:highlight>
                  <a:srgbClr val="FFFF00"/>
                </a:highlight>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doanh</a:t>
            </a:r>
            <a:r>
              <a:rPr lang="en-US" sz="2400" dirty="0">
                <a:latin typeface="Times New Roman" panose="02020603050405020304" pitchFamily="18" charset="0"/>
                <a:cs typeface="Times New Roman" panose="02020603050405020304" pitchFamily="18" charset="0"/>
              </a:rPr>
              <a:t> (CL </a:t>
            </a:r>
            <a:r>
              <a:rPr lang="en-US" sz="2400" dirty="0" err="1">
                <a:latin typeface="Times New Roman" panose="02020603050405020304" pitchFamily="18" charset="0"/>
                <a:cs typeface="Times New Roman" panose="02020603050405020304" pitchFamily="18" charset="0"/>
              </a:rPr>
              <a:t>kinh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doanh</a:t>
            </a:r>
            <a:r>
              <a:rPr lang="en-US" sz="2400" dirty="0">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tăng</a:t>
            </a:r>
            <a:r>
              <a:rPr lang="en-US" sz="2400" dirty="0">
                <a:solidFill>
                  <a:srgbClr val="FF0000"/>
                </a:solidFill>
                <a:latin typeface="Times New Roman" panose="02020603050405020304" pitchFamily="18" charset="0"/>
                <a:cs typeface="Times New Roman" panose="02020603050405020304" pitchFamily="18" charset="0"/>
              </a:rPr>
              <a:t> 30%LN/VĐT</a:t>
            </a:r>
            <a:r>
              <a:rPr lang="en-US" sz="2400" dirty="0">
                <a:latin typeface="Times New Roman" panose="02020603050405020304" pitchFamily="18" charset="0"/>
                <a:cs typeface="Times New Roman" panose="02020603050405020304" pitchFamily="18" charset="0"/>
              </a:rPr>
              <a:t>-&gt; </a:t>
            </a:r>
            <a:r>
              <a:rPr lang="en-US" sz="2400" dirty="0" err="1">
                <a:latin typeface="Times New Roman" panose="02020603050405020304" pitchFamily="18" charset="0"/>
                <a:cs typeface="Times New Roman" panose="02020603050405020304" pitchFamily="18" charset="0"/>
              </a:rPr>
              <a:t>xác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muốn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đạt</a:t>
            </a:r>
            <a:r>
              <a:rPr lang="en-US" sz="2400" dirty="0">
                <a:latin typeface="Times New Roman" panose="02020603050405020304" pitchFamily="18" charset="0"/>
                <a:cs typeface="Times New Roman" panose="02020603050405020304" pitchFamily="18" charset="0"/>
              </a:rPr>
              <a:t> </a:t>
            </a:r>
            <a:r>
              <a:rPr lang="en-US" sz="2400" dirty="0">
                <a:highlight>
                  <a:srgbClr val="FFFF00"/>
                </a:highlight>
                <a:latin typeface="Times New Roman" panose="02020603050405020304" pitchFamily="18" charset="0"/>
                <a:cs typeface="Times New Roman" panose="02020603050405020304" pitchFamily="18" charset="0"/>
              </a:rPr>
              <a:t>(1)-&gt; (2) </a:t>
            </a:r>
            <a:r>
              <a:rPr lang="en-US" sz="2400" dirty="0" err="1">
                <a:latin typeface="Times New Roman" panose="02020603050405020304" pitchFamily="18" charset="0"/>
                <a:cs typeface="Times New Roman" panose="02020603050405020304" pitchFamily="18" charset="0"/>
              </a:rPr>
              <a:t>xác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(CL) marketing </a:t>
            </a:r>
            <a:r>
              <a:rPr lang="en-US" sz="2400" dirty="0">
                <a:solidFill>
                  <a:srgbClr val="FF0000"/>
                </a:solidFill>
                <a:latin typeface="Times New Roman" panose="02020603050405020304" pitchFamily="18" charset="0"/>
                <a:cs typeface="Times New Roman" panose="02020603050405020304" pitchFamily="18" charset="0"/>
              </a:rPr>
              <a:t>(</a:t>
            </a:r>
            <a:r>
              <a:rPr lang="en-US" sz="2400" dirty="0" err="1">
                <a:solidFill>
                  <a:srgbClr val="FF0000"/>
                </a:solidFill>
                <a:latin typeface="Times New Roman" panose="02020603050405020304" pitchFamily="18" charset="0"/>
                <a:cs typeface="Times New Roman" panose="02020603050405020304" pitchFamily="18" charset="0"/>
              </a:rPr>
              <a:t>Mở</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rộng</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thị</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trường</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phát</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triển</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thị</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trường</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-&gt; </a:t>
            </a:r>
            <a:r>
              <a:rPr lang="en-US" sz="2400" dirty="0">
                <a:highlight>
                  <a:srgbClr val="FFFF00"/>
                </a:highlight>
                <a:latin typeface="Times New Roman" panose="02020603050405020304" pitchFamily="18" charset="0"/>
                <a:cs typeface="Times New Roman" panose="02020603050405020304" pitchFamily="18" charset="0"/>
              </a:rPr>
              <a:t>(3)</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KH marketing (/Thu </a:t>
            </a:r>
            <a:r>
              <a:rPr lang="en-US" sz="2400" dirty="0" err="1">
                <a:latin typeface="Times New Roman" panose="02020603050405020304" pitchFamily="18" charset="0"/>
                <a:cs typeface="Times New Roman" panose="02020603050405020304" pitchFamily="18" charset="0"/>
              </a:rPr>
              <a:t>thập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tin, </a:t>
            </a:r>
            <a:r>
              <a:rPr lang="en-US" sz="2400" dirty="0" err="1">
                <a:latin typeface="Times New Roman" panose="02020603050405020304" pitchFamily="18" charset="0"/>
                <a:cs typeface="Times New Roman" panose="02020603050405020304" pitchFamily="18" charset="0"/>
              </a:rPr>
              <a:t>xử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tích</a:t>
            </a:r>
            <a:r>
              <a:rPr lang="en-US" sz="2400" dirty="0">
                <a:latin typeface="Times New Roman" panose="02020603050405020304" pitchFamily="18" charset="0"/>
                <a:cs typeface="Times New Roman" panose="02020603050405020304" pitchFamily="18" charset="0"/>
              </a:rPr>
              <a:t> DL, bao </a:t>
            </a:r>
            <a:r>
              <a:rPr lang="en-US" sz="2400" dirty="0" err="1">
                <a:latin typeface="Times New Roman" panose="02020603050405020304" pitchFamily="18" charset="0"/>
                <a:cs typeface="Times New Roman" panose="02020603050405020304" pitchFamily="18" charset="0"/>
              </a:rPr>
              <a:t>cáo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nghiên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cứu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ttruong</a:t>
            </a:r>
            <a:r>
              <a:rPr lang="en-US" sz="2400" dirty="0">
                <a:latin typeface="Times New Roman" panose="02020603050405020304" pitchFamily="18" charset="0"/>
                <a:cs typeface="Times New Roman" panose="02020603050405020304" pitchFamily="18" charset="0"/>
              </a:rPr>
              <a:t>/ -&gt;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khúc</a:t>
            </a:r>
            <a:r>
              <a:rPr lang="en-US" sz="2400" dirty="0">
                <a:latin typeface="Times New Roman" panose="02020603050405020304" pitchFamily="18" charset="0"/>
                <a:cs typeface="Times New Roman" panose="02020603050405020304" pitchFamily="18" charset="0"/>
              </a:rPr>
              <a:t> TT-&gt;LCTTMT (KH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phẩm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chị</a:t>
            </a:r>
            <a:r>
              <a:rPr lang="en-US" sz="2400" dirty="0">
                <a:latin typeface="Times New Roman" panose="02020603050405020304" pitchFamily="18" charset="0"/>
                <a:cs typeface="Times New Roman" panose="02020603050405020304" pitchFamily="18" charset="0"/>
              </a:rPr>
              <a:t>-cp,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pthuc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truyền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)-&gt;</a:t>
            </a:r>
            <a:r>
              <a:rPr lang="en-US" sz="2400" dirty="0">
                <a:highlight>
                  <a:srgbClr val="FFFF00"/>
                </a:highlight>
                <a:latin typeface="Times New Roman" panose="02020603050405020304" pitchFamily="18" charset="0"/>
                <a:cs typeface="Times New Roman" panose="02020603050405020304" pitchFamily="18" charset="0"/>
              </a:rPr>
              <a:t>(4) </a:t>
            </a:r>
            <a:r>
              <a:rPr lang="en-US" sz="2400" dirty="0" err="1">
                <a:latin typeface="Times New Roman" panose="02020603050405020304" pitchFamily="18" charset="0"/>
                <a:cs typeface="Times New Roman" panose="02020603050405020304" pitchFamily="18" charset="0"/>
              </a:rPr>
              <a:t>Tke</a:t>
            </a:r>
            <a:r>
              <a:rPr lang="en-US" sz="2400" dirty="0">
                <a:latin typeface="Times New Roman" panose="02020603050405020304" pitchFamily="18" charset="0"/>
                <a:cs typeface="Times New Roman" panose="02020603050405020304" pitchFamily="18" charset="0"/>
              </a:rPr>
              <a:t> CL Mar-Mix (SP, </a:t>
            </a:r>
            <a:r>
              <a:rPr lang="en-US" sz="2400" dirty="0" err="1">
                <a:latin typeface="Times New Roman" panose="02020603050405020304" pitchFamily="18" charset="0"/>
                <a:cs typeface="Times New Roman" panose="02020603050405020304" pitchFamily="18" charset="0"/>
              </a:rPr>
              <a:t>Giá</a:t>
            </a:r>
            <a:r>
              <a:rPr lang="en-US" sz="2400" dirty="0">
                <a:latin typeface="Times New Roman" panose="02020603050405020304" pitchFamily="18" charset="0"/>
                <a:cs typeface="Times New Roman" panose="02020603050405020304" pitchFamily="18" charset="0"/>
              </a:rPr>
              <a:t>, PP, XTTM)-&gt; </a:t>
            </a:r>
            <a:r>
              <a:rPr lang="en-US" sz="2400" dirty="0" err="1">
                <a:latin typeface="Times New Roman" panose="02020603050405020304" pitchFamily="18" charset="0"/>
                <a:cs typeface="Times New Roman" panose="02020603050405020304" pitchFamily="18" charset="0"/>
              </a:rPr>
              <a:t>triển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khai</a:t>
            </a:r>
            <a:r>
              <a:rPr lang="en-US" sz="2400">
                <a:latin typeface="Times New Roman" panose="02020603050405020304" pitchFamily="18" charset="0"/>
                <a:cs typeface="Times New Roman" panose="02020603050405020304" pitchFamily="18" charset="0"/>
              </a:rPr>
              <a:t> 4P/7P-&gt; </a:t>
            </a:r>
            <a:r>
              <a:rPr lang="en-US" sz="2400" dirty="0">
                <a:highlight>
                  <a:srgbClr val="FFFF00"/>
                </a:highlight>
                <a:latin typeface="Times New Roman" panose="02020603050405020304" pitchFamily="18" charset="0"/>
                <a:cs typeface="Times New Roman" panose="02020603050405020304" pitchFamily="18" charset="0"/>
              </a:rPr>
              <a:t>(5) </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Đánh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hđ</a:t>
            </a:r>
            <a:r>
              <a:rPr lang="en-US" sz="2400" dirty="0">
                <a:latin typeface="Times New Roman" panose="02020603050405020304" pitchFamily="18" charset="0"/>
                <a:cs typeface="Times New Roman" panose="02020603050405020304" pitchFamily="18" charset="0"/>
              </a:rPr>
              <a:t> Marketing) </a:t>
            </a:r>
            <a:r>
              <a:rPr lang="en-US" sz="2400" dirty="0" err="1">
                <a:latin typeface="Times New Roman" panose="02020603050405020304" pitchFamily="18" charset="0"/>
                <a:cs typeface="Times New Roman" panose="02020603050405020304" pitchFamily="18" charset="0"/>
              </a:rPr>
              <a:t>Kiểm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KH-&gt; </a:t>
            </a:r>
            <a:r>
              <a:rPr lang="en-US" sz="2400" dirty="0">
                <a:highlight>
                  <a:srgbClr val="FFFF00"/>
                </a:highlight>
                <a:latin typeface="Times New Roman" panose="02020603050405020304" pitchFamily="18" charset="0"/>
                <a:cs typeface="Times New Roman" panose="02020603050405020304" pitchFamily="18" charset="0"/>
              </a:rPr>
              <a:t>(6)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Chỉnh</a:t>
            </a:r>
            <a:r>
              <a:rPr lang="en-US" sz="2400" dirty="0">
                <a:latin typeface="Times New Roman" panose="02020603050405020304" pitchFamily="18" charset="0"/>
                <a:cs typeface="Times New Roman" panose="02020603050405020304" pitchFamily="18" charset="0"/>
              </a:rPr>
              <a:t> KH (</a:t>
            </a:r>
            <a:r>
              <a:rPr lang="en-US" sz="2400" dirty="0" err="1">
                <a:latin typeface="Times New Roman" panose="02020603050405020304" pitchFamily="18" charset="0"/>
                <a:cs typeface="Times New Roman" panose="02020603050405020304" pitchFamily="18" charset="0"/>
              </a:rPr>
              <a:t>nếu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cần</a:t>
            </a:r>
            <a:r>
              <a:rPr lang="en-US" sz="2400" dirty="0">
                <a:latin typeface="Times New Roman" panose="02020603050405020304" pitchFamily="18" charset="0"/>
                <a:cs typeface="Times New Roman" panose="02020603050405020304" pitchFamily="18" charset="0"/>
              </a:rPr>
              <a:t>)-&gt;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KH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chỉnh</a:t>
            </a:r>
            <a:r>
              <a:rPr lang="en-US" sz="2400" dirty="0">
                <a:latin typeface="Times New Roman" panose="02020603050405020304" pitchFamily="18" charset="0"/>
                <a:cs typeface="Times New Roman" panose="02020603050405020304" pitchFamily="18" charset="0"/>
              </a:rPr>
              <a:t>-&gt;</a:t>
            </a:r>
            <a:r>
              <a:rPr lang="en-US" sz="2400" dirty="0">
                <a:highlight>
                  <a:srgbClr val="FFFF00"/>
                </a:highlight>
                <a:latin typeface="Times New Roman" panose="02020603050405020304" pitchFamily="18" charset="0"/>
                <a:cs typeface="Times New Roman" panose="02020603050405020304" pitchFamily="18" charset="0"/>
              </a:rPr>
              <a:t> (7) </a:t>
            </a:r>
            <a:r>
              <a:rPr lang="en-US" sz="2400" dirty="0" err="1">
                <a:latin typeface="Times New Roman" panose="02020603050405020304" pitchFamily="18" charset="0"/>
                <a:cs typeface="Times New Roman" panose="02020603050405020304" pitchFamily="18" charset="0"/>
              </a:rPr>
              <a:t>Đánh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MTieu</a:t>
            </a:r>
            <a:r>
              <a:rPr lang="en-US" sz="2400" dirty="0">
                <a:latin typeface="Times New Roman" panose="02020603050405020304" pitchFamily="18" charset="0"/>
                <a:cs typeface="Times New Roman" panose="02020603050405020304" pitchFamily="18" charset="0"/>
              </a:rPr>
              <a:t> Mar (-&gt;</a:t>
            </a:r>
            <a:r>
              <a:rPr lang="en-US" sz="2400" dirty="0" err="1">
                <a:latin typeface="Times New Roman" panose="02020603050405020304" pitchFamily="18" charset="0"/>
                <a:cs typeface="Times New Roman" panose="02020603050405020304" pitchFamily="18" charset="0"/>
              </a:rPr>
              <a:t>Thị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mở</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thành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hay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ntn</a:t>
            </a:r>
            <a:r>
              <a:rPr lang="en-US" sz="2400" dirty="0">
                <a:latin typeface="Times New Roman" panose="02020603050405020304" pitchFamily="18" charset="0"/>
                <a:cs typeface="Times New Roman" panose="02020603050405020304" pitchFamily="18" charset="0"/>
              </a:rPr>
              <a:t>)-&gt;</a:t>
            </a:r>
            <a:r>
              <a:rPr lang="en-US" sz="2400" dirty="0">
                <a:highlight>
                  <a:srgbClr val="FFFF00"/>
                </a:highlight>
                <a:latin typeface="Times New Roman" panose="02020603050405020304" pitchFamily="18" charset="0"/>
                <a:cs typeface="Times New Roman" panose="02020603050405020304" pitchFamily="18" charset="0"/>
              </a:rPr>
              <a:t>(8)-</a:t>
            </a:r>
            <a:r>
              <a:rPr lang="en-US" sz="2400" dirty="0" err="1">
                <a:latin typeface="Times New Roman" panose="02020603050405020304" pitchFamily="18" charset="0"/>
                <a:cs typeface="Times New Roman" panose="02020603050405020304" pitchFamily="18" charset="0"/>
              </a:rPr>
              <a:t>Mở</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TT-&gt; </a:t>
            </a:r>
            <a:r>
              <a:rPr lang="en-US" sz="2400" dirty="0" err="1">
                <a:latin typeface="Times New Roman" panose="02020603050405020304" pitchFamily="18" charset="0"/>
                <a:cs typeface="Times New Roman" panose="02020603050405020304" pitchFamily="18" charset="0"/>
              </a:rPr>
              <a:t>Xác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CL Mar (</a:t>
            </a:r>
            <a:r>
              <a:rPr lang="en-US" sz="2400" dirty="0" err="1">
                <a:latin typeface="Times New Roman" panose="02020603050405020304" pitchFamily="18" charset="0"/>
                <a:cs typeface="Times New Roman" panose="02020603050405020304" pitchFamily="18" charset="0"/>
              </a:rPr>
              <a:t>bằng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qua </a:t>
            </a:r>
            <a:r>
              <a:rPr lang="en-US" sz="2400" dirty="0" err="1">
                <a:latin typeface="Times New Roman" panose="02020603050405020304" pitchFamily="18" charset="0"/>
                <a:cs typeface="Times New Roman" panose="02020603050405020304" pitchFamily="18" charset="0"/>
              </a:rPr>
              <a:t>mức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ban </a:t>
            </a:r>
            <a:r>
              <a:rPr lang="en-US" sz="2400" dirty="0" err="1">
                <a:latin typeface="Times New Roman" panose="02020603050405020304" pitchFamily="18" charset="0"/>
                <a:cs typeface="Times New Roman" panose="02020603050405020304" pitchFamily="18" charset="0"/>
              </a:rPr>
              <a:t>đầu</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kinh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doanh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Tăng</a:t>
            </a:r>
            <a:r>
              <a:rPr lang="en-US" sz="2400" dirty="0">
                <a:latin typeface="Times New Roman" panose="02020603050405020304" pitchFamily="18" charset="0"/>
                <a:cs typeface="Times New Roman" panose="02020603050405020304" pitchFamily="18" charset="0"/>
              </a:rPr>
              <a:t> 30% LN/VĐT)</a:t>
            </a:r>
          </a:p>
          <a:p>
            <a:endParaRPr lang="en-US" sz="2400"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7030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46CE6-E51C-47ED-A4A3-2093FE12BE9A}"/>
              </a:ext>
            </a:extLst>
          </p:cNvPr>
          <p:cNvSpPr>
            <a:spLocks noGrp="1"/>
          </p:cNvSpPr>
          <p:nvPr>
            <p:ph type="title"/>
          </p:nvPr>
        </p:nvSpPr>
        <p:spPr/>
        <p:txBody>
          <a:bodyPr/>
          <a:lstStyle/>
          <a:p>
            <a:r>
              <a:rPr lang="en-US" dirty="0">
                <a:solidFill>
                  <a:srgbClr val="0070C0"/>
                </a:solidFill>
                <a:latin typeface="Times New Roman" panose="02020603050405020304" pitchFamily="18" charset="0"/>
                <a:cs typeface="Times New Roman" panose="02020603050405020304" pitchFamily="18" charset="0"/>
              </a:rPr>
              <a:t>I. </a:t>
            </a:r>
            <a:r>
              <a:rPr lang="en-US" dirty="0" err="1">
                <a:solidFill>
                  <a:srgbClr val="0070C0"/>
                </a:solidFill>
                <a:latin typeface="Times New Roman" panose="02020603050405020304" pitchFamily="18" charset="0"/>
                <a:cs typeface="Times New Roman" panose="02020603050405020304" pitchFamily="18" charset="0"/>
              </a:rPr>
              <a:t>Khái</a:t>
            </a:r>
            <a:r>
              <a:rPr lang="en-US" dirty="0">
                <a:solidFill>
                  <a:srgbClr val="0070C0"/>
                </a:solidFill>
                <a:latin typeface="Times New Roman" panose="02020603050405020304" pitchFamily="18" charset="0"/>
                <a:cs typeface="Times New Roman" panose="02020603050405020304" pitchFamily="18" charset="0"/>
              </a:rPr>
              <a:t> </a:t>
            </a:r>
            <a:r>
              <a:rPr lang="en-US" dirty="0" err="1">
                <a:solidFill>
                  <a:srgbClr val="0070C0"/>
                </a:solidFill>
                <a:latin typeface="Times New Roman" panose="02020603050405020304" pitchFamily="18" charset="0"/>
                <a:cs typeface="Times New Roman" panose="02020603050405020304" pitchFamily="18" charset="0"/>
              </a:rPr>
              <a:t>niệm</a:t>
            </a:r>
            <a:r>
              <a:rPr lang="en-US" dirty="0">
                <a:solidFill>
                  <a:srgbClr val="0070C0"/>
                </a:solidFill>
                <a:latin typeface="Times New Roman" panose="02020603050405020304" pitchFamily="18" charset="0"/>
                <a:cs typeface="Times New Roman" panose="02020603050405020304" pitchFamily="18" charset="0"/>
              </a:rPr>
              <a:t> </a:t>
            </a:r>
            <a:r>
              <a:rPr lang="en-US" dirty="0" err="1">
                <a:solidFill>
                  <a:srgbClr val="0070C0"/>
                </a:solidFill>
                <a:latin typeface="Times New Roman" panose="02020603050405020304" pitchFamily="18" charset="0"/>
                <a:cs typeface="Times New Roman" panose="02020603050405020304" pitchFamily="18" charset="0"/>
              </a:rPr>
              <a:t>sản</a:t>
            </a:r>
            <a:r>
              <a:rPr lang="en-US" dirty="0">
                <a:solidFill>
                  <a:srgbClr val="0070C0"/>
                </a:solidFill>
                <a:latin typeface="Times New Roman" panose="02020603050405020304" pitchFamily="18" charset="0"/>
                <a:cs typeface="Times New Roman" panose="02020603050405020304" pitchFamily="18" charset="0"/>
              </a:rPr>
              <a:t> </a:t>
            </a:r>
            <a:r>
              <a:rPr lang="en-US" dirty="0" err="1">
                <a:solidFill>
                  <a:srgbClr val="0070C0"/>
                </a:solidFill>
                <a:latin typeface="Times New Roman" panose="02020603050405020304" pitchFamily="18" charset="0"/>
                <a:cs typeface="Times New Roman" panose="02020603050405020304" pitchFamily="18" charset="0"/>
              </a:rPr>
              <a:t>phẩm</a:t>
            </a:r>
            <a:endParaRPr lang="en-US"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5928E0D-FFD7-4597-A754-13B2FBF68130}"/>
              </a:ext>
            </a:extLst>
          </p:cNvPr>
          <p:cNvSpPr>
            <a:spLocks noGrp="1"/>
          </p:cNvSpPr>
          <p:nvPr>
            <p:ph idx="1"/>
          </p:nvPr>
        </p:nvSpPr>
        <p:spPr>
          <a:xfrm>
            <a:off x="609598" y="1447800"/>
            <a:ext cx="6781801" cy="4648200"/>
          </a:xfrm>
        </p:spPr>
        <p:txBody>
          <a:bodyPr>
            <a:normAutofit/>
          </a:bodyPr>
          <a:lstStyle/>
          <a:p>
            <a:pPr marL="0" indent="0">
              <a:buNone/>
            </a:pPr>
            <a:r>
              <a:rPr lang="en-US" sz="3200" b="1" dirty="0">
                <a:latin typeface="Times New Roman" panose="02020603050405020304" pitchFamily="18" charset="0"/>
                <a:cs typeface="Times New Roman" panose="02020603050405020304" pitchFamily="18" charset="0"/>
              </a:rPr>
              <a:t>Theo </a:t>
            </a:r>
            <a:r>
              <a:rPr lang="en-US" sz="3200" b="1" dirty="0" err="1">
                <a:latin typeface="Times New Roman" panose="02020603050405020304" pitchFamily="18" charset="0"/>
                <a:cs typeface="Times New Roman" panose="02020603050405020304" pitchFamily="18" charset="0"/>
              </a:rPr>
              <a:t>quan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điểm</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truyền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thống</a:t>
            </a:r>
            <a:r>
              <a:rPr lang="en-US" sz="3200" b="1" dirty="0">
                <a:latin typeface="Times New Roman" panose="02020603050405020304" pitchFamily="18" charset="0"/>
                <a:cs typeface="Times New Roman" panose="02020603050405020304" pitchFamily="18" charset="0"/>
              </a:rPr>
              <a:t>:</a:t>
            </a:r>
          </a:p>
          <a:p>
            <a:r>
              <a:rPr lang="en-US" sz="3200" dirty="0" err="1">
                <a:latin typeface="Times New Roman" panose="02020603050405020304" pitchFamily="18" charset="0"/>
                <a:cs typeface="Times New Roman" panose="02020603050405020304" pitchFamily="18" charset="0"/>
              </a:rPr>
              <a:t>Sản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phẩm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vật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phẩm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tổng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hợp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đặc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tính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về</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vật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lý</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hóa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học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sinh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học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được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tập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hợp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trong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một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hình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thức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đồng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nhất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vật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mang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giá</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trị</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sử</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dụng</a:t>
            </a:r>
            <a:r>
              <a:rPr lang="en-US" sz="3200" dirty="0">
                <a:latin typeface="Times New Roman" panose="02020603050405020304" pitchFamily="18" charset="0"/>
                <a:cs typeface="Times New Roman" panose="02020603050405020304" pitchFamily="18" charset="0"/>
              </a:rPr>
              <a:t>.</a:t>
            </a:r>
          </a:p>
          <a:p>
            <a:pPr marL="0" indent="0">
              <a:buNone/>
            </a:pPr>
            <a:r>
              <a:rPr lang="en-US" sz="3200" dirty="0">
                <a:solidFill>
                  <a:schemeClr val="tx2"/>
                </a:solidFill>
                <a:latin typeface="Times New Roman" panose="02020603050405020304" pitchFamily="18" charset="0"/>
                <a:cs typeface="Times New Roman" panose="02020603050405020304" pitchFamily="18" charset="0"/>
              </a:rPr>
              <a:t>-&gt; </a:t>
            </a:r>
            <a:r>
              <a:rPr lang="en-US" sz="3200" dirty="0" err="1">
                <a:solidFill>
                  <a:schemeClr val="tx2"/>
                </a:solidFill>
                <a:latin typeface="Times New Roman" panose="02020603050405020304" pitchFamily="18" charset="0"/>
                <a:cs typeface="Times New Roman" panose="02020603050405020304" pitchFamily="18" charset="0"/>
              </a:rPr>
              <a:t>Sản</a:t>
            </a:r>
            <a:r>
              <a:rPr lang="en-US" sz="3200" dirty="0">
                <a:solidFill>
                  <a:schemeClr val="tx2"/>
                </a:solidFill>
                <a:latin typeface="Times New Roman" panose="02020603050405020304" pitchFamily="18" charset="0"/>
                <a:cs typeface="Times New Roman" panose="02020603050405020304" pitchFamily="18" charset="0"/>
              </a:rPr>
              <a:t> </a:t>
            </a:r>
            <a:r>
              <a:rPr lang="en-US" sz="3200" dirty="0" err="1">
                <a:solidFill>
                  <a:schemeClr val="tx2"/>
                </a:solidFill>
                <a:latin typeface="Times New Roman" panose="02020603050405020304" pitchFamily="18" charset="0"/>
                <a:cs typeface="Times New Roman" panose="02020603050405020304" pitchFamily="18" charset="0"/>
              </a:rPr>
              <a:t>phẩm</a:t>
            </a:r>
            <a:r>
              <a:rPr lang="en-US" sz="3200" dirty="0">
                <a:solidFill>
                  <a:schemeClr val="tx2"/>
                </a:solidFill>
                <a:latin typeface="Times New Roman" panose="02020603050405020304" pitchFamily="18" charset="0"/>
                <a:cs typeface="Times New Roman" panose="02020603050405020304" pitchFamily="18" charset="0"/>
              </a:rPr>
              <a:t> </a:t>
            </a:r>
            <a:r>
              <a:rPr lang="en-US" sz="3200" dirty="0" err="1">
                <a:solidFill>
                  <a:schemeClr val="tx2"/>
                </a:solidFill>
                <a:latin typeface="Times New Roman" panose="02020603050405020304" pitchFamily="18" charset="0"/>
                <a:cs typeface="Times New Roman" panose="02020603050405020304" pitchFamily="18" charset="0"/>
              </a:rPr>
              <a:t>được</a:t>
            </a:r>
            <a:r>
              <a:rPr lang="en-US" sz="3200" dirty="0">
                <a:solidFill>
                  <a:schemeClr val="tx2"/>
                </a:solidFill>
                <a:latin typeface="Times New Roman" panose="02020603050405020304" pitchFamily="18" charset="0"/>
                <a:cs typeface="Times New Roman" panose="02020603050405020304" pitchFamily="18" charset="0"/>
              </a:rPr>
              <a:t> </a:t>
            </a:r>
            <a:r>
              <a:rPr lang="en-US" sz="3200" dirty="0" err="1">
                <a:solidFill>
                  <a:schemeClr val="tx2"/>
                </a:solidFill>
                <a:latin typeface="Times New Roman" panose="02020603050405020304" pitchFamily="18" charset="0"/>
                <a:cs typeface="Times New Roman" panose="02020603050405020304" pitchFamily="18" charset="0"/>
              </a:rPr>
              <a:t>xem</a:t>
            </a:r>
            <a:r>
              <a:rPr lang="en-US" sz="3200" dirty="0">
                <a:solidFill>
                  <a:schemeClr val="tx2"/>
                </a:solidFill>
                <a:latin typeface="Times New Roman" panose="02020603050405020304" pitchFamily="18" charset="0"/>
                <a:cs typeface="Times New Roman" panose="02020603050405020304" pitchFamily="18" charset="0"/>
              </a:rPr>
              <a:t> </a:t>
            </a:r>
            <a:r>
              <a:rPr lang="en-US" sz="3200" dirty="0" err="1">
                <a:solidFill>
                  <a:schemeClr val="tx2"/>
                </a:solidFill>
                <a:latin typeface="Times New Roman" panose="02020603050405020304" pitchFamily="18" charset="0"/>
                <a:cs typeface="Times New Roman" panose="02020603050405020304" pitchFamily="18" charset="0"/>
              </a:rPr>
              <a:t>là</a:t>
            </a:r>
            <a:r>
              <a:rPr lang="en-US" sz="3200" dirty="0">
                <a:solidFill>
                  <a:schemeClr val="tx2"/>
                </a:solidFill>
                <a:latin typeface="Times New Roman" panose="02020603050405020304" pitchFamily="18" charset="0"/>
                <a:cs typeface="Times New Roman" panose="02020603050405020304" pitchFamily="18" charset="0"/>
              </a:rPr>
              <a:t> </a:t>
            </a:r>
            <a:r>
              <a:rPr lang="en-US" sz="3200" dirty="0" err="1">
                <a:solidFill>
                  <a:schemeClr val="tx2"/>
                </a:solidFill>
                <a:latin typeface="Times New Roman" panose="02020603050405020304" pitchFamily="18" charset="0"/>
                <a:cs typeface="Times New Roman" panose="02020603050405020304" pitchFamily="18" charset="0"/>
              </a:rPr>
              <a:t>một</a:t>
            </a:r>
            <a:r>
              <a:rPr lang="en-US" sz="3200" dirty="0">
                <a:solidFill>
                  <a:schemeClr val="tx2"/>
                </a:solidFill>
                <a:latin typeface="Times New Roman" panose="02020603050405020304" pitchFamily="18" charset="0"/>
                <a:cs typeface="Times New Roman" panose="02020603050405020304" pitchFamily="18" charset="0"/>
              </a:rPr>
              <a:t> GTSD </a:t>
            </a:r>
            <a:r>
              <a:rPr lang="en-US" sz="3200" dirty="0" err="1">
                <a:solidFill>
                  <a:schemeClr val="tx2"/>
                </a:solidFill>
                <a:latin typeface="Times New Roman" panose="02020603050405020304" pitchFamily="18" charset="0"/>
                <a:cs typeface="Times New Roman" panose="02020603050405020304" pitchFamily="18" charset="0"/>
              </a:rPr>
              <a:t>hữu</a:t>
            </a:r>
            <a:r>
              <a:rPr lang="en-US" sz="3200" dirty="0">
                <a:solidFill>
                  <a:schemeClr val="tx2"/>
                </a:solidFill>
                <a:latin typeface="Times New Roman" panose="02020603050405020304" pitchFamily="18" charset="0"/>
                <a:cs typeface="Times New Roman" panose="02020603050405020304" pitchFamily="18" charset="0"/>
              </a:rPr>
              <a:t> </a:t>
            </a:r>
            <a:r>
              <a:rPr lang="en-US" sz="3200" dirty="0" err="1">
                <a:solidFill>
                  <a:schemeClr val="tx2"/>
                </a:solidFill>
                <a:latin typeface="Times New Roman" panose="02020603050405020304" pitchFamily="18" charset="0"/>
                <a:cs typeface="Times New Roman" panose="02020603050405020304" pitchFamily="18" charset="0"/>
              </a:rPr>
              <a:t>hình</a:t>
            </a:r>
            <a:r>
              <a:rPr lang="en-US" sz="3200" dirty="0">
                <a:solidFill>
                  <a:schemeClr val="tx2"/>
                </a:solidFill>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3194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6019800" cy="2286000"/>
          </a:xfrm>
        </p:spPr>
        <p:txBody>
          <a:bodyPr>
            <a:normAutofit/>
          </a:bodyPr>
          <a:lstStyle/>
          <a:p>
            <a:pPr algn="l"/>
            <a:r>
              <a:rPr lang="en-US" sz="3600" b="1" dirty="0">
                <a:solidFill>
                  <a:srgbClr val="FF0000"/>
                </a:solidFill>
              </a:rPr>
              <a:t> </a:t>
            </a:r>
            <a:r>
              <a:rPr lang="en-US" sz="4000" b="1" dirty="0" err="1">
                <a:solidFill>
                  <a:srgbClr val="FF0000"/>
                </a:solidFill>
                <a:latin typeface="Times New Roman" panose="02020603050405020304" pitchFamily="18" charset="0"/>
                <a:cs typeface="Times New Roman" panose="02020603050405020304" pitchFamily="18" charset="0"/>
              </a:rPr>
              <a:t>Khái</a:t>
            </a:r>
            <a:r>
              <a:rPr lang="en-US" sz="4000" b="1" dirty="0">
                <a:solidFill>
                  <a:srgbClr val="FF0000"/>
                </a:solidFill>
                <a:latin typeface="Times New Roman" panose="02020603050405020304" pitchFamily="18" charset="0"/>
                <a:cs typeface="Times New Roman" panose="02020603050405020304" pitchFamily="18" charset="0"/>
              </a:rPr>
              <a:t> </a:t>
            </a:r>
            <a:r>
              <a:rPr lang="en-US" sz="4000" b="1" dirty="0" err="1">
                <a:solidFill>
                  <a:srgbClr val="FF0000"/>
                </a:solidFill>
                <a:latin typeface="Times New Roman" panose="02020603050405020304" pitchFamily="18" charset="0"/>
                <a:cs typeface="Times New Roman" panose="02020603050405020304" pitchFamily="18" charset="0"/>
              </a:rPr>
              <a:t>niệm</a:t>
            </a:r>
            <a:r>
              <a:rPr lang="en-US" sz="4000" b="1" dirty="0">
                <a:solidFill>
                  <a:srgbClr val="FF0000"/>
                </a:solidFill>
                <a:latin typeface="Times New Roman" panose="02020603050405020304" pitchFamily="18" charset="0"/>
                <a:cs typeface="Times New Roman" panose="02020603050405020304" pitchFamily="18" charset="0"/>
              </a:rPr>
              <a:t> </a:t>
            </a:r>
            <a:r>
              <a:rPr lang="en-US" sz="4000" b="1" dirty="0" err="1">
                <a:solidFill>
                  <a:srgbClr val="FF0000"/>
                </a:solidFill>
                <a:latin typeface="Times New Roman" panose="02020603050405020304" pitchFamily="18" charset="0"/>
                <a:cs typeface="Times New Roman" panose="02020603050405020304" pitchFamily="18" charset="0"/>
              </a:rPr>
              <a:t>sản</a:t>
            </a:r>
            <a:r>
              <a:rPr lang="en-US" sz="4000" b="1" dirty="0">
                <a:solidFill>
                  <a:srgbClr val="FF0000"/>
                </a:solidFill>
                <a:latin typeface="Times New Roman" panose="02020603050405020304" pitchFamily="18" charset="0"/>
                <a:cs typeface="Times New Roman" panose="02020603050405020304" pitchFamily="18" charset="0"/>
              </a:rPr>
              <a:t> </a:t>
            </a:r>
            <a:r>
              <a:rPr lang="en-US" sz="4000" b="1" dirty="0" err="1">
                <a:solidFill>
                  <a:srgbClr val="FF0000"/>
                </a:solidFill>
                <a:latin typeface="Times New Roman" panose="02020603050405020304" pitchFamily="18" charset="0"/>
                <a:cs typeface="Times New Roman" panose="02020603050405020304" pitchFamily="18" charset="0"/>
              </a:rPr>
              <a:t>phẩm</a:t>
            </a:r>
            <a:r>
              <a:rPr lang="en-US" sz="4000" b="1" dirty="0">
                <a:solidFill>
                  <a:srgbClr val="FF0000"/>
                </a:solidFill>
                <a:latin typeface="Times New Roman" panose="02020603050405020304" pitchFamily="18" charset="0"/>
                <a:cs typeface="Times New Roman" panose="02020603050405020304" pitchFamily="18" charset="0"/>
              </a:rPr>
              <a:t> </a:t>
            </a:r>
            <a:r>
              <a:rPr lang="en-US" sz="4000" b="1" dirty="0" err="1">
                <a:solidFill>
                  <a:srgbClr val="FF0000"/>
                </a:solidFill>
                <a:latin typeface="Times New Roman" panose="02020603050405020304" pitchFamily="18" charset="0"/>
                <a:cs typeface="Times New Roman" panose="02020603050405020304" pitchFamily="18" charset="0"/>
              </a:rPr>
              <a:t>theo</a:t>
            </a:r>
            <a:r>
              <a:rPr lang="en-US" sz="4000" b="1" dirty="0">
                <a:solidFill>
                  <a:srgbClr val="FF0000"/>
                </a:solidFill>
                <a:latin typeface="Times New Roman" panose="02020603050405020304" pitchFamily="18" charset="0"/>
                <a:cs typeface="Times New Roman" panose="02020603050405020304" pitchFamily="18" charset="0"/>
              </a:rPr>
              <a:t> </a:t>
            </a:r>
            <a:r>
              <a:rPr lang="en-US" sz="4000" b="1" dirty="0" err="1">
                <a:solidFill>
                  <a:srgbClr val="FF0000"/>
                </a:solidFill>
                <a:latin typeface="Times New Roman" panose="02020603050405020304" pitchFamily="18" charset="0"/>
                <a:cs typeface="Times New Roman" panose="02020603050405020304" pitchFamily="18" charset="0"/>
              </a:rPr>
              <a:t>theo</a:t>
            </a:r>
            <a:r>
              <a:rPr lang="en-US" sz="4000" b="1" dirty="0">
                <a:solidFill>
                  <a:srgbClr val="FF0000"/>
                </a:solidFill>
                <a:latin typeface="Times New Roman" panose="02020603050405020304" pitchFamily="18" charset="0"/>
                <a:cs typeface="Times New Roman" panose="02020603050405020304" pitchFamily="18" charset="0"/>
              </a:rPr>
              <a:t> </a:t>
            </a:r>
            <a:r>
              <a:rPr lang="en-US" sz="4000" b="1" dirty="0" err="1">
                <a:solidFill>
                  <a:srgbClr val="FF0000"/>
                </a:solidFill>
                <a:latin typeface="Times New Roman" panose="02020603050405020304" pitchFamily="18" charset="0"/>
                <a:cs typeface="Times New Roman" panose="02020603050405020304" pitchFamily="18" charset="0"/>
              </a:rPr>
              <a:t>quan</a:t>
            </a:r>
            <a:r>
              <a:rPr lang="en-US" sz="4000" b="1" dirty="0">
                <a:solidFill>
                  <a:srgbClr val="FF0000"/>
                </a:solidFill>
                <a:latin typeface="Times New Roman" panose="02020603050405020304" pitchFamily="18" charset="0"/>
                <a:cs typeface="Times New Roman" panose="02020603050405020304" pitchFamily="18" charset="0"/>
              </a:rPr>
              <a:t> </a:t>
            </a:r>
            <a:r>
              <a:rPr lang="en-US" sz="4000" b="1" dirty="0" err="1">
                <a:solidFill>
                  <a:srgbClr val="FF0000"/>
                </a:solidFill>
                <a:latin typeface="Times New Roman" panose="02020603050405020304" pitchFamily="18" charset="0"/>
                <a:cs typeface="Times New Roman" panose="02020603050405020304" pitchFamily="18" charset="0"/>
              </a:rPr>
              <a:t>điểm</a:t>
            </a:r>
            <a:r>
              <a:rPr lang="en-US" sz="4000" b="1" dirty="0">
                <a:solidFill>
                  <a:srgbClr val="FF0000"/>
                </a:solidFill>
                <a:latin typeface="Times New Roman" panose="02020603050405020304" pitchFamily="18" charset="0"/>
                <a:cs typeface="Times New Roman" panose="02020603050405020304" pitchFamily="18" charset="0"/>
              </a:rPr>
              <a:t> marketing</a:t>
            </a:r>
          </a:p>
        </p:txBody>
      </p:sp>
      <p:sp>
        <p:nvSpPr>
          <p:cNvPr id="3" name="Content Placeholder 2"/>
          <p:cNvSpPr>
            <a:spLocks noGrp="1"/>
          </p:cNvSpPr>
          <p:nvPr>
            <p:ph idx="1"/>
          </p:nvPr>
        </p:nvSpPr>
        <p:spPr>
          <a:xfrm>
            <a:off x="76200" y="2743199"/>
            <a:ext cx="6934200" cy="3962401"/>
          </a:xfrm>
        </p:spPr>
        <p:style>
          <a:lnRef idx="1">
            <a:schemeClr val="accent1"/>
          </a:lnRef>
          <a:fillRef idx="3">
            <a:schemeClr val="accent1"/>
          </a:fillRef>
          <a:effectRef idx="2">
            <a:schemeClr val="accent1"/>
          </a:effectRef>
          <a:fontRef idx="minor">
            <a:schemeClr val="lt1"/>
          </a:fontRef>
        </p:style>
        <p:txBody>
          <a:bodyPr>
            <a:noAutofit/>
          </a:bodyPr>
          <a:lstStyle/>
          <a:p>
            <a:pPr algn="ctr">
              <a:buNone/>
            </a:pPr>
            <a:r>
              <a:rPr lang="vi-VN" sz="3200" dirty="0">
                <a:solidFill>
                  <a:schemeClr val="tx1"/>
                </a:solidFill>
                <a:latin typeface="Times New Roman" panose="02020603050405020304" pitchFamily="18" charset="0"/>
                <a:cs typeface="Times New Roman" panose="02020603050405020304" pitchFamily="18" charset="0"/>
              </a:rPr>
              <a:t>Bất kỳ thứ gì </a:t>
            </a:r>
            <a:r>
              <a:rPr lang="vi-VN" sz="3200" dirty="0">
                <a:solidFill>
                  <a:srgbClr val="FF0000"/>
                </a:solidFill>
                <a:latin typeface="Times New Roman" panose="02020603050405020304" pitchFamily="18" charset="0"/>
                <a:cs typeface="Times New Roman" panose="02020603050405020304" pitchFamily="18" charset="0"/>
              </a:rPr>
              <a:t>có thể </a:t>
            </a:r>
            <a:r>
              <a:rPr lang="en-US" sz="3200" dirty="0">
                <a:solidFill>
                  <a:srgbClr val="FF0000"/>
                </a:solidFill>
                <a:latin typeface="Times New Roman" panose="02020603050405020304" pitchFamily="18" charset="0"/>
                <a:cs typeface="Times New Roman" panose="02020603050405020304" pitchFamily="18" charset="0"/>
              </a:rPr>
              <a:t>(</a:t>
            </a:r>
            <a:r>
              <a:rPr lang="en-US" sz="3200" dirty="0" err="1">
                <a:solidFill>
                  <a:srgbClr val="FF0000"/>
                </a:solidFill>
                <a:latin typeface="Times New Roman" panose="02020603050405020304" pitchFamily="18" charset="0"/>
                <a:cs typeface="Times New Roman" panose="02020603050405020304" pitchFamily="18" charset="0"/>
              </a:rPr>
              <a:t>được</a:t>
            </a:r>
            <a:r>
              <a:rPr lang="en-US" sz="3200" dirty="0">
                <a:solidFill>
                  <a:srgbClr val="FF0000"/>
                </a:solidFill>
                <a:latin typeface="Times New Roman" panose="02020603050405020304" pitchFamily="18" charset="0"/>
                <a:cs typeface="Times New Roman" panose="02020603050405020304" pitchFamily="18" charset="0"/>
              </a:rPr>
              <a:t> </a:t>
            </a:r>
            <a:r>
              <a:rPr lang="en-US" sz="3200" dirty="0" err="1">
                <a:solidFill>
                  <a:srgbClr val="FF0000"/>
                </a:solidFill>
                <a:latin typeface="Times New Roman" panose="02020603050405020304" pitchFamily="18" charset="0"/>
                <a:cs typeface="Times New Roman" panose="02020603050405020304" pitchFamily="18" charset="0"/>
              </a:rPr>
              <a:t>phép</a:t>
            </a:r>
            <a:r>
              <a:rPr lang="en-US" sz="3200" dirty="0">
                <a:solidFill>
                  <a:srgbClr val="FF0000"/>
                </a:solidFill>
                <a:latin typeface="Times New Roman" panose="02020603050405020304" pitchFamily="18" charset="0"/>
                <a:cs typeface="Times New Roman" panose="02020603050405020304" pitchFamily="18" charset="0"/>
              </a:rPr>
              <a:t>) </a:t>
            </a:r>
            <a:r>
              <a:rPr lang="vi-VN" sz="3200" dirty="0">
                <a:solidFill>
                  <a:srgbClr val="FF0000"/>
                </a:solidFill>
                <a:latin typeface="Times New Roman" panose="02020603050405020304" pitchFamily="18" charset="0"/>
                <a:cs typeface="Times New Roman" panose="02020603050405020304" pitchFamily="18" charset="0"/>
              </a:rPr>
              <a:t>cung </a:t>
            </a:r>
          </a:p>
          <a:p>
            <a:pPr algn="ctr">
              <a:buNone/>
            </a:pPr>
            <a:r>
              <a:rPr lang="vi-VN" sz="3200" dirty="0">
                <a:solidFill>
                  <a:srgbClr val="FF0000"/>
                </a:solidFill>
                <a:latin typeface="Times New Roman" panose="02020603050405020304" pitchFamily="18" charset="0"/>
                <a:cs typeface="Times New Roman" panose="02020603050405020304" pitchFamily="18" charset="0"/>
              </a:rPr>
              <a:t>ứng trên thị trường </a:t>
            </a:r>
            <a:r>
              <a:rPr lang="vi-VN" sz="3200" dirty="0">
                <a:solidFill>
                  <a:schemeClr val="tx1"/>
                </a:solidFill>
                <a:latin typeface="Times New Roman" panose="02020603050405020304" pitchFamily="18" charset="0"/>
                <a:cs typeface="Times New Roman" panose="02020603050405020304" pitchFamily="18" charset="0"/>
              </a:rPr>
              <a:t>để thu </a:t>
            </a:r>
          </a:p>
          <a:p>
            <a:pPr algn="ctr">
              <a:buNone/>
            </a:pPr>
            <a:r>
              <a:rPr lang="vi-VN" sz="3200" dirty="0">
                <a:solidFill>
                  <a:schemeClr val="tx1"/>
                </a:solidFill>
                <a:latin typeface="Times New Roman" panose="02020603050405020304" pitchFamily="18" charset="0"/>
                <a:cs typeface="Times New Roman" panose="02020603050405020304" pitchFamily="18" charset="0"/>
              </a:rPr>
              <a:t>hút, mua sắm, sử dụng </a:t>
            </a:r>
          </a:p>
          <a:p>
            <a:pPr algn="ctr">
              <a:buNone/>
            </a:pPr>
            <a:r>
              <a:rPr lang="vi-VN" sz="3200" dirty="0">
                <a:solidFill>
                  <a:schemeClr val="tx1"/>
                </a:solidFill>
                <a:latin typeface="Times New Roman" panose="02020603050405020304" pitchFamily="18" charset="0"/>
                <a:cs typeface="Times New Roman" panose="02020603050405020304" pitchFamily="18" charset="0"/>
              </a:rPr>
              <a:t>hoặc tiêu dùng nhằm thỏa </a:t>
            </a:r>
          </a:p>
          <a:p>
            <a:pPr algn="ctr">
              <a:buNone/>
            </a:pPr>
            <a:r>
              <a:rPr lang="vi-VN" sz="3200" dirty="0">
                <a:solidFill>
                  <a:schemeClr val="tx1"/>
                </a:solidFill>
                <a:latin typeface="Times New Roman" panose="02020603050405020304" pitchFamily="18" charset="0"/>
                <a:cs typeface="Times New Roman" panose="02020603050405020304" pitchFamily="18" charset="0"/>
              </a:rPr>
              <a:t>mãn nhu cầu hoặc mong </a:t>
            </a:r>
          </a:p>
          <a:p>
            <a:pPr algn="ctr">
              <a:buNone/>
            </a:pPr>
            <a:r>
              <a:rPr lang="vi-VN" sz="3200" dirty="0">
                <a:solidFill>
                  <a:schemeClr val="tx1"/>
                </a:solidFill>
                <a:latin typeface="Times New Roman" panose="02020603050405020304" pitchFamily="18" charset="0"/>
                <a:cs typeface="Times New Roman" panose="02020603050405020304" pitchFamily="18" charset="0"/>
              </a:rPr>
              <a:t>muốn của con người</a:t>
            </a:r>
            <a:endParaRPr lang="en-US" sz="3200" dirty="0">
              <a:solidFill>
                <a:schemeClr val="tx1"/>
              </a:solidFill>
              <a:latin typeface="Times New Roman" panose="02020603050405020304" pitchFamily="18" charset="0"/>
              <a:cs typeface="Times New Roman" panose="02020603050405020304" pitchFamily="18" charset="0"/>
            </a:endParaRPr>
          </a:p>
        </p:txBody>
      </p:sp>
      <p:pic>
        <p:nvPicPr>
          <p:cNvPr id="8194" name="Picture 2" descr="http://vietnambranding.com/news/img5/1208853070_300107_bao_bi4.jpg"/>
          <p:cNvPicPr>
            <a:picLocks noChangeAspect="1" noChangeArrowheads="1"/>
          </p:cNvPicPr>
          <p:nvPr/>
        </p:nvPicPr>
        <p:blipFill>
          <a:blip r:embed="rId2" cstate="print"/>
          <a:srcRect/>
          <a:stretch>
            <a:fillRect/>
          </a:stretch>
        </p:blipFill>
        <p:spPr bwMode="auto">
          <a:xfrm>
            <a:off x="7010400" y="3114675"/>
            <a:ext cx="2133600" cy="3743325"/>
          </a:xfrm>
          <a:prstGeom prst="rect">
            <a:avLst/>
          </a:prstGeom>
          <a:noFill/>
        </p:spPr>
      </p:pic>
      <p:pic>
        <p:nvPicPr>
          <p:cNvPr id="8196" name="Picture 4" descr="http://www.publicpower.org/files/images/BookStore/APPA%20Product%20Store%20Logo_no%20tag.png"/>
          <p:cNvPicPr>
            <a:picLocks noChangeAspect="1" noChangeArrowheads="1"/>
          </p:cNvPicPr>
          <p:nvPr/>
        </p:nvPicPr>
        <p:blipFill>
          <a:blip r:embed="rId3" cstate="print"/>
          <a:srcRect/>
          <a:stretch>
            <a:fillRect/>
          </a:stretch>
        </p:blipFill>
        <p:spPr bwMode="auto">
          <a:xfrm>
            <a:off x="259077" y="1207698"/>
            <a:ext cx="4617723" cy="1306902"/>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4724400" cy="1371600"/>
          </a:xfrm>
        </p:spPr>
        <p:style>
          <a:lnRef idx="1">
            <a:schemeClr val="accent2"/>
          </a:lnRef>
          <a:fillRef idx="3">
            <a:schemeClr val="accent2"/>
          </a:fillRef>
          <a:effectRef idx="2">
            <a:schemeClr val="accent2"/>
          </a:effectRef>
          <a:fontRef idx="minor">
            <a:schemeClr val="lt1"/>
          </a:fontRef>
        </p:style>
        <p:txBody>
          <a:bodyPr>
            <a:normAutofit/>
          </a:bodyPr>
          <a:lstStyle/>
          <a:p>
            <a:pPr algn="l"/>
            <a:r>
              <a:rPr lang="en-US" sz="3600" b="1" dirty="0" err="1">
                <a:latin typeface="Times New Roman" panose="02020603050405020304" pitchFamily="18" charset="0"/>
                <a:cs typeface="Times New Roman" panose="02020603050405020304" pitchFamily="18" charset="0"/>
              </a:rPr>
              <a:t>Các</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cấp</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độ</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sản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phẩm</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endParaRPr lang="en-US" dirty="0"/>
          </a:p>
        </p:txBody>
      </p:sp>
      <p:grpSp>
        <p:nvGrpSpPr>
          <p:cNvPr id="5" name="Group 4"/>
          <p:cNvGrpSpPr/>
          <p:nvPr/>
        </p:nvGrpSpPr>
        <p:grpSpPr>
          <a:xfrm>
            <a:off x="4953000" y="1676400"/>
            <a:ext cx="4191000" cy="4191000"/>
            <a:chOff x="4953000" y="2362200"/>
            <a:chExt cx="4191000" cy="4191000"/>
          </a:xfrm>
        </p:grpSpPr>
        <p:sp>
          <p:nvSpPr>
            <p:cNvPr id="6" name="Oval 7"/>
            <p:cNvSpPr>
              <a:spLocks noChangeArrowheads="1"/>
            </p:cNvSpPr>
            <p:nvPr/>
          </p:nvSpPr>
          <p:spPr bwMode="auto">
            <a:xfrm>
              <a:off x="4953000" y="2362200"/>
              <a:ext cx="4191000" cy="4191000"/>
            </a:xfrm>
            <a:prstGeom prst="ellipse">
              <a:avLst/>
            </a:prstGeom>
            <a:gradFill rotWithShape="1">
              <a:gsLst>
                <a:gs pos="0">
                  <a:srgbClr val="FFFF00"/>
                </a:gs>
                <a:gs pos="100000">
                  <a:srgbClr val="FF9933"/>
                </a:gs>
              </a:gsLst>
              <a:lin ang="18900000" scaled="1"/>
            </a:gradFill>
            <a:ln w="12700">
              <a:solidFill>
                <a:srgbClr val="000000"/>
              </a:solidFill>
              <a:round/>
              <a:headEnd/>
              <a:tailEnd/>
            </a:ln>
          </p:spPr>
          <p:txBody>
            <a:bodyPr wrap="none" anchor="ctr"/>
            <a:lstStyle/>
            <a:p>
              <a:pPr algn="ctr" eaLnBrk="0" hangingPunct="0"/>
              <a:r>
                <a:rPr lang="en-US" sz="2400">
                  <a:solidFill>
                    <a:schemeClr val="tx2"/>
                  </a:solidFill>
                  <a:latin typeface="Arial" charset="0"/>
                </a:rPr>
                <a:t>0</a:t>
              </a:r>
            </a:p>
          </p:txBody>
        </p:sp>
        <p:sp>
          <p:nvSpPr>
            <p:cNvPr id="7" name="Oval 8"/>
            <p:cNvSpPr>
              <a:spLocks noChangeArrowheads="1"/>
            </p:cNvSpPr>
            <p:nvPr/>
          </p:nvSpPr>
          <p:spPr bwMode="auto">
            <a:xfrm>
              <a:off x="5257800" y="2895600"/>
              <a:ext cx="3581400" cy="3562350"/>
            </a:xfrm>
            <a:prstGeom prst="ellipse">
              <a:avLst/>
            </a:prstGeom>
            <a:gradFill rotWithShape="0">
              <a:gsLst>
                <a:gs pos="0">
                  <a:srgbClr val="99FF33"/>
                </a:gs>
                <a:gs pos="50000">
                  <a:srgbClr val="009900"/>
                </a:gs>
                <a:gs pos="100000">
                  <a:srgbClr val="99FF33"/>
                </a:gs>
              </a:gsLst>
              <a:lin ang="2700000" scaled="1"/>
            </a:gradFill>
            <a:ln w="12700">
              <a:solidFill>
                <a:srgbClr val="000000"/>
              </a:solidFill>
              <a:round/>
              <a:headEnd/>
              <a:tailEnd/>
            </a:ln>
          </p:spPr>
          <p:txBody>
            <a:bodyPr wrap="none" anchor="ctr"/>
            <a:lstStyle/>
            <a:p>
              <a:pPr algn="ctr" eaLnBrk="0" hangingPunct="0"/>
              <a:r>
                <a:rPr lang="en-US" sz="2400">
                  <a:solidFill>
                    <a:schemeClr val="tx2"/>
                  </a:solidFill>
                  <a:latin typeface="Arial" charset="0"/>
                </a:rPr>
                <a:t>0</a:t>
              </a:r>
            </a:p>
          </p:txBody>
        </p:sp>
        <p:sp>
          <p:nvSpPr>
            <p:cNvPr id="8" name="Oval 9"/>
            <p:cNvSpPr>
              <a:spLocks noChangeArrowheads="1"/>
            </p:cNvSpPr>
            <p:nvPr/>
          </p:nvSpPr>
          <p:spPr bwMode="auto">
            <a:xfrm>
              <a:off x="5638800" y="3505200"/>
              <a:ext cx="2862263" cy="2819400"/>
            </a:xfrm>
            <a:prstGeom prst="ellipse">
              <a:avLst/>
            </a:prstGeom>
            <a:gradFill rotWithShape="0">
              <a:gsLst>
                <a:gs pos="0">
                  <a:schemeClr val="folHlink"/>
                </a:gs>
                <a:gs pos="50000">
                  <a:srgbClr val="FFCC66"/>
                </a:gs>
                <a:gs pos="100000">
                  <a:schemeClr val="folHlink"/>
                </a:gs>
              </a:gsLst>
              <a:lin ang="2700000" scaled="1"/>
            </a:gradFill>
            <a:ln w="12700">
              <a:solidFill>
                <a:srgbClr val="000000"/>
              </a:solidFill>
              <a:round/>
              <a:headEnd/>
              <a:tailEnd/>
            </a:ln>
            <a:effectLst/>
          </p:spPr>
          <p:txBody>
            <a:bodyPr wrap="none" anchor="ctr"/>
            <a:lstStyle/>
            <a:p>
              <a:pPr algn="ctr" eaLnBrk="0" hangingPunct="0">
                <a:defRPr/>
              </a:pPr>
              <a:endParaRPr lang="en-US" sz="2400">
                <a:solidFill>
                  <a:schemeClr val="tx2"/>
                </a:solidFill>
                <a:latin typeface="Arial" charset="0"/>
              </a:endParaRPr>
            </a:p>
          </p:txBody>
        </p:sp>
        <p:sp>
          <p:nvSpPr>
            <p:cNvPr id="9" name="Oval 10"/>
            <p:cNvSpPr>
              <a:spLocks noChangeArrowheads="1"/>
            </p:cNvSpPr>
            <p:nvPr/>
          </p:nvSpPr>
          <p:spPr bwMode="auto">
            <a:xfrm>
              <a:off x="6019800" y="4191000"/>
              <a:ext cx="2112963" cy="2112963"/>
            </a:xfrm>
            <a:prstGeom prst="ellipse">
              <a:avLst/>
            </a:prstGeom>
            <a:gradFill rotWithShape="0">
              <a:gsLst>
                <a:gs pos="0">
                  <a:schemeClr val="folHlink"/>
                </a:gs>
                <a:gs pos="50000">
                  <a:srgbClr val="FF3399"/>
                </a:gs>
                <a:gs pos="100000">
                  <a:schemeClr val="folHlink"/>
                </a:gs>
              </a:gsLst>
              <a:lin ang="2700000" scaled="1"/>
            </a:gradFill>
            <a:ln w="12700">
              <a:solidFill>
                <a:srgbClr val="000000"/>
              </a:solidFill>
              <a:round/>
              <a:headEnd/>
              <a:tailEnd/>
            </a:ln>
            <a:effectLst/>
          </p:spPr>
          <p:txBody>
            <a:bodyPr wrap="none" anchor="ctr"/>
            <a:lstStyle/>
            <a:p>
              <a:pPr algn="ctr" eaLnBrk="0" hangingPunct="0">
                <a:defRPr/>
              </a:pPr>
              <a:endParaRPr lang="en-US" sz="2400">
                <a:solidFill>
                  <a:schemeClr val="tx2"/>
                </a:solidFill>
                <a:latin typeface="Arial" charset="0"/>
              </a:endParaRPr>
            </a:p>
          </p:txBody>
        </p:sp>
        <p:sp>
          <p:nvSpPr>
            <p:cNvPr id="10" name="Oval 11"/>
            <p:cNvSpPr>
              <a:spLocks noChangeArrowheads="1"/>
            </p:cNvSpPr>
            <p:nvPr/>
          </p:nvSpPr>
          <p:spPr bwMode="auto">
            <a:xfrm>
              <a:off x="6324600" y="4800600"/>
              <a:ext cx="1492250" cy="1447800"/>
            </a:xfrm>
            <a:prstGeom prst="ellipse">
              <a:avLst/>
            </a:prstGeom>
            <a:gradFill rotWithShape="0">
              <a:gsLst>
                <a:gs pos="0">
                  <a:srgbClr val="FFFF99"/>
                </a:gs>
                <a:gs pos="100000">
                  <a:srgbClr val="FF3300"/>
                </a:gs>
              </a:gsLst>
              <a:path path="shape">
                <a:fillToRect l="50000" t="50000" r="50000" b="50000"/>
              </a:path>
            </a:gradFill>
            <a:ln w="12700">
              <a:solidFill>
                <a:schemeClr val="tx1"/>
              </a:solidFill>
              <a:round/>
              <a:headEnd/>
              <a:tailEnd/>
            </a:ln>
          </p:spPr>
          <p:txBody>
            <a:bodyPr wrap="none" anchor="ctr"/>
            <a:lstStyle/>
            <a:p>
              <a:pPr algn="ctr" eaLnBrk="0" hangingPunct="0"/>
              <a:endParaRPr lang="en-US" sz="2400">
                <a:solidFill>
                  <a:schemeClr val="tx2"/>
                </a:solidFill>
                <a:latin typeface="Arial" charset="0"/>
              </a:endParaRPr>
            </a:p>
          </p:txBody>
        </p:sp>
        <p:sp>
          <p:nvSpPr>
            <p:cNvPr id="11" name="Text Box 12"/>
            <p:cNvSpPr txBox="1">
              <a:spLocks noChangeArrowheads="1"/>
            </p:cNvSpPr>
            <p:nvPr/>
          </p:nvSpPr>
          <p:spPr bwMode="auto">
            <a:xfrm>
              <a:off x="6477000" y="4276725"/>
              <a:ext cx="1381125" cy="396875"/>
            </a:xfrm>
            <a:prstGeom prst="rect">
              <a:avLst/>
            </a:prstGeom>
            <a:noFill/>
            <a:ln w="12700">
              <a:noFill/>
              <a:miter lim="800000"/>
              <a:headEnd/>
              <a:tailEnd/>
            </a:ln>
          </p:spPr>
          <p:txBody>
            <a:bodyPr wrap="none">
              <a:spAutoFit/>
            </a:bodyPr>
            <a:lstStyle/>
            <a:p>
              <a:pPr eaLnBrk="0" hangingPunct="0"/>
              <a:r>
                <a:rPr lang="en-US" sz="2000">
                  <a:latin typeface="Arial" charset="0"/>
                </a:rPr>
                <a:t>SP cơ bản</a:t>
              </a:r>
              <a:endParaRPr lang="en-US" sz="2000">
                <a:solidFill>
                  <a:schemeClr val="tx2"/>
                </a:solidFill>
                <a:latin typeface="Arial" charset="0"/>
              </a:endParaRPr>
            </a:p>
          </p:txBody>
        </p:sp>
        <p:sp>
          <p:nvSpPr>
            <p:cNvPr id="12" name="Text Box 13"/>
            <p:cNvSpPr txBox="1">
              <a:spLocks noChangeArrowheads="1"/>
            </p:cNvSpPr>
            <p:nvPr/>
          </p:nvSpPr>
          <p:spPr bwMode="auto">
            <a:xfrm>
              <a:off x="6324600" y="3743325"/>
              <a:ext cx="1663700" cy="396875"/>
            </a:xfrm>
            <a:prstGeom prst="rect">
              <a:avLst/>
            </a:prstGeom>
            <a:noFill/>
            <a:ln w="12700">
              <a:noFill/>
              <a:miter lim="800000"/>
              <a:headEnd/>
              <a:tailEnd/>
            </a:ln>
          </p:spPr>
          <p:txBody>
            <a:bodyPr wrap="none">
              <a:spAutoFit/>
            </a:bodyPr>
            <a:lstStyle/>
            <a:p>
              <a:pPr eaLnBrk="0" hangingPunct="0"/>
              <a:r>
                <a:rPr lang="en-US" sz="2000">
                  <a:latin typeface="Arial" charset="0"/>
                </a:rPr>
                <a:t>SP mong đợi</a:t>
              </a:r>
            </a:p>
          </p:txBody>
        </p:sp>
        <p:sp>
          <p:nvSpPr>
            <p:cNvPr id="13" name="Text Box 14"/>
            <p:cNvSpPr txBox="1">
              <a:spLocks noChangeArrowheads="1"/>
            </p:cNvSpPr>
            <p:nvPr/>
          </p:nvSpPr>
          <p:spPr bwMode="auto">
            <a:xfrm>
              <a:off x="6248400" y="3133725"/>
              <a:ext cx="1497013" cy="396875"/>
            </a:xfrm>
            <a:prstGeom prst="rect">
              <a:avLst/>
            </a:prstGeom>
            <a:noFill/>
            <a:ln w="12700">
              <a:noFill/>
              <a:miter lim="800000"/>
              <a:headEnd/>
              <a:tailEnd/>
            </a:ln>
          </p:spPr>
          <p:txBody>
            <a:bodyPr wrap="none">
              <a:spAutoFit/>
            </a:bodyPr>
            <a:lstStyle/>
            <a:p>
              <a:pPr eaLnBrk="0" hangingPunct="0"/>
              <a:r>
                <a:rPr lang="en-US" sz="2000">
                  <a:latin typeface="Arial" charset="0"/>
                </a:rPr>
                <a:t>SP gia tăng</a:t>
              </a:r>
            </a:p>
          </p:txBody>
        </p:sp>
        <p:sp>
          <p:nvSpPr>
            <p:cNvPr id="14" name="Text Box 15"/>
            <p:cNvSpPr txBox="1">
              <a:spLocks noChangeArrowheads="1"/>
            </p:cNvSpPr>
            <p:nvPr/>
          </p:nvSpPr>
          <p:spPr bwMode="auto">
            <a:xfrm>
              <a:off x="6477000" y="2447925"/>
              <a:ext cx="1425575" cy="396875"/>
            </a:xfrm>
            <a:prstGeom prst="rect">
              <a:avLst/>
            </a:prstGeom>
            <a:noFill/>
            <a:ln w="12700">
              <a:noFill/>
              <a:miter lim="800000"/>
              <a:headEnd/>
              <a:tailEnd/>
            </a:ln>
          </p:spPr>
          <p:txBody>
            <a:bodyPr wrap="none">
              <a:spAutoFit/>
            </a:bodyPr>
            <a:lstStyle/>
            <a:p>
              <a:pPr eaLnBrk="0" hangingPunct="0"/>
              <a:r>
                <a:rPr lang="en-US" sz="2000">
                  <a:latin typeface="Arial" charset="0"/>
                </a:rPr>
                <a:t>SP tiềm ẩn</a:t>
              </a:r>
            </a:p>
          </p:txBody>
        </p:sp>
        <p:sp>
          <p:nvSpPr>
            <p:cNvPr id="15" name="Text Box 22"/>
            <p:cNvSpPr txBox="1">
              <a:spLocks noChangeArrowheads="1"/>
            </p:cNvSpPr>
            <p:nvPr/>
          </p:nvSpPr>
          <p:spPr bwMode="auto">
            <a:xfrm>
              <a:off x="6629400" y="5181600"/>
              <a:ext cx="957263" cy="701675"/>
            </a:xfrm>
            <a:prstGeom prst="rect">
              <a:avLst/>
            </a:prstGeom>
            <a:noFill/>
            <a:ln w="12700">
              <a:noFill/>
              <a:miter lim="800000"/>
              <a:headEnd/>
              <a:tailEnd/>
            </a:ln>
          </p:spPr>
          <p:txBody>
            <a:bodyPr wrap="none">
              <a:spAutoFit/>
            </a:bodyPr>
            <a:lstStyle/>
            <a:p>
              <a:pPr eaLnBrk="0" hangingPunct="0"/>
              <a:r>
                <a:rPr lang="en-US" sz="2000">
                  <a:latin typeface="Arial" charset="0"/>
                </a:rPr>
                <a:t>Lợi ích</a:t>
              </a:r>
            </a:p>
            <a:p>
              <a:pPr eaLnBrk="0" hangingPunct="0"/>
              <a:r>
                <a:rPr lang="en-US" sz="2000">
                  <a:latin typeface="Arial" charset="0"/>
                </a:rPr>
                <a:t>cốt lõi</a:t>
              </a:r>
              <a:endParaRPr lang="en-US" sz="2400">
                <a:solidFill>
                  <a:schemeClr val="tx2"/>
                </a:solidFill>
                <a:latin typeface="Arial" charset="0"/>
              </a:endParaRPr>
            </a:p>
          </p:txBody>
        </p:sp>
      </p:grpSp>
      <p:sp>
        <p:nvSpPr>
          <p:cNvPr id="16" name="Rectangle 16"/>
          <p:cNvSpPr txBox="1">
            <a:spLocks noChangeArrowheads="1"/>
          </p:cNvSpPr>
          <p:nvPr/>
        </p:nvSpPr>
        <p:spPr>
          <a:xfrm>
            <a:off x="228600" y="2057400"/>
            <a:ext cx="5377543" cy="762000"/>
          </a:xfrm>
          <a:prstGeom prst="rect">
            <a:avLst/>
          </a:prstGeom>
          <a:noFill/>
        </p:spPr>
        <p:txBody>
          <a:bodyPr vert="horz" lIns="90488" tIns="44450" rIns="90488" bIns="44450" rtlCol="0">
            <a:normAutofit/>
          </a:bodyPr>
          <a:lstStyle/>
          <a:p>
            <a:pPr marL="342900" marR="0" lvl="0" indent="-34290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err="1">
                <a:ln>
                  <a:noFill/>
                </a:ln>
                <a:solidFill>
                  <a:srgbClr val="FF0000"/>
                </a:solidFill>
                <a:effectLst/>
                <a:uLnTx/>
                <a:uFillTx/>
                <a:latin typeface="Times New Roman" pitchFamily="18" charset="0"/>
                <a:cs typeface="Times New Roman" pitchFamily="18" charset="0"/>
              </a:rPr>
              <a:t>Lợi</a:t>
            </a:r>
            <a:r>
              <a:rPr kumimoji="0" lang="en-US" sz="2000" b="0" i="0" u="none" strike="noStrike" kern="1200" cap="none" spc="0" normalizeH="0" baseline="0" noProof="0" dirty="0">
                <a:ln>
                  <a:noFill/>
                </a:ln>
                <a:solidFill>
                  <a:srgbClr val="FF0000"/>
                </a:solidFill>
                <a:effectLst/>
                <a:uLnTx/>
                <a:uFillTx/>
                <a:latin typeface="Times New Roman" pitchFamily="18" charset="0"/>
                <a:cs typeface="Times New Roman" pitchFamily="18" charset="0"/>
              </a:rPr>
              <a:t> </a:t>
            </a:r>
            <a:r>
              <a:rPr kumimoji="0" lang="en-US" sz="2000" b="0" i="0" u="none" strike="noStrike" kern="1200" cap="none" spc="0" normalizeH="0" baseline="0" noProof="0" dirty="0" err="1">
                <a:ln>
                  <a:noFill/>
                </a:ln>
                <a:solidFill>
                  <a:srgbClr val="FF0000"/>
                </a:solidFill>
                <a:effectLst/>
                <a:uLnTx/>
                <a:uFillTx/>
                <a:latin typeface="Times New Roman" pitchFamily="18" charset="0"/>
                <a:cs typeface="Times New Roman" pitchFamily="18" charset="0"/>
              </a:rPr>
              <a:t>ích</a:t>
            </a:r>
            <a:r>
              <a:rPr kumimoji="0" lang="en-US" sz="2000" b="0" i="0" u="none" strike="noStrike" kern="1200" cap="none" spc="0" normalizeH="0" baseline="0" noProof="0" dirty="0">
                <a:ln>
                  <a:noFill/>
                </a:ln>
                <a:solidFill>
                  <a:srgbClr val="FF0000"/>
                </a:solidFill>
                <a:effectLst/>
                <a:uLnTx/>
                <a:uFillTx/>
                <a:latin typeface="Times New Roman" pitchFamily="18" charset="0"/>
                <a:cs typeface="Times New Roman" pitchFamily="18" charset="0"/>
              </a:rPr>
              <a:t> </a:t>
            </a:r>
            <a:r>
              <a:rPr kumimoji="0" lang="en-US" sz="2000" b="0" i="0" u="none" strike="noStrike" kern="1200" cap="none" spc="0" normalizeH="0" baseline="0" noProof="0" dirty="0" err="1">
                <a:ln>
                  <a:noFill/>
                </a:ln>
                <a:solidFill>
                  <a:srgbClr val="FF0000"/>
                </a:solidFill>
                <a:effectLst/>
                <a:uLnTx/>
                <a:uFillTx/>
                <a:latin typeface="Times New Roman" pitchFamily="18" charset="0"/>
                <a:cs typeface="Times New Roman" pitchFamily="18" charset="0"/>
              </a:rPr>
              <a:t>cốt</a:t>
            </a:r>
            <a:r>
              <a:rPr kumimoji="0" lang="en-US" sz="2000" b="0" i="0" u="none" strike="noStrike" kern="1200" cap="none" spc="0" normalizeH="0" baseline="0" noProof="0" dirty="0">
                <a:ln>
                  <a:noFill/>
                </a:ln>
                <a:solidFill>
                  <a:srgbClr val="FF0000"/>
                </a:solidFill>
                <a:effectLst/>
                <a:uLnTx/>
                <a:uFillTx/>
                <a:latin typeface="Times New Roman" pitchFamily="18" charset="0"/>
                <a:cs typeface="Times New Roman" pitchFamily="18" charset="0"/>
              </a:rPr>
              <a:t> </a:t>
            </a:r>
            <a:r>
              <a:rPr kumimoji="0" lang="en-US" sz="2000" b="0" i="0" u="none" strike="noStrike" kern="1200" cap="none" spc="0" normalizeH="0" baseline="0" noProof="0" dirty="0" err="1">
                <a:ln>
                  <a:noFill/>
                </a:ln>
                <a:solidFill>
                  <a:srgbClr val="FF0000"/>
                </a:solidFill>
                <a:effectLst/>
                <a:uLnTx/>
                <a:uFillTx/>
                <a:latin typeface="Times New Roman" pitchFamily="18" charset="0"/>
                <a:cs typeface="Times New Roman" pitchFamily="18" charset="0"/>
              </a:rPr>
              <a:t>lõi</a:t>
            </a:r>
            <a:r>
              <a:rPr kumimoji="0" lang="en-US" sz="2000" b="0" i="0" u="none" strike="noStrike" kern="1200" cap="none" spc="0" normalizeH="0" baseline="0" noProof="0" dirty="0">
                <a:ln>
                  <a:noFill/>
                </a:ln>
                <a:solidFill>
                  <a:srgbClr val="FF0000"/>
                </a:solidFill>
                <a:effectLst/>
                <a:uLnTx/>
                <a:uFillTx/>
                <a:latin typeface="Times New Roman" pitchFamily="18" charset="0"/>
                <a:cs typeface="Times New Roman" pitchFamily="18" charset="0"/>
              </a:rPr>
              <a:t>: </a:t>
            </a:r>
            <a:r>
              <a:rPr kumimoji="0" lang="en-US" sz="2000" b="0" i="0" u="none" strike="noStrike" kern="1200" cap="none" spc="0" normalizeH="0" baseline="0" noProof="0" dirty="0" err="1">
                <a:ln>
                  <a:noFill/>
                </a:ln>
                <a:solidFill>
                  <a:schemeClr val="tx1"/>
                </a:solidFill>
                <a:effectLst/>
                <a:uLnTx/>
                <a:uFillTx/>
                <a:latin typeface="Times New Roman" pitchFamily="18" charset="0"/>
                <a:cs typeface="Times New Roman" pitchFamily="18" charset="0"/>
              </a:rPr>
              <a:t>Lợi</a:t>
            </a:r>
            <a:r>
              <a:rPr kumimoji="0" lang="en-US"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a:t>
            </a:r>
            <a:r>
              <a:rPr kumimoji="0" lang="en-US" sz="2000" b="0" i="0" u="none" strike="noStrike" kern="1200" cap="none" spc="0" normalizeH="0" baseline="0" noProof="0" dirty="0" err="1">
                <a:ln>
                  <a:noFill/>
                </a:ln>
                <a:solidFill>
                  <a:schemeClr val="tx1"/>
                </a:solidFill>
                <a:effectLst/>
                <a:uLnTx/>
                <a:uFillTx/>
                <a:latin typeface="Times New Roman" pitchFamily="18" charset="0"/>
                <a:cs typeface="Times New Roman" pitchFamily="18" charset="0"/>
              </a:rPr>
              <a:t>ích</a:t>
            </a:r>
            <a:r>
              <a:rPr kumimoji="0" lang="en-US"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a:t>
            </a:r>
            <a:r>
              <a:rPr kumimoji="0" lang="en-US" sz="2000" b="0" i="0" u="none" strike="noStrike" kern="1200" cap="none" spc="0" normalizeH="0" baseline="0" noProof="0" dirty="0" err="1">
                <a:ln>
                  <a:noFill/>
                </a:ln>
                <a:solidFill>
                  <a:schemeClr val="tx1"/>
                </a:solidFill>
                <a:effectLst/>
                <a:uLnTx/>
                <a:uFillTx/>
                <a:latin typeface="Times New Roman" pitchFamily="18" charset="0"/>
                <a:cs typeface="Times New Roman" pitchFamily="18" charset="0"/>
              </a:rPr>
              <a:t>cơ</a:t>
            </a:r>
            <a:r>
              <a:rPr kumimoji="0" lang="en-US"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a:t>
            </a:r>
            <a:r>
              <a:rPr kumimoji="0" lang="en-US" sz="2000" b="0" i="0" u="none" strike="noStrike" kern="1200" cap="none" spc="0" normalizeH="0" baseline="0" noProof="0" dirty="0" err="1">
                <a:ln>
                  <a:noFill/>
                </a:ln>
                <a:solidFill>
                  <a:schemeClr val="tx1"/>
                </a:solidFill>
                <a:effectLst/>
                <a:uLnTx/>
                <a:uFillTx/>
                <a:latin typeface="Times New Roman" pitchFamily="18" charset="0"/>
                <a:cs typeface="Times New Roman" pitchFamily="18" charset="0"/>
              </a:rPr>
              <a:t>bản</a:t>
            </a:r>
            <a:r>
              <a:rPr kumimoji="0" lang="en-US"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a:t>
            </a:r>
            <a:r>
              <a:rPr kumimoji="0" lang="en-US" sz="2000" b="0" i="0" u="none" strike="noStrike" kern="1200" cap="none" spc="0" normalizeH="0" baseline="0" noProof="0" dirty="0" err="1">
                <a:ln>
                  <a:noFill/>
                </a:ln>
                <a:solidFill>
                  <a:schemeClr val="tx1"/>
                </a:solidFill>
                <a:effectLst/>
                <a:uLnTx/>
                <a:uFillTx/>
                <a:latin typeface="Times New Roman" pitchFamily="18" charset="0"/>
                <a:cs typeface="Times New Roman" pitchFamily="18" charset="0"/>
              </a:rPr>
              <a:t>thu</a:t>
            </a:r>
            <a:r>
              <a:rPr kumimoji="0" lang="en-US"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a:t>
            </a:r>
            <a:r>
              <a:rPr kumimoji="0" lang="en-US" sz="2000" b="0" i="0" u="none" strike="noStrike" kern="1200" cap="none" spc="0" normalizeH="0" baseline="0" noProof="0" dirty="0" err="1">
                <a:ln>
                  <a:noFill/>
                </a:ln>
                <a:solidFill>
                  <a:schemeClr val="tx1"/>
                </a:solidFill>
                <a:effectLst/>
                <a:uLnTx/>
                <a:uFillTx/>
                <a:latin typeface="Times New Roman" pitchFamily="18" charset="0"/>
                <a:cs typeface="Times New Roman" pitchFamily="18" charset="0"/>
              </a:rPr>
              <a:t>được</a:t>
            </a:r>
            <a:r>
              <a:rPr kumimoji="0" lang="en-US"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a:t>
            </a:r>
            <a:r>
              <a:rPr kumimoji="0" lang="en-US" sz="2000" b="0" i="0" u="none" strike="noStrike" kern="1200" cap="none" spc="0" normalizeH="0" baseline="0" noProof="0" dirty="0" err="1">
                <a:ln>
                  <a:noFill/>
                </a:ln>
                <a:solidFill>
                  <a:schemeClr val="tx1"/>
                </a:solidFill>
                <a:effectLst/>
                <a:uLnTx/>
                <a:uFillTx/>
                <a:latin typeface="Times New Roman" pitchFamily="18" charset="0"/>
                <a:cs typeface="Times New Roman" pitchFamily="18" charset="0"/>
              </a:rPr>
              <a:t>từ</a:t>
            </a:r>
            <a:r>
              <a:rPr kumimoji="0" lang="en-US"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SP </a:t>
            </a:r>
            <a:r>
              <a:rPr kumimoji="0" lang="en-US" sz="2000" b="0" i="0" u="none" strike="noStrike" kern="1200" cap="none" spc="0" normalizeH="0" baseline="0" noProof="0" dirty="0" err="1">
                <a:ln>
                  <a:noFill/>
                </a:ln>
                <a:solidFill>
                  <a:schemeClr val="tx1"/>
                </a:solidFill>
                <a:effectLst/>
                <a:uLnTx/>
                <a:uFillTx/>
                <a:latin typeface="Times New Roman" pitchFamily="18" charset="0"/>
                <a:cs typeface="Times New Roman" pitchFamily="18" charset="0"/>
              </a:rPr>
              <a:t>sau</a:t>
            </a:r>
            <a:r>
              <a:rPr kumimoji="0" lang="en-US"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a:t>
            </a:r>
            <a:r>
              <a:rPr kumimoji="0" lang="en-US" sz="2000" b="0" i="0" u="none" strike="noStrike" kern="1200" cap="none" spc="0" normalizeH="0" baseline="0" noProof="0" dirty="0" err="1">
                <a:ln>
                  <a:noFill/>
                </a:ln>
                <a:solidFill>
                  <a:schemeClr val="tx1"/>
                </a:solidFill>
                <a:effectLst/>
                <a:uLnTx/>
                <a:uFillTx/>
                <a:latin typeface="Times New Roman" pitchFamily="18" charset="0"/>
                <a:cs typeface="Times New Roman" pitchFamily="18" charset="0"/>
              </a:rPr>
              <a:t>khi</a:t>
            </a:r>
            <a:r>
              <a:rPr kumimoji="0" lang="en-US"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 </a:t>
            </a:r>
            <a:r>
              <a:rPr kumimoji="0" lang="en-US" sz="2000" b="0" i="0" u="none" strike="noStrike" kern="1200" cap="none" spc="0" normalizeH="0" baseline="0" noProof="0" dirty="0" err="1">
                <a:ln>
                  <a:noFill/>
                </a:ln>
                <a:solidFill>
                  <a:schemeClr val="tx1"/>
                </a:solidFill>
                <a:effectLst/>
                <a:uLnTx/>
                <a:uFillTx/>
                <a:latin typeface="Times New Roman" pitchFamily="18" charset="0"/>
                <a:cs typeface="Times New Roman" pitchFamily="18" charset="0"/>
              </a:rPr>
              <a:t>mua</a:t>
            </a:r>
            <a:r>
              <a:rPr kumimoji="0" lang="en-US"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a:t>
            </a:r>
          </a:p>
        </p:txBody>
      </p:sp>
      <p:sp>
        <p:nvSpPr>
          <p:cNvPr id="17" name="Rectangle 23"/>
          <p:cNvSpPr>
            <a:spLocks noChangeArrowheads="1"/>
          </p:cNvSpPr>
          <p:nvPr/>
        </p:nvSpPr>
        <p:spPr bwMode="auto">
          <a:xfrm>
            <a:off x="228600" y="2819400"/>
            <a:ext cx="4953000" cy="1066800"/>
          </a:xfrm>
          <a:prstGeom prst="rect">
            <a:avLst/>
          </a:prstGeom>
          <a:noFill/>
          <a:ln w="12700">
            <a:noFill/>
            <a:miter lim="800000"/>
            <a:headEnd/>
            <a:tailEnd/>
          </a:ln>
        </p:spPr>
        <p:txBody>
          <a:bodyPr lIns="90488" tIns="44450" rIns="90488" bIns="44450"/>
          <a:lstStyle/>
          <a:p>
            <a:pPr marL="342900" indent="-342900">
              <a:lnSpc>
                <a:spcPct val="90000"/>
              </a:lnSpc>
              <a:spcBef>
                <a:spcPct val="20000"/>
              </a:spcBef>
              <a:buFontTx/>
              <a:buBlip>
                <a:blip r:embed="rId2"/>
              </a:buBlip>
            </a:pPr>
            <a:r>
              <a:rPr lang="en-US" sz="2000" dirty="0" err="1">
                <a:solidFill>
                  <a:srgbClr val="FF0000"/>
                </a:solidFill>
                <a:latin typeface="Times New Roman" pitchFamily="18" charset="0"/>
                <a:cs typeface="Times New Roman" pitchFamily="18" charset="0"/>
              </a:rPr>
              <a:t>Sản</a:t>
            </a:r>
            <a:r>
              <a:rPr lang="en-US" sz="2000" dirty="0">
                <a:solidFill>
                  <a:srgbClr val="FF0000"/>
                </a:solidFill>
                <a:latin typeface="Times New Roman" pitchFamily="18" charset="0"/>
                <a:cs typeface="Times New Roman" pitchFamily="18" charset="0"/>
              </a:rPr>
              <a:t> </a:t>
            </a:r>
            <a:r>
              <a:rPr lang="en-US" sz="2000" dirty="0" err="1">
                <a:solidFill>
                  <a:srgbClr val="FF0000"/>
                </a:solidFill>
                <a:latin typeface="Times New Roman" pitchFamily="18" charset="0"/>
                <a:cs typeface="Times New Roman" pitchFamily="18" charset="0"/>
              </a:rPr>
              <a:t>phẩm</a:t>
            </a:r>
            <a:r>
              <a:rPr lang="en-US" sz="2000" dirty="0">
                <a:solidFill>
                  <a:srgbClr val="FF0000"/>
                </a:solidFill>
                <a:latin typeface="Times New Roman" pitchFamily="18" charset="0"/>
                <a:cs typeface="Times New Roman" pitchFamily="18" charset="0"/>
              </a:rPr>
              <a:t> </a:t>
            </a:r>
            <a:r>
              <a:rPr lang="en-US" sz="2000" dirty="0" err="1">
                <a:solidFill>
                  <a:srgbClr val="FF0000"/>
                </a:solidFill>
                <a:latin typeface="Times New Roman" pitchFamily="18" charset="0"/>
                <a:cs typeface="Times New Roman" pitchFamily="18" charset="0"/>
              </a:rPr>
              <a:t>cơ</a:t>
            </a:r>
            <a:r>
              <a:rPr lang="en-US" sz="2000" dirty="0">
                <a:solidFill>
                  <a:srgbClr val="FF0000"/>
                </a:solidFill>
                <a:latin typeface="Times New Roman" pitchFamily="18" charset="0"/>
                <a:cs typeface="Times New Roman" pitchFamily="18" charset="0"/>
              </a:rPr>
              <a:t> </a:t>
            </a:r>
            <a:r>
              <a:rPr lang="en-US" sz="2000" dirty="0" err="1">
                <a:solidFill>
                  <a:srgbClr val="FF0000"/>
                </a:solidFill>
                <a:latin typeface="Times New Roman" pitchFamily="18" charset="0"/>
                <a:cs typeface="Times New Roman" pitchFamily="18" charset="0"/>
              </a:rPr>
              <a:t>bản</a:t>
            </a:r>
            <a:r>
              <a:rPr lang="en-US" sz="2000" dirty="0">
                <a:solidFill>
                  <a:srgbClr val="FF0000"/>
                </a:solidFill>
                <a:latin typeface="Times New Roman" pitchFamily="18" charset="0"/>
                <a:cs typeface="Times New Roman" pitchFamily="18" charset="0"/>
              </a:rPr>
              <a:t>::</a:t>
            </a:r>
            <a:r>
              <a:rPr lang="en-US" sz="2000" dirty="0" err="1">
                <a:latin typeface="Times New Roman" pitchFamily="18" charset="0"/>
                <a:cs typeface="Times New Roman" pitchFamily="18" charset="0"/>
              </a:rPr>
              <a:t>Dạng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cơ</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bản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của</a:t>
            </a:r>
            <a:endParaRPr lang="en-US" sz="2000" dirty="0">
              <a:latin typeface="Times New Roman" pitchFamily="18" charset="0"/>
              <a:cs typeface="Times New Roman" pitchFamily="18" charset="0"/>
            </a:endParaRPr>
          </a:p>
          <a:p>
            <a:pPr marL="342900" indent="-342900">
              <a:lnSpc>
                <a:spcPct val="90000"/>
              </a:lnSpc>
            </a:pP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lợi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ích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cốt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lõi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về</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khía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cạnh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hữu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hình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vô</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hình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của</a:t>
            </a:r>
            <a:r>
              <a:rPr lang="en-US" sz="2000" dirty="0">
                <a:latin typeface="Times New Roman" pitchFamily="18" charset="0"/>
                <a:cs typeface="Times New Roman" pitchFamily="18" charset="0"/>
              </a:rPr>
              <a:t> SP.</a:t>
            </a:r>
          </a:p>
        </p:txBody>
      </p:sp>
      <p:sp>
        <p:nvSpPr>
          <p:cNvPr id="18" name="Rectangle 24"/>
          <p:cNvSpPr>
            <a:spLocks noChangeArrowheads="1"/>
          </p:cNvSpPr>
          <p:nvPr/>
        </p:nvSpPr>
        <p:spPr bwMode="auto">
          <a:xfrm>
            <a:off x="228600" y="3886200"/>
            <a:ext cx="4599214" cy="1066800"/>
          </a:xfrm>
          <a:prstGeom prst="rect">
            <a:avLst/>
          </a:prstGeom>
          <a:noFill/>
          <a:ln w="12700">
            <a:noFill/>
            <a:miter lim="800000"/>
            <a:headEnd/>
            <a:tailEnd/>
          </a:ln>
        </p:spPr>
        <p:txBody>
          <a:bodyPr lIns="90488" tIns="44450" rIns="90488" bIns="44450"/>
          <a:lstStyle/>
          <a:p>
            <a:pPr marL="342900" indent="-342900">
              <a:lnSpc>
                <a:spcPct val="90000"/>
              </a:lnSpc>
              <a:spcBef>
                <a:spcPct val="20000"/>
              </a:spcBef>
              <a:buFontTx/>
              <a:buBlip>
                <a:blip r:embed="rId2"/>
              </a:buBlip>
            </a:pPr>
            <a:r>
              <a:rPr lang="en-US" sz="2000">
                <a:solidFill>
                  <a:srgbClr val="FF0000"/>
                </a:solidFill>
                <a:latin typeface="Times New Roman" pitchFamily="18" charset="0"/>
                <a:cs typeface="Times New Roman" pitchFamily="18" charset="0"/>
              </a:rPr>
              <a:t>Sản phẩm mong đợi: </a:t>
            </a:r>
            <a:r>
              <a:rPr lang="en-US" sz="2000">
                <a:latin typeface="Times New Roman" pitchFamily="18" charset="0"/>
                <a:cs typeface="Times New Roman" pitchFamily="18" charset="0"/>
              </a:rPr>
              <a:t>Tập hợp thuộc tính &amp; điều kiện được mong</a:t>
            </a:r>
          </a:p>
          <a:p>
            <a:pPr marL="342900" indent="-342900">
              <a:lnSpc>
                <a:spcPct val="90000"/>
              </a:lnSpc>
            </a:pPr>
            <a:r>
              <a:rPr lang="en-US" sz="2000">
                <a:latin typeface="Times New Roman" pitchFamily="18" charset="0"/>
                <a:cs typeface="Times New Roman" pitchFamily="18" charset="0"/>
              </a:rPr>
              <a:t>    đợi, chấp thuận của người mua</a:t>
            </a:r>
          </a:p>
        </p:txBody>
      </p:sp>
      <p:sp>
        <p:nvSpPr>
          <p:cNvPr id="19" name="Rectangle 25"/>
          <p:cNvSpPr>
            <a:spLocks noChangeArrowheads="1"/>
          </p:cNvSpPr>
          <p:nvPr/>
        </p:nvSpPr>
        <p:spPr bwMode="auto">
          <a:xfrm>
            <a:off x="228600" y="5105400"/>
            <a:ext cx="4599214" cy="762000"/>
          </a:xfrm>
          <a:prstGeom prst="rect">
            <a:avLst/>
          </a:prstGeom>
          <a:noFill/>
          <a:ln w="12700">
            <a:noFill/>
            <a:miter lim="800000"/>
            <a:headEnd/>
            <a:tailEnd/>
          </a:ln>
        </p:spPr>
        <p:txBody>
          <a:bodyPr lIns="90488" tIns="44450" rIns="90488" bIns="44450"/>
          <a:lstStyle/>
          <a:p>
            <a:pPr marL="342900" indent="-342900">
              <a:lnSpc>
                <a:spcPct val="90000"/>
              </a:lnSpc>
              <a:spcBef>
                <a:spcPct val="20000"/>
              </a:spcBef>
              <a:buFontTx/>
              <a:buBlip>
                <a:blip r:embed="rId2"/>
              </a:buBlip>
            </a:pPr>
            <a:r>
              <a:rPr lang="en-US" sz="2000" dirty="0">
                <a:solidFill>
                  <a:srgbClr val="FF0000"/>
                </a:solidFill>
                <a:latin typeface="Times New Roman" pitchFamily="18" charset="0"/>
                <a:cs typeface="Times New Roman" pitchFamily="18" charset="0"/>
              </a:rPr>
              <a:t>Sản phẩm </a:t>
            </a:r>
            <a:r>
              <a:rPr lang="en-US" sz="2000" dirty="0" err="1">
                <a:solidFill>
                  <a:srgbClr val="FF0000"/>
                </a:solidFill>
                <a:latin typeface="Times New Roman" pitchFamily="18" charset="0"/>
                <a:cs typeface="Times New Roman" pitchFamily="18" charset="0"/>
              </a:rPr>
              <a:t>gia</a:t>
            </a:r>
            <a:r>
              <a:rPr lang="en-US" sz="2000" dirty="0">
                <a:solidFill>
                  <a:srgbClr val="FF0000"/>
                </a:solidFill>
                <a:latin typeface="Times New Roman" pitchFamily="18" charset="0"/>
                <a:cs typeface="Times New Roman" pitchFamily="18" charset="0"/>
              </a:rPr>
              <a:t> </a:t>
            </a:r>
            <a:r>
              <a:rPr lang="en-US" sz="2000" dirty="0" err="1">
                <a:solidFill>
                  <a:srgbClr val="FF0000"/>
                </a:solidFill>
                <a:latin typeface="Times New Roman" pitchFamily="18" charset="0"/>
                <a:cs typeface="Times New Roman" pitchFamily="18" charset="0"/>
              </a:rPr>
              <a:t>tăng</a:t>
            </a:r>
            <a:r>
              <a:rPr lang="en-US" sz="2000" dirty="0">
                <a:solidFill>
                  <a:srgbClr val="FF0000"/>
                </a:solidFill>
                <a:latin typeface="Times New Roman" pitchFamily="18" charset="0"/>
                <a:cs typeface="Times New Roman" pitchFamily="18" charset="0"/>
              </a:rPr>
              <a:t> (</a:t>
            </a:r>
            <a:r>
              <a:rPr lang="en-US" sz="2000" dirty="0" err="1">
                <a:solidFill>
                  <a:srgbClr val="FF0000"/>
                </a:solidFill>
                <a:latin typeface="Times New Roman" pitchFamily="18" charset="0"/>
                <a:cs typeface="Times New Roman" pitchFamily="18" charset="0"/>
              </a:rPr>
              <a:t>sp</a:t>
            </a:r>
            <a:r>
              <a:rPr lang="en-US" sz="2000" dirty="0">
                <a:solidFill>
                  <a:srgbClr val="FF0000"/>
                </a:solidFill>
                <a:latin typeface="Times New Roman" pitchFamily="18" charset="0"/>
                <a:cs typeface="Times New Roman" pitchFamily="18" charset="0"/>
              </a:rPr>
              <a:t> </a:t>
            </a:r>
            <a:r>
              <a:rPr lang="en-US" sz="2000" dirty="0" err="1">
                <a:solidFill>
                  <a:srgbClr val="FF0000"/>
                </a:solidFill>
                <a:latin typeface="Times New Roman" pitchFamily="18" charset="0"/>
                <a:cs typeface="Times New Roman" pitchFamily="18" charset="0"/>
              </a:rPr>
              <a:t>bổ</a:t>
            </a:r>
            <a:r>
              <a:rPr lang="en-US" sz="2000" dirty="0">
                <a:solidFill>
                  <a:srgbClr val="FF0000"/>
                </a:solidFill>
                <a:latin typeface="Times New Roman" pitchFamily="18" charset="0"/>
                <a:cs typeface="Times New Roman" pitchFamily="18" charset="0"/>
              </a:rPr>
              <a:t> sung): </a:t>
            </a:r>
            <a:r>
              <a:rPr lang="en-US" sz="2000" dirty="0" err="1">
                <a:latin typeface="Times New Roman" pitchFamily="18" charset="0"/>
                <a:cs typeface="Times New Roman" pitchFamily="18" charset="0"/>
              </a:rPr>
              <a:t>Dịch</a:t>
            </a:r>
            <a:r>
              <a:rPr lang="en-US" sz="2000" dirty="0">
                <a:latin typeface="Times New Roman" pitchFamily="18" charset="0"/>
                <a:cs typeface="Times New Roman" pitchFamily="18" charset="0"/>
              </a:rPr>
              <a:t> vụ và lợi ích phụ thêm khác với đối thủ</a:t>
            </a:r>
          </a:p>
        </p:txBody>
      </p:sp>
      <p:sp>
        <p:nvSpPr>
          <p:cNvPr id="20" name="Rectangle 26"/>
          <p:cNvSpPr>
            <a:spLocks noChangeArrowheads="1"/>
          </p:cNvSpPr>
          <p:nvPr/>
        </p:nvSpPr>
        <p:spPr bwMode="auto">
          <a:xfrm>
            <a:off x="228600" y="5943600"/>
            <a:ext cx="4953000" cy="762000"/>
          </a:xfrm>
          <a:prstGeom prst="rect">
            <a:avLst/>
          </a:prstGeom>
          <a:noFill/>
          <a:ln w="12700">
            <a:noFill/>
            <a:miter lim="800000"/>
            <a:headEnd/>
            <a:tailEnd/>
          </a:ln>
        </p:spPr>
        <p:txBody>
          <a:bodyPr lIns="90488" tIns="44450" rIns="90488" bIns="44450"/>
          <a:lstStyle/>
          <a:p>
            <a:pPr marL="342900" indent="-342900">
              <a:lnSpc>
                <a:spcPct val="90000"/>
              </a:lnSpc>
              <a:spcBef>
                <a:spcPct val="20000"/>
              </a:spcBef>
              <a:buFontTx/>
              <a:buBlip>
                <a:blip r:embed="rId2"/>
              </a:buBlip>
            </a:pPr>
            <a:r>
              <a:rPr lang="en-US" sz="2000">
                <a:solidFill>
                  <a:srgbClr val="FF0000"/>
                </a:solidFill>
                <a:latin typeface="Times New Roman" pitchFamily="18" charset="0"/>
                <a:cs typeface="Times New Roman" pitchFamily="18" charset="0"/>
              </a:rPr>
              <a:t>Sản phẩm tiềm ẩn</a:t>
            </a:r>
            <a:r>
              <a:rPr lang="en-US" sz="2000">
                <a:solidFill>
                  <a:srgbClr val="FFFF66"/>
                </a:solidFill>
                <a:latin typeface="Times New Roman" pitchFamily="18" charset="0"/>
                <a:cs typeface="Times New Roman" pitchFamily="18" charset="0"/>
              </a:rPr>
              <a:t>:</a:t>
            </a:r>
            <a:r>
              <a:rPr lang="en-US" sz="2000">
                <a:solidFill>
                  <a:srgbClr val="FFFF99"/>
                </a:solidFill>
                <a:latin typeface="Times New Roman" pitchFamily="18" charset="0"/>
                <a:cs typeface="Times New Roman" pitchFamily="18" charset="0"/>
              </a:rPr>
              <a:t> </a:t>
            </a:r>
            <a:r>
              <a:rPr lang="en-US" sz="2000">
                <a:latin typeface="Times New Roman" pitchFamily="18" charset="0"/>
                <a:cs typeface="Times New Roman" pitchFamily="18" charset="0"/>
              </a:rPr>
              <a:t>Sự hoàn thiện và biến đổi của SP trong tương lai.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0-#ppt_w/2"/>
                                          </p:val>
                                        </p:tav>
                                        <p:tav tm="100000">
                                          <p:val>
                                            <p:strVal val="#ppt_x"/>
                                          </p:val>
                                        </p:tav>
                                      </p:tavLst>
                                    </p:anim>
                                    <p:anim calcmode="lin" valueType="num">
                                      <p:cBhvr additive="base">
                                        <p:cTn id="14"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0-#ppt_w/2"/>
                                          </p:val>
                                        </p:tav>
                                        <p:tav tm="100000">
                                          <p:val>
                                            <p:strVal val="#ppt_x"/>
                                          </p:val>
                                        </p:tav>
                                      </p:tavLst>
                                    </p:anim>
                                    <p:anim calcmode="lin" valueType="num">
                                      <p:cBhvr additive="base">
                                        <p:cTn id="26"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0-#ppt_w/2"/>
                                          </p:val>
                                        </p:tav>
                                        <p:tav tm="100000">
                                          <p:val>
                                            <p:strVal val="#ppt_x"/>
                                          </p:val>
                                        </p:tav>
                                      </p:tavLst>
                                    </p:anim>
                                    <p:anim calcmode="lin" valueType="num">
                                      <p:cBhvr additive="base">
                                        <p:cTn id="32"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autoUpdateAnimBg="0"/>
      <p:bldP spid="18" grpId="0"/>
      <p:bldP spid="19" grpId="0"/>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1E4C3-DBC4-44D5-AE1A-EBDC5B8CC58A}"/>
              </a:ext>
            </a:extLst>
          </p:cNvPr>
          <p:cNvSpPr>
            <a:spLocks noGrp="1"/>
          </p:cNvSpPr>
          <p:nvPr>
            <p:ph type="title"/>
          </p:nvPr>
        </p:nvSpPr>
        <p:spPr/>
        <p:txBody>
          <a:bodyPr/>
          <a:lstStyle/>
          <a:p>
            <a:r>
              <a:rPr lang="en-US" dirty="0" err="1">
                <a:solidFill>
                  <a:srgbClr val="FF0000"/>
                </a:solidFill>
                <a:highlight>
                  <a:srgbClr val="FFFF00"/>
                </a:highlight>
              </a:rPr>
              <a:t>Lớp</a:t>
            </a:r>
            <a:endParaRPr lang="en-US" dirty="0">
              <a:solidFill>
                <a:srgbClr val="FF0000"/>
              </a:solidFill>
              <a:highlight>
                <a:srgbClr val="FFFF00"/>
              </a:highlight>
            </a:endParaRPr>
          </a:p>
        </p:txBody>
      </p:sp>
      <p:sp>
        <p:nvSpPr>
          <p:cNvPr id="3" name="Content Placeholder 2">
            <a:extLst>
              <a:ext uri="{FF2B5EF4-FFF2-40B4-BE49-F238E27FC236}">
                <a16:creationId xmlns:a16="http://schemas.microsoft.com/office/drawing/2014/main" id="{F514FE14-342D-41B2-94DF-949C4FBC1AAE}"/>
              </a:ext>
            </a:extLst>
          </p:cNvPr>
          <p:cNvSpPr>
            <a:spLocks noGrp="1"/>
          </p:cNvSpPr>
          <p:nvPr>
            <p:ph idx="1"/>
          </p:nvPr>
        </p:nvSpPr>
        <p:spPr>
          <a:xfrm>
            <a:off x="609599" y="1447800"/>
            <a:ext cx="7924802" cy="5410200"/>
          </a:xfrm>
        </p:spPr>
        <p:txBody>
          <a:bodyPr>
            <a:normAutofit/>
          </a:bodyPr>
          <a:lstStyle/>
          <a:p>
            <a:r>
              <a:rPr lang="en-US" sz="3600" dirty="0">
                <a:highlight>
                  <a:srgbClr val="FFFF00"/>
                </a:highlight>
                <a:latin typeface="Times New Roman" panose="02020603050405020304" pitchFamily="18" charset="0"/>
                <a:cs typeface="Times New Roman" panose="02020603050405020304" pitchFamily="18" charset="0"/>
              </a:rPr>
              <a:t>1. </a:t>
            </a:r>
            <a:r>
              <a:rPr lang="it-IT" sz="3600" i="1" dirty="0">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Giá trị cốt lõi: dinh dưỡng</a:t>
            </a:r>
          </a:p>
          <a:p>
            <a:r>
              <a:rPr lang="it-IT" sz="3600" i="1" dirty="0">
                <a:highlight>
                  <a:srgbClr val="FFFF00"/>
                </a:highlight>
                <a:latin typeface="Times New Roman" panose="02020603050405020304" pitchFamily="18" charset="0"/>
                <a:cs typeface="Times New Roman" panose="02020603050405020304" pitchFamily="18" charset="0"/>
              </a:rPr>
              <a:t>2. </a:t>
            </a:r>
            <a:r>
              <a:rPr lang="it-IT" sz="3600" i="1" dirty="0">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Giá trị thực tế: sưa ensure mama # </a:t>
            </a:r>
          </a:p>
          <a:p>
            <a:r>
              <a:rPr lang="it-IT" sz="3600" i="1" dirty="0">
                <a:highlight>
                  <a:srgbClr val="FFFF00"/>
                </a:highlight>
                <a:latin typeface="Times New Roman" panose="02020603050405020304" pitchFamily="18" charset="0"/>
                <a:ea typeface="Calibri" panose="020F0502020204030204" pitchFamily="34" charset="0"/>
                <a:cs typeface="Times New Roman" panose="02020603050405020304" pitchFamily="18" charset="0"/>
              </a:rPr>
              <a:t>Bánh dinh dưỡng ensure mum</a:t>
            </a:r>
          </a:p>
          <a:p>
            <a:r>
              <a:rPr lang="it-IT" sz="3600" i="1" dirty="0">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3. Giá trị gia tăng: dv CSKH, ck, quà tặng </a:t>
            </a:r>
            <a:endParaRPr lang="en-US" sz="3600"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0970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5257800" cy="762000"/>
          </a:xfrm>
        </p:spPr>
        <p:style>
          <a:lnRef idx="3">
            <a:schemeClr val="lt1"/>
          </a:lnRef>
          <a:fillRef idx="1">
            <a:schemeClr val="accent2"/>
          </a:fillRef>
          <a:effectRef idx="1">
            <a:schemeClr val="accent2"/>
          </a:effectRef>
          <a:fontRef idx="minor">
            <a:schemeClr val="lt1"/>
          </a:fontRef>
        </p:style>
        <p:txBody>
          <a:bodyPr>
            <a:normAutofit/>
          </a:bodyPr>
          <a:lstStyle/>
          <a:p>
            <a:pPr algn="l"/>
            <a:r>
              <a:rPr lang="en-US" dirty="0" err="1">
                <a:latin typeface="Times New Roman" panose="02020603050405020304" pitchFamily="18" charset="0"/>
                <a:cs typeface="Times New Roman" panose="02020603050405020304" pitchFamily="18" charset="0"/>
              </a:rPr>
              <a:t>Phân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phẩm</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8600" y="1066800"/>
            <a:ext cx="8534400" cy="914400"/>
          </a:xfrm>
        </p:spPr>
        <p:txBody>
          <a:bodyPr>
            <a:normAutofit/>
          </a:bodyPr>
          <a:lstStyle/>
          <a:p>
            <a:pPr>
              <a:buNone/>
            </a:pPr>
            <a:r>
              <a:rPr lang="en-US" sz="3200" dirty="0">
                <a:solidFill>
                  <a:srgbClr val="FF0000"/>
                </a:solidFill>
                <a:latin typeface="Times New Roman" panose="02020603050405020304" pitchFamily="18" charset="0"/>
                <a:cs typeface="Times New Roman" panose="02020603050405020304" pitchFamily="18" charset="0"/>
              </a:rPr>
              <a:t>- </a:t>
            </a:r>
            <a:r>
              <a:rPr lang="en-US" sz="3200" b="1" dirty="0" err="1">
                <a:solidFill>
                  <a:srgbClr val="FF0000"/>
                </a:solidFill>
                <a:latin typeface="Times New Roman" panose="02020603050405020304" pitchFamily="18" charset="0"/>
                <a:cs typeface="Times New Roman" panose="02020603050405020304" pitchFamily="18" charset="0"/>
              </a:rPr>
              <a:t>Hàng</a:t>
            </a:r>
            <a:r>
              <a:rPr lang="en-US" sz="3200" b="1" dirty="0">
                <a:solidFill>
                  <a:srgbClr val="FF0000"/>
                </a:solidFill>
                <a:latin typeface="Times New Roman" panose="02020603050405020304" pitchFamily="18" charset="0"/>
                <a:cs typeface="Times New Roman" panose="02020603050405020304" pitchFamily="18" charset="0"/>
              </a:rPr>
              <a:t> </a:t>
            </a:r>
            <a:r>
              <a:rPr lang="en-US" sz="3200" b="1" dirty="0" err="1">
                <a:solidFill>
                  <a:srgbClr val="FF0000"/>
                </a:solidFill>
                <a:latin typeface="Times New Roman" panose="02020603050405020304" pitchFamily="18" charset="0"/>
                <a:cs typeface="Times New Roman" panose="02020603050405020304" pitchFamily="18" charset="0"/>
              </a:rPr>
              <a:t>lâu</a:t>
            </a:r>
            <a:r>
              <a:rPr lang="en-US" sz="3200" b="1" dirty="0">
                <a:solidFill>
                  <a:srgbClr val="FF0000"/>
                </a:solidFill>
                <a:latin typeface="Times New Roman" panose="02020603050405020304" pitchFamily="18" charset="0"/>
                <a:cs typeface="Times New Roman" panose="02020603050405020304" pitchFamily="18" charset="0"/>
              </a:rPr>
              <a:t> </a:t>
            </a:r>
            <a:r>
              <a:rPr lang="en-US" sz="3200" b="1" dirty="0" err="1">
                <a:solidFill>
                  <a:srgbClr val="FF0000"/>
                </a:solidFill>
                <a:latin typeface="Times New Roman" panose="02020603050405020304" pitchFamily="18" charset="0"/>
                <a:cs typeface="Times New Roman" panose="02020603050405020304" pitchFamily="18" charset="0"/>
              </a:rPr>
              <a:t>bền</a:t>
            </a:r>
            <a:r>
              <a:rPr lang="en-US" sz="3200" b="1" dirty="0">
                <a:solidFill>
                  <a:srgbClr val="FF0000"/>
                </a:solidFill>
                <a:latin typeface="Times New Roman" panose="02020603050405020304" pitchFamily="18" charset="0"/>
                <a:cs typeface="Times New Roman" panose="02020603050405020304" pitchFamily="18" charset="0"/>
              </a:rPr>
              <a:t>, </a:t>
            </a:r>
            <a:r>
              <a:rPr lang="en-US" sz="3200" b="1" dirty="0" err="1">
                <a:solidFill>
                  <a:srgbClr val="FF0000"/>
                </a:solidFill>
                <a:latin typeface="Times New Roman" panose="02020603050405020304" pitchFamily="18" charset="0"/>
                <a:cs typeface="Times New Roman" panose="02020603050405020304" pitchFamily="18" charset="0"/>
              </a:rPr>
              <a:t>hàng</a:t>
            </a:r>
            <a:r>
              <a:rPr lang="en-US" sz="3200" b="1" dirty="0">
                <a:solidFill>
                  <a:srgbClr val="FF0000"/>
                </a:solidFill>
                <a:latin typeface="Times New Roman" panose="02020603050405020304" pitchFamily="18" charset="0"/>
                <a:cs typeface="Times New Roman" panose="02020603050405020304" pitchFamily="18" charset="0"/>
              </a:rPr>
              <a:t> </a:t>
            </a:r>
            <a:r>
              <a:rPr lang="en-US" sz="3200" b="1" dirty="0" err="1">
                <a:solidFill>
                  <a:srgbClr val="FF0000"/>
                </a:solidFill>
                <a:latin typeface="Times New Roman" panose="02020603050405020304" pitchFamily="18" charset="0"/>
                <a:cs typeface="Times New Roman" panose="02020603050405020304" pitchFamily="18" charset="0"/>
              </a:rPr>
              <a:t>không</a:t>
            </a:r>
            <a:r>
              <a:rPr lang="en-US" sz="3200" b="1" dirty="0">
                <a:solidFill>
                  <a:srgbClr val="FF0000"/>
                </a:solidFill>
                <a:latin typeface="Times New Roman" panose="02020603050405020304" pitchFamily="18" charset="0"/>
                <a:cs typeface="Times New Roman" panose="02020603050405020304" pitchFamily="18" charset="0"/>
              </a:rPr>
              <a:t> </a:t>
            </a:r>
            <a:r>
              <a:rPr lang="en-US" sz="3200" b="1" dirty="0" err="1">
                <a:solidFill>
                  <a:srgbClr val="FF0000"/>
                </a:solidFill>
                <a:latin typeface="Times New Roman" panose="02020603050405020304" pitchFamily="18" charset="0"/>
                <a:cs typeface="Times New Roman" panose="02020603050405020304" pitchFamily="18" charset="0"/>
              </a:rPr>
              <a:t>bền</a:t>
            </a:r>
            <a:r>
              <a:rPr lang="en-US" sz="3200" b="1" dirty="0">
                <a:solidFill>
                  <a:srgbClr val="FF0000"/>
                </a:solidFill>
                <a:latin typeface="Times New Roman" panose="02020603050405020304" pitchFamily="18" charset="0"/>
                <a:cs typeface="Times New Roman" panose="02020603050405020304" pitchFamily="18" charset="0"/>
              </a:rPr>
              <a:t>, </a:t>
            </a:r>
            <a:r>
              <a:rPr lang="en-US" sz="3200" b="1" dirty="0" err="1">
                <a:solidFill>
                  <a:srgbClr val="FF0000"/>
                </a:solidFill>
                <a:latin typeface="Times New Roman" panose="02020603050405020304" pitchFamily="18" charset="0"/>
                <a:cs typeface="Times New Roman" panose="02020603050405020304" pitchFamily="18" charset="0"/>
              </a:rPr>
              <a:t>hàng</a:t>
            </a:r>
            <a:r>
              <a:rPr lang="en-US" sz="3200" b="1" dirty="0">
                <a:solidFill>
                  <a:srgbClr val="FF0000"/>
                </a:solidFill>
                <a:latin typeface="Times New Roman" panose="02020603050405020304" pitchFamily="18" charset="0"/>
                <a:cs typeface="Times New Roman" panose="02020603050405020304" pitchFamily="18" charset="0"/>
              </a:rPr>
              <a:t> </a:t>
            </a:r>
            <a:r>
              <a:rPr lang="en-US" sz="3200" b="1" dirty="0" err="1">
                <a:solidFill>
                  <a:srgbClr val="FF0000"/>
                </a:solidFill>
                <a:latin typeface="Times New Roman" panose="02020603050405020304" pitchFamily="18" charset="0"/>
                <a:cs typeface="Times New Roman" panose="02020603050405020304" pitchFamily="18" charset="0"/>
              </a:rPr>
              <a:t>dịch</a:t>
            </a:r>
            <a:r>
              <a:rPr lang="en-US" sz="3200" b="1" dirty="0">
                <a:solidFill>
                  <a:srgbClr val="FF0000"/>
                </a:solidFill>
                <a:latin typeface="Times New Roman" panose="02020603050405020304" pitchFamily="18" charset="0"/>
                <a:cs typeface="Times New Roman" panose="02020603050405020304" pitchFamily="18" charset="0"/>
              </a:rPr>
              <a:t> </a:t>
            </a:r>
            <a:r>
              <a:rPr lang="en-US" sz="3200" b="1" dirty="0" err="1">
                <a:solidFill>
                  <a:srgbClr val="FF0000"/>
                </a:solidFill>
                <a:latin typeface="Times New Roman" panose="02020603050405020304" pitchFamily="18" charset="0"/>
                <a:cs typeface="Times New Roman" panose="02020603050405020304" pitchFamily="18" charset="0"/>
              </a:rPr>
              <a:t>vụ</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4" name="Rectangle 7"/>
          <p:cNvSpPr txBox="1">
            <a:spLocks noChangeArrowheads="1"/>
          </p:cNvSpPr>
          <p:nvPr/>
        </p:nvSpPr>
        <p:spPr>
          <a:xfrm>
            <a:off x="228600" y="2209800"/>
            <a:ext cx="7010400" cy="3886200"/>
          </a:xfrm>
          <a:prstGeom prst="rect">
            <a:avLst/>
          </a:prstGeom>
          <a:noFill/>
        </p:spPr>
        <p:txBody>
          <a:bodyPr vert="horz" lIns="92075" tIns="46038" rIns="92075" bIns="46038" rtlCol="0">
            <a:noAutofit/>
          </a:bodyPr>
          <a:lstStyle/>
          <a:p>
            <a:pPr marL="342900" marR="0" lvl="0" indent="-342900" algn="l" defTabSz="914400" rtl="0" eaLnBrk="1" fontAlgn="auto" latinLnBrk="0" hangingPunct="1">
              <a:lnSpc>
                <a:spcPct val="150000"/>
              </a:lnSpc>
              <a:spcBef>
                <a:spcPct val="5000"/>
              </a:spcBef>
              <a:spcAft>
                <a:spcPts val="0"/>
              </a:spcAft>
              <a:buClrTx/>
              <a:buSzTx/>
              <a:buFont typeface="Arial" pitchFamily="34" charset="0"/>
              <a:buChar char="•"/>
              <a:tabLst/>
              <a:defRPr/>
            </a:pPr>
            <a:r>
              <a:rPr kumimoji="0" lang="en-US" sz="2600" b="1"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Hàng</a:t>
            </a:r>
            <a:r>
              <a:rPr kumimoji="0" lang="en-US" sz="26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1"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lâu</a:t>
            </a:r>
            <a:r>
              <a:rPr kumimoji="0" lang="en-US" sz="26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1"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bền</a:t>
            </a:r>
            <a:r>
              <a:rPr kumimoji="0" lang="en-US" sz="26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t>
            </a:r>
          </a:p>
          <a:p>
            <a:pPr marL="342900" marR="0" lvl="0" indent="-342900" algn="l" defTabSz="914400" rtl="0" eaLnBrk="1" fontAlgn="auto" latinLnBrk="0" hangingPunct="1">
              <a:lnSpc>
                <a:spcPct val="150000"/>
              </a:lnSpc>
              <a:spcBef>
                <a:spcPct val="5000"/>
              </a:spcBef>
              <a:spcAft>
                <a:spcPts val="0"/>
              </a:spcAft>
              <a:buClrTx/>
              <a:buSzTx/>
              <a:buFontTx/>
              <a:buNone/>
              <a:tabLst/>
              <a:defRPr/>
            </a:pP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Hàng</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hóa</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hữu</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hình</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sử</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dụng</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nhiều</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lần</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p>
          <a:p>
            <a:pPr marL="342900" marR="0" lvl="0" indent="-342900" algn="l" defTabSz="914400" rtl="0" eaLnBrk="1" fontAlgn="auto" latinLnBrk="0" hangingPunct="1">
              <a:lnSpc>
                <a:spcPct val="150000"/>
              </a:lnSpc>
              <a:spcBef>
                <a:spcPct val="5000"/>
              </a:spcBef>
              <a:spcAft>
                <a:spcPts val="0"/>
              </a:spcAft>
              <a:buClrTx/>
              <a:buSzTx/>
              <a:buFont typeface="Arial" pitchFamily="34" charset="0"/>
              <a:buChar char="•"/>
              <a:tabLst/>
              <a:defRPr/>
            </a:pPr>
            <a:r>
              <a:rPr kumimoji="0" lang="en-US" sz="2600" b="1"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Hàng</a:t>
            </a:r>
            <a:r>
              <a:rPr kumimoji="0" lang="en-US" sz="26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1"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không</a:t>
            </a:r>
            <a:r>
              <a:rPr kumimoji="0" lang="en-US" sz="26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1"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bền</a:t>
            </a:r>
            <a:r>
              <a:rPr kumimoji="0" lang="en-US" sz="26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p>
          <a:p>
            <a:pPr marL="342900" marR="0" lvl="0" indent="-342900" algn="l" defTabSz="914400" rtl="0" eaLnBrk="1" fontAlgn="auto" latinLnBrk="0" hangingPunct="1">
              <a:lnSpc>
                <a:spcPct val="150000"/>
              </a:lnSpc>
              <a:spcBef>
                <a:spcPct val="5000"/>
              </a:spcBef>
              <a:spcAft>
                <a:spcPts val="0"/>
              </a:spcAft>
              <a:buClrTx/>
              <a:buSzTx/>
              <a:buFontTx/>
              <a:buNone/>
              <a:tabLst/>
              <a:defRPr/>
            </a:pP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Hàng</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hữu</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hình</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thường</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bị</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tiêu</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hao</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sau</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một</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hay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vài</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lần</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sử</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dụng</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p>
          <a:p>
            <a:pPr marL="342900" marR="0" lvl="0" indent="-342900" algn="l" defTabSz="914400" rtl="0" eaLnBrk="1" fontAlgn="auto" latinLnBrk="0" hangingPunct="1">
              <a:lnSpc>
                <a:spcPct val="150000"/>
              </a:lnSpc>
              <a:spcBef>
                <a:spcPct val="0"/>
              </a:spcBef>
              <a:spcAft>
                <a:spcPts val="0"/>
              </a:spcAft>
              <a:buClrTx/>
              <a:buSzTx/>
              <a:buFont typeface="Arial" pitchFamily="34" charset="0"/>
              <a:buChar char="•"/>
              <a:tabLst/>
              <a:defRPr/>
            </a:pPr>
            <a:r>
              <a:rPr kumimoji="0" lang="en-US" sz="2600" b="1"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Dịch</a:t>
            </a:r>
            <a:r>
              <a:rPr kumimoji="0" lang="en-US" sz="26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1"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vụ</a:t>
            </a:r>
            <a:r>
              <a:rPr kumimoji="0" lang="en-US" sz="26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Lợi</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ích</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hay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sự</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thõa</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mãn</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vô</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hình</a:t>
            </a:r>
            <a:r>
              <a:rPr kumimoji="0" lang="en-US" sz="26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p>
        </p:txBody>
      </p:sp>
      <p:graphicFrame>
        <p:nvGraphicFramePr>
          <p:cNvPr id="29704" name="Object 8"/>
          <p:cNvGraphicFramePr>
            <a:graphicFrameLocks noChangeAspect="1"/>
          </p:cNvGraphicFramePr>
          <p:nvPr/>
        </p:nvGraphicFramePr>
        <p:xfrm>
          <a:off x="6248400" y="1828800"/>
          <a:ext cx="2667000" cy="900112"/>
        </p:xfrm>
        <a:graphic>
          <a:graphicData uri="http://schemas.openxmlformats.org/presentationml/2006/ole">
            <mc:AlternateContent xmlns:mc="http://schemas.openxmlformats.org/markup-compatibility/2006">
              <mc:Choice xmlns:v="urn:schemas-microsoft-com:vml" Requires="v">
                <p:oleObj name="Clip" r:id="rId3" imgW="6210300" imgH="2713038" progId="">
                  <p:embed/>
                </p:oleObj>
              </mc:Choice>
              <mc:Fallback>
                <p:oleObj name="Clip" r:id="rId3" imgW="6210300" imgH="2713038" progId="">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1828800"/>
                        <a:ext cx="2667000" cy="900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2" name="Object 10"/>
          <p:cNvGraphicFramePr>
            <a:graphicFrameLocks noChangeAspect="1"/>
          </p:cNvGraphicFramePr>
          <p:nvPr/>
        </p:nvGraphicFramePr>
        <p:xfrm>
          <a:off x="7239000" y="3352800"/>
          <a:ext cx="914400" cy="674688"/>
        </p:xfrm>
        <a:graphic>
          <a:graphicData uri="http://schemas.openxmlformats.org/presentationml/2006/ole">
            <mc:AlternateContent xmlns:mc="http://schemas.openxmlformats.org/markup-compatibility/2006">
              <mc:Choice xmlns:v="urn:schemas-microsoft-com:vml" Requires="v">
                <p:oleObj name="Clip" r:id="rId5" imgW="600761" imgH="960120" progId="">
                  <p:embed/>
                </p:oleObj>
              </mc:Choice>
              <mc:Fallback>
                <p:oleObj name="Clip" r:id="rId5" imgW="600761" imgH="960120" progId="">
                  <p:embed/>
                  <p:pic>
                    <p:nvPicPr>
                      <p:cNvPr id="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39000" y="3352800"/>
                        <a:ext cx="914400" cy="674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3" name="Object 11"/>
          <p:cNvGraphicFramePr>
            <a:graphicFrameLocks noChangeAspect="1"/>
          </p:cNvGraphicFramePr>
          <p:nvPr/>
        </p:nvGraphicFramePr>
        <p:xfrm>
          <a:off x="7010400" y="4114800"/>
          <a:ext cx="712788" cy="896937"/>
        </p:xfrm>
        <a:graphic>
          <a:graphicData uri="http://schemas.openxmlformats.org/presentationml/2006/ole">
            <mc:AlternateContent xmlns:mc="http://schemas.openxmlformats.org/markup-compatibility/2006">
              <mc:Choice xmlns:v="urn:schemas-microsoft-com:vml" Requires="v">
                <p:oleObj name="Clip" r:id="rId7" imgW="714146" imgH="1274674" progId="">
                  <p:embed/>
                </p:oleObj>
              </mc:Choice>
              <mc:Fallback>
                <p:oleObj name="Clip" r:id="rId7" imgW="714146" imgH="1274674" progId="">
                  <p:embed/>
                  <p:pic>
                    <p:nvPicPr>
                      <p:cNvPr id="0" name="Picture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10400" y="4114800"/>
                        <a:ext cx="712788" cy="896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4" name="Object 12"/>
          <p:cNvGraphicFramePr>
            <a:graphicFrameLocks noChangeAspect="1"/>
          </p:cNvGraphicFramePr>
          <p:nvPr/>
        </p:nvGraphicFramePr>
        <p:xfrm>
          <a:off x="8153400" y="3124200"/>
          <a:ext cx="990600" cy="569913"/>
        </p:xfrm>
        <a:graphic>
          <a:graphicData uri="http://schemas.openxmlformats.org/presentationml/2006/ole">
            <mc:AlternateContent xmlns:mc="http://schemas.openxmlformats.org/markup-compatibility/2006">
              <mc:Choice xmlns:v="urn:schemas-microsoft-com:vml" Requires="v">
                <p:oleObj name="Clip" r:id="rId9" imgW="814830" imgH="581891" progId="">
                  <p:embed/>
                </p:oleObj>
              </mc:Choice>
              <mc:Fallback>
                <p:oleObj name="Clip" r:id="rId9" imgW="814830" imgH="581891" progId="">
                  <p:embed/>
                  <p:pic>
                    <p:nvPicPr>
                      <p:cNvPr id="0" name="Picture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53400" y="3124200"/>
                        <a:ext cx="990600" cy="569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5" name="Object 13"/>
          <p:cNvGraphicFramePr>
            <a:graphicFrameLocks noChangeAspect="1"/>
          </p:cNvGraphicFramePr>
          <p:nvPr/>
        </p:nvGraphicFramePr>
        <p:xfrm>
          <a:off x="7620000" y="4038600"/>
          <a:ext cx="1143000" cy="758825"/>
        </p:xfrm>
        <a:graphic>
          <a:graphicData uri="http://schemas.openxmlformats.org/presentationml/2006/ole">
            <mc:AlternateContent xmlns:mc="http://schemas.openxmlformats.org/markup-compatibility/2006">
              <mc:Choice xmlns:v="urn:schemas-microsoft-com:vml" Requires="v">
                <p:oleObj name="Clip" r:id="rId11" imgW="1337767" imgH="1231697" progId="">
                  <p:embed/>
                </p:oleObj>
              </mc:Choice>
              <mc:Fallback>
                <p:oleObj name="Clip" r:id="rId11" imgW="1337767" imgH="1231697" progId="">
                  <p:embed/>
                  <p:pic>
                    <p:nvPicPr>
                      <p:cNvPr id="0" name="Picture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620000" y="4038600"/>
                        <a:ext cx="1143000" cy="758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sh Register"/>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sh Register"/>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sh Register"/>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sh Register"/>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sh Register"/>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29704"/>
                                        </p:tgtEl>
                                        <p:attrNameLst>
                                          <p:attrName>style.visibility</p:attrName>
                                        </p:attrNameLst>
                                      </p:cBhvr>
                                      <p:to>
                                        <p:strVal val="visible"/>
                                      </p:to>
                                    </p:set>
                                    <p:anim calcmode="lin" valueType="num">
                                      <p:cBhvr additive="base">
                                        <p:cTn id="37" dur="500" fill="hold"/>
                                        <p:tgtEl>
                                          <p:spTgt spid="29704"/>
                                        </p:tgtEl>
                                        <p:attrNameLst>
                                          <p:attrName>ppt_x</p:attrName>
                                        </p:attrNameLst>
                                      </p:cBhvr>
                                      <p:tavLst>
                                        <p:tav tm="0">
                                          <p:val>
                                            <p:strVal val="1+#ppt_w/2"/>
                                          </p:val>
                                        </p:tav>
                                        <p:tav tm="100000">
                                          <p:val>
                                            <p:strVal val="#ppt_x"/>
                                          </p:val>
                                        </p:tav>
                                      </p:tavLst>
                                    </p:anim>
                                    <p:anim calcmode="lin" valueType="num">
                                      <p:cBhvr additive="base">
                                        <p:cTn id="38" dur="500" fill="hold"/>
                                        <p:tgtEl>
                                          <p:spTgt spid="297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8001000" cy="762000"/>
          </a:xfrm>
        </p:spPr>
        <p:txBody>
          <a:bodyPr>
            <a:normAutofit/>
          </a:bodyPr>
          <a:lstStyle/>
          <a:p>
            <a:pPr algn="l"/>
            <a:r>
              <a:rPr lang="en-US" sz="2800" b="1" dirty="0">
                <a:solidFill>
                  <a:srgbClr val="FF0000"/>
                </a:solidFill>
              </a:rPr>
              <a:t>  </a:t>
            </a:r>
            <a:r>
              <a:rPr lang="en-US" sz="3600" b="1" dirty="0" err="1">
                <a:solidFill>
                  <a:schemeClr val="accent2"/>
                </a:solidFill>
                <a:latin typeface="Times New Roman" panose="02020603050405020304" pitchFamily="18" charset="0"/>
                <a:cs typeface="Times New Roman" panose="02020603050405020304" pitchFamily="18" charset="0"/>
              </a:rPr>
              <a:t>Hàng</a:t>
            </a:r>
            <a:r>
              <a:rPr lang="en-US" sz="3600" b="1" dirty="0">
                <a:solidFill>
                  <a:schemeClr val="accent2"/>
                </a:solidFill>
                <a:latin typeface="Times New Roman" panose="02020603050405020304" pitchFamily="18" charset="0"/>
                <a:cs typeface="Times New Roman" panose="02020603050405020304" pitchFamily="18" charset="0"/>
              </a:rPr>
              <a:t> </a:t>
            </a:r>
            <a:r>
              <a:rPr lang="en-US" sz="3600" b="1" dirty="0" err="1">
                <a:solidFill>
                  <a:schemeClr val="accent2"/>
                </a:solidFill>
                <a:latin typeface="Times New Roman" panose="02020603050405020304" pitchFamily="18" charset="0"/>
                <a:cs typeface="Times New Roman" panose="02020603050405020304" pitchFamily="18" charset="0"/>
              </a:rPr>
              <a:t>tiêu</a:t>
            </a:r>
            <a:r>
              <a:rPr lang="en-US" sz="3600" b="1" dirty="0">
                <a:solidFill>
                  <a:schemeClr val="accent2"/>
                </a:solidFill>
                <a:latin typeface="Times New Roman" panose="02020603050405020304" pitchFamily="18" charset="0"/>
                <a:cs typeface="Times New Roman" panose="02020603050405020304" pitchFamily="18" charset="0"/>
              </a:rPr>
              <a:t> </a:t>
            </a:r>
            <a:r>
              <a:rPr lang="en-US" sz="3600" b="1" dirty="0" err="1">
                <a:solidFill>
                  <a:schemeClr val="accent2"/>
                </a:solidFill>
                <a:latin typeface="Times New Roman" panose="02020603050405020304" pitchFamily="18" charset="0"/>
                <a:cs typeface="Times New Roman" panose="02020603050405020304" pitchFamily="18" charset="0"/>
              </a:rPr>
              <a:t>dùng</a:t>
            </a:r>
            <a:endParaRPr lang="en-US" sz="3600" dirty="0">
              <a:solidFill>
                <a:schemeClr val="accent2"/>
              </a:solidFill>
              <a:latin typeface="Times New Roman" panose="02020603050405020304" pitchFamily="18" charset="0"/>
              <a:cs typeface="Times New Roman" panose="02020603050405020304" pitchFamily="18" charset="0"/>
            </a:endParaRPr>
          </a:p>
        </p:txBody>
      </p:sp>
      <p:sp>
        <p:nvSpPr>
          <p:cNvPr id="4" name="Rectangle 16"/>
          <p:cNvSpPr>
            <a:spLocks noChangeArrowheads="1"/>
          </p:cNvSpPr>
          <p:nvPr/>
        </p:nvSpPr>
        <p:spPr bwMode="auto">
          <a:xfrm>
            <a:off x="304800" y="914400"/>
            <a:ext cx="5257800" cy="2209800"/>
          </a:xfrm>
          <a:prstGeom prst="rect">
            <a:avLst/>
          </a:prstGeom>
          <a:noFill/>
          <a:ln w="12700">
            <a:noFill/>
            <a:miter lim="800000"/>
            <a:headEnd/>
            <a:tailEnd/>
          </a:ln>
        </p:spPr>
        <p:txBody>
          <a:bodyPr lIns="92075" tIns="46038" rIns="92075" bIns="46038"/>
          <a:lstStyle/>
          <a:p>
            <a:pPr marL="342900" indent="-342900" algn="just">
              <a:spcBef>
                <a:spcPct val="20000"/>
              </a:spcBef>
              <a:buFontTx/>
              <a:buBlip>
                <a:blip r:embed="rId2"/>
              </a:buBlip>
            </a:pPr>
            <a:r>
              <a:rPr lang="en-US" sz="2400" b="1" dirty="0" err="1">
                <a:latin typeface="Times New Roman" panose="02020603050405020304" pitchFamily="18" charset="0"/>
                <a:cs typeface="Times New Roman" panose="02020603050405020304" pitchFamily="18" charset="0"/>
              </a:rPr>
              <a:t>Hàng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dễ</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mua</a:t>
            </a:r>
            <a:r>
              <a:rPr lang="en-US" sz="2400" b="1" dirty="0">
                <a:latin typeface="Times New Roman" panose="02020603050405020304" pitchFamily="18" charset="0"/>
                <a:cs typeface="Times New Roman" panose="02020603050405020304" pitchFamily="18" charset="0"/>
              </a:rPr>
              <a:t>:</a:t>
            </a:r>
          </a:p>
          <a:p>
            <a:pPr marL="342900" indent="-342900" algn="just"/>
            <a:r>
              <a:rPr lang="en-US"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đắt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mua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xuyên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bỏ</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tìm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mua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nghĩ</a:t>
            </a:r>
            <a:r>
              <a:rPr lang="en-US" sz="2400" dirty="0">
                <a:latin typeface="Times New Roman" panose="02020603050405020304" pitchFamily="18" charset="0"/>
                <a:cs typeface="Times New Roman" panose="02020603050405020304" pitchFamily="18" charset="0"/>
              </a:rPr>
              <a:t>, marketing </a:t>
            </a:r>
            <a:r>
              <a:rPr lang="en-US" sz="2400" dirty="0" err="1">
                <a:latin typeface="Times New Roman" panose="02020603050405020304" pitchFamily="18" charset="0"/>
                <a:cs typeface="Times New Roman" panose="02020603050405020304" pitchFamily="18" charset="0"/>
              </a:rPr>
              <a:t>nhằm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ra </a:t>
            </a:r>
            <a:r>
              <a:rPr lang="en-US" sz="2400" dirty="0" err="1">
                <a:latin typeface="Times New Roman" panose="02020603050405020304" pitchFamily="18" charset="0"/>
                <a:cs typeface="Times New Roman" panose="02020603050405020304" pitchFamily="18" charset="0"/>
              </a:rPr>
              <a:t>tính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sẵn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sàng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SP ở </a:t>
            </a:r>
            <a:r>
              <a:rPr lang="en-US" sz="2400" dirty="0" err="1">
                <a:latin typeface="Times New Roman" panose="02020603050405020304" pitchFamily="18" charset="0"/>
                <a:cs typeface="Times New Roman" panose="02020603050405020304" pitchFamily="18" charset="0"/>
              </a:rPr>
              <a:t>nhiều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loại</a:t>
            </a:r>
            <a:r>
              <a:rPr lang="en-US" sz="2400" dirty="0">
                <a:latin typeface="Times New Roman" panose="02020603050405020304" pitchFamily="18" charset="0"/>
                <a:cs typeface="Times New Roman" panose="02020603050405020304" pitchFamily="18" charset="0"/>
              </a:rPr>
              <a:t> SP </a:t>
            </a:r>
            <a:r>
              <a:rPr lang="en-US" sz="2400" dirty="0" err="1">
                <a:latin typeface="Times New Roman" panose="02020603050405020304" pitchFamily="18" charset="0"/>
                <a:cs typeface="Times New Roman" panose="02020603050405020304" pitchFamily="18" charset="0"/>
              </a:rPr>
              <a:t>rất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nỗ</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hàng</a:t>
            </a:r>
            <a:r>
              <a:rPr lang="en-US" sz="2400" dirty="0">
                <a:latin typeface="Times New Roman" panose="02020603050405020304" pitchFamily="18" charset="0"/>
                <a:cs typeface="Times New Roman" panose="02020603050405020304" pitchFamily="18" charset="0"/>
              </a:rPr>
              <a:t> </a:t>
            </a:r>
          </a:p>
        </p:txBody>
      </p:sp>
      <p:sp>
        <p:nvSpPr>
          <p:cNvPr id="5" name="Rectangle 19"/>
          <p:cNvSpPr>
            <a:spLocks noChangeArrowheads="1"/>
          </p:cNvSpPr>
          <p:nvPr/>
        </p:nvSpPr>
        <p:spPr bwMode="auto">
          <a:xfrm>
            <a:off x="4038600" y="3657601"/>
            <a:ext cx="4876800" cy="2895599"/>
          </a:xfrm>
          <a:prstGeom prst="rect">
            <a:avLst/>
          </a:prstGeom>
          <a:noFill/>
          <a:ln w="12700">
            <a:noFill/>
            <a:miter lim="800000"/>
            <a:headEnd/>
            <a:tailEnd/>
          </a:ln>
        </p:spPr>
        <p:txBody>
          <a:bodyPr lIns="92075" tIns="46038" rIns="92075" bIns="46038"/>
          <a:lstStyle/>
          <a:p>
            <a:pPr marL="342900" indent="-342900" algn="just">
              <a:lnSpc>
                <a:spcPct val="80000"/>
              </a:lnSpc>
              <a:spcBef>
                <a:spcPct val="20000"/>
              </a:spcBef>
              <a:buFontTx/>
              <a:buBlip>
                <a:blip r:embed="rId2"/>
              </a:buBlip>
            </a:pPr>
            <a:r>
              <a:rPr lang="en-US" sz="2400" b="1" dirty="0" err="1">
                <a:latin typeface="Times New Roman" panose="02020603050405020304" pitchFamily="18" charset="0"/>
                <a:cs typeface="Times New Roman" panose="02020603050405020304" pitchFamily="18" charset="0"/>
              </a:rPr>
              <a:t>Hàng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mua</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lựa</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chọn</a:t>
            </a:r>
            <a:r>
              <a:rPr lang="en-US" sz="2400" b="1" dirty="0">
                <a:latin typeface="Times New Roman" panose="02020603050405020304" pitchFamily="18" charset="0"/>
                <a:cs typeface="Times New Roman" panose="02020603050405020304" pitchFamily="18" charset="0"/>
              </a:rPr>
              <a:t>:</a:t>
            </a:r>
          </a:p>
          <a:p>
            <a:pPr marL="742950" lvl="1" indent="-285750" algn="just">
              <a:lnSpc>
                <a:spcPct val="90000"/>
              </a:lnSpc>
              <a:spcBef>
                <a:spcPct val="20000"/>
              </a:spcBef>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Người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mua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muốn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nhận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thêm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ích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nỗ</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tìm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kiếm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mua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chịu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thúc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nghĩ</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bỏ</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mua</a:t>
            </a:r>
            <a:r>
              <a:rPr lang="en-US" sz="2400" dirty="0">
                <a:latin typeface="Times New Roman" panose="02020603050405020304" pitchFamily="18" charset="0"/>
                <a:cs typeface="Times New Roman" panose="02020603050405020304" pitchFamily="18" charset="0"/>
              </a:rPr>
              <a:t>. </a:t>
            </a:r>
          </a:p>
        </p:txBody>
      </p:sp>
      <p:pic>
        <p:nvPicPr>
          <p:cNvPr id="6" name="Picture 4" descr="BXK42_056800"/>
          <p:cNvPicPr>
            <a:picLocks noChangeAspect="1" noChangeArrowheads="1"/>
          </p:cNvPicPr>
          <p:nvPr/>
        </p:nvPicPr>
        <p:blipFill>
          <a:blip r:embed="rId3" cstate="print"/>
          <a:srcRect/>
          <a:stretch>
            <a:fillRect/>
          </a:stretch>
        </p:blipFill>
        <p:spPr bwMode="auto">
          <a:xfrm>
            <a:off x="0" y="4038600"/>
            <a:ext cx="3759200" cy="2819400"/>
          </a:xfrm>
          <a:prstGeom prst="rect">
            <a:avLst/>
          </a:prstGeom>
          <a:noFill/>
        </p:spPr>
      </p:pic>
      <p:pic>
        <p:nvPicPr>
          <p:cNvPr id="7" name="Picture 2" descr="http://www.burorama.com/BuroramaImages/Product/2009319154842754.jpg"/>
          <p:cNvPicPr>
            <a:picLocks noChangeAspect="1" noChangeArrowheads="1"/>
          </p:cNvPicPr>
          <p:nvPr/>
        </p:nvPicPr>
        <p:blipFill>
          <a:blip r:embed="rId4" cstate="print"/>
          <a:srcRect/>
          <a:stretch>
            <a:fillRect/>
          </a:stretch>
        </p:blipFill>
        <p:spPr bwMode="auto">
          <a:xfrm>
            <a:off x="6172200" y="685800"/>
            <a:ext cx="2514600" cy="25146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 calcmode="lin" valueType="num">
                                      <p:cBhvr additive="base">
                                        <p:cTn id="19" dur="500" fill="hold"/>
                                        <p:tgtEl>
                                          <p:spTgt spid="5">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anim calcmode="lin" valueType="num">
                                      <p:cBhvr additive="base">
                                        <p:cTn id="23" dur="500" fill="hold"/>
                                        <p:tgtEl>
                                          <p:spTgt spid="5">
                                            <p:txEl>
                                              <p:pRg st="1" end="1"/>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5">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5"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7"/>
          <p:cNvPicPr>
            <a:picLocks noChangeAspect="1" noChangeArrowheads="1"/>
          </p:cNvPicPr>
          <p:nvPr/>
        </p:nvPicPr>
        <p:blipFill>
          <a:blip r:embed="rId2" cstate="print">
            <a:clrChange>
              <a:clrFrom>
                <a:srgbClr val="FEFFFF"/>
              </a:clrFrom>
              <a:clrTo>
                <a:srgbClr val="FEFFFF">
                  <a:alpha val="0"/>
                </a:srgbClr>
              </a:clrTo>
            </a:clrChange>
          </a:blip>
          <a:srcRect/>
          <a:stretch>
            <a:fillRect/>
          </a:stretch>
        </p:blipFill>
        <p:spPr bwMode="auto">
          <a:xfrm>
            <a:off x="6355080" y="762000"/>
            <a:ext cx="2590800" cy="1524000"/>
          </a:xfrm>
          <a:prstGeom prst="rect">
            <a:avLst/>
          </a:prstGeom>
          <a:noFill/>
          <a:ln w="12700">
            <a:solidFill>
              <a:schemeClr val="bg1"/>
            </a:solidFill>
            <a:miter lim="800000"/>
            <a:headEnd type="none" w="sm" len="sm"/>
            <a:tailEnd type="none" w="sm" len="sm"/>
          </a:ln>
        </p:spPr>
      </p:pic>
      <p:grpSp>
        <p:nvGrpSpPr>
          <p:cNvPr id="5" name="Group 18"/>
          <p:cNvGrpSpPr>
            <a:grpSpLocks/>
          </p:cNvGrpSpPr>
          <p:nvPr/>
        </p:nvGrpSpPr>
        <p:grpSpPr bwMode="auto">
          <a:xfrm>
            <a:off x="6400800" y="3124200"/>
            <a:ext cx="2362200" cy="3505200"/>
            <a:chOff x="4032" y="2784"/>
            <a:chExt cx="1344" cy="1536"/>
          </a:xfrm>
        </p:grpSpPr>
        <p:graphicFrame>
          <p:nvGraphicFramePr>
            <p:cNvPr id="6" name="Object 19"/>
            <p:cNvGraphicFramePr>
              <a:graphicFrameLocks noChangeAspect="1"/>
            </p:cNvGraphicFramePr>
            <p:nvPr/>
          </p:nvGraphicFramePr>
          <p:xfrm>
            <a:off x="4032" y="2784"/>
            <a:ext cx="1344" cy="1536"/>
          </p:xfrm>
          <a:graphic>
            <a:graphicData uri="http://schemas.openxmlformats.org/presentationml/2006/ole">
              <mc:AlternateContent xmlns:mc="http://schemas.openxmlformats.org/markup-compatibility/2006">
                <mc:Choice xmlns:v="urn:schemas-microsoft-com:vml" Requires="v">
                  <p:oleObj name="Clip" r:id="rId3" imgW="630022" imgH="643738" progId="">
                    <p:embed/>
                  </p:oleObj>
                </mc:Choice>
                <mc:Fallback>
                  <p:oleObj name="Clip" r:id="rId3" imgW="630022" imgH="643738" progId="">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2" y="2784"/>
                          <a:ext cx="1344" cy="15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20"/>
            <p:cNvSpPr txBox="1">
              <a:spLocks noChangeArrowheads="1"/>
            </p:cNvSpPr>
            <p:nvPr/>
          </p:nvSpPr>
          <p:spPr bwMode="auto">
            <a:xfrm rot="5400000">
              <a:off x="3945" y="3446"/>
              <a:ext cx="1441" cy="308"/>
            </a:xfrm>
            <a:prstGeom prst="rect">
              <a:avLst/>
            </a:prstGeom>
            <a:gradFill rotWithShape="0">
              <a:gsLst>
                <a:gs pos="0">
                  <a:srgbClr val="FFCC66"/>
                </a:gs>
                <a:gs pos="50000">
                  <a:srgbClr val="765E2F"/>
                </a:gs>
                <a:gs pos="100000">
                  <a:srgbClr val="FFCC66"/>
                </a:gs>
              </a:gsLst>
              <a:lin ang="0" scaled="1"/>
            </a:gradFill>
            <a:ln w="12700">
              <a:solidFill>
                <a:schemeClr val="bg1"/>
              </a:solidFill>
              <a:miter lim="800000"/>
              <a:headEnd/>
              <a:tailEnd/>
            </a:ln>
          </p:spPr>
          <p:txBody>
            <a:bodyPr>
              <a:spAutoFit/>
            </a:bodyPr>
            <a:lstStyle/>
            <a:p>
              <a:pPr eaLnBrk="0" hangingPunct="0">
                <a:lnSpc>
                  <a:spcPct val="140000"/>
                </a:lnSpc>
              </a:pPr>
              <a:r>
                <a:rPr lang="en-US" sz="1800" dirty="0" err="1">
                  <a:latin typeface="Arial" charset="0"/>
                </a:rPr>
                <a:t>Từ</a:t>
              </a:r>
              <a:r>
                <a:rPr lang="en-US" sz="1800" dirty="0">
                  <a:latin typeface="Arial" charset="0"/>
                </a:rPr>
                <a:t> </a:t>
              </a:r>
              <a:r>
                <a:rPr lang="en-US" sz="1800" dirty="0" err="1">
                  <a:latin typeface="Arial" charset="0"/>
                </a:rPr>
                <a:t>điển</a:t>
              </a:r>
              <a:r>
                <a:rPr lang="en-US" sz="1800" dirty="0">
                  <a:latin typeface="Arial" charset="0"/>
                </a:rPr>
                <a:t> </a:t>
              </a:r>
              <a:r>
                <a:rPr lang="en-US" sz="1800" dirty="0" err="1">
                  <a:latin typeface="Arial" charset="0"/>
                </a:rPr>
                <a:t>Bách</a:t>
              </a:r>
              <a:r>
                <a:rPr lang="en-US" sz="1800" dirty="0">
                  <a:latin typeface="Arial" charset="0"/>
                </a:rPr>
                <a:t> khoa</a:t>
              </a:r>
            </a:p>
          </p:txBody>
        </p:sp>
        <p:sp>
          <p:nvSpPr>
            <p:cNvPr id="8" name="Text Box 21"/>
            <p:cNvSpPr txBox="1">
              <a:spLocks noChangeArrowheads="1"/>
            </p:cNvSpPr>
            <p:nvPr/>
          </p:nvSpPr>
          <p:spPr bwMode="auto">
            <a:xfrm rot="5400000">
              <a:off x="3615" y="3489"/>
              <a:ext cx="1284" cy="378"/>
            </a:xfrm>
            <a:prstGeom prst="rect">
              <a:avLst/>
            </a:prstGeom>
            <a:solidFill>
              <a:srgbClr val="009900"/>
            </a:solidFill>
            <a:ln w="12700">
              <a:solidFill>
                <a:schemeClr val="bg1"/>
              </a:solidFill>
              <a:miter lim="800000"/>
              <a:headEnd/>
              <a:tailEnd/>
            </a:ln>
          </p:spPr>
          <p:txBody>
            <a:bodyPr>
              <a:spAutoFit/>
            </a:bodyPr>
            <a:lstStyle/>
            <a:p>
              <a:pPr algn="ctr" eaLnBrk="0" hangingPunct="0">
                <a:lnSpc>
                  <a:spcPct val="90000"/>
                </a:lnSpc>
              </a:pPr>
              <a:r>
                <a:rPr lang="en-US" sz="1800">
                  <a:latin typeface="Arial" charset="0"/>
                </a:rPr>
                <a:t>Từ điểnBách khoa</a:t>
              </a:r>
              <a:endParaRPr lang="en-US" sz="1800">
                <a:solidFill>
                  <a:schemeClr val="accent2"/>
                </a:solidFill>
                <a:latin typeface="Arial" charset="0"/>
              </a:endParaRPr>
            </a:p>
          </p:txBody>
        </p:sp>
        <p:sp>
          <p:nvSpPr>
            <p:cNvPr id="9" name="Text Box 22"/>
            <p:cNvSpPr txBox="1">
              <a:spLocks noChangeArrowheads="1"/>
            </p:cNvSpPr>
            <p:nvPr/>
          </p:nvSpPr>
          <p:spPr bwMode="auto">
            <a:xfrm rot="4357581">
              <a:off x="4494" y="3378"/>
              <a:ext cx="1248" cy="251"/>
            </a:xfrm>
            <a:prstGeom prst="rect">
              <a:avLst/>
            </a:prstGeom>
            <a:gradFill rotWithShape="0">
              <a:gsLst>
                <a:gs pos="0">
                  <a:srgbClr val="477618"/>
                </a:gs>
                <a:gs pos="50000">
                  <a:srgbClr val="99FF33"/>
                </a:gs>
                <a:gs pos="100000">
                  <a:srgbClr val="477618"/>
                </a:gs>
              </a:gsLst>
              <a:lin ang="0" scaled="1"/>
            </a:gradFill>
            <a:ln w="12700">
              <a:solidFill>
                <a:schemeClr val="bg1"/>
              </a:solidFill>
              <a:miter lim="800000"/>
              <a:headEnd/>
              <a:tailEnd/>
            </a:ln>
          </p:spPr>
          <p:txBody>
            <a:bodyPr>
              <a:spAutoFit/>
            </a:bodyPr>
            <a:lstStyle/>
            <a:p>
              <a:pPr eaLnBrk="0" hangingPunct="0">
                <a:lnSpc>
                  <a:spcPct val="120000"/>
                </a:lnSpc>
              </a:pPr>
              <a:r>
                <a:rPr lang="en-US" sz="1600">
                  <a:solidFill>
                    <a:srgbClr val="5022F8"/>
                  </a:solidFill>
                  <a:latin typeface="Arial" charset="0"/>
                </a:rPr>
                <a:t>Từ điển Bách  khoa</a:t>
              </a:r>
              <a:endParaRPr lang="en-US" sz="1800">
                <a:solidFill>
                  <a:schemeClr val="accent2"/>
                </a:solidFill>
                <a:latin typeface="Arial" charset="0"/>
              </a:endParaRPr>
            </a:p>
          </p:txBody>
        </p:sp>
      </p:grpSp>
      <p:sp>
        <p:nvSpPr>
          <p:cNvPr id="10" name="Rectangle 16"/>
          <p:cNvSpPr txBox="1">
            <a:spLocks noChangeArrowheads="1"/>
          </p:cNvSpPr>
          <p:nvPr/>
        </p:nvSpPr>
        <p:spPr>
          <a:xfrm>
            <a:off x="152400" y="762000"/>
            <a:ext cx="6172200" cy="4800600"/>
          </a:xfrm>
          <a:prstGeom prst="rect">
            <a:avLst/>
          </a:prstGeom>
          <a:noFill/>
        </p:spPr>
        <p:txBody>
          <a:bodyPr vert="horz" lIns="90488" tIns="44450" rIns="90488" bIns="44450" rtlCol="0">
            <a:normAutofit fontScale="92500" lnSpcReduction="20000"/>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300" b="1" i="0" u="none" strike="noStrike" kern="1200" cap="none" spc="0" normalizeH="0" baseline="0" noProof="0" dirty="0" err="1">
                <a:ln>
                  <a:noFill/>
                </a:ln>
                <a:solidFill>
                  <a:schemeClr val="accent2"/>
                </a:solidFill>
                <a:effectLst/>
                <a:uLnTx/>
                <a:uFillTx/>
                <a:latin typeface="Times New Roman" panose="02020603050405020304" pitchFamily="18" charset="0"/>
                <a:cs typeface="Times New Roman" panose="02020603050405020304" pitchFamily="18" charset="0"/>
              </a:rPr>
              <a:t>Hàng</a:t>
            </a:r>
            <a:r>
              <a:rPr kumimoji="0" lang="en-US" sz="3300" b="1" i="0" u="none" strike="noStrike" kern="1200" cap="none" spc="0" normalizeH="0" baseline="0" noProof="0" dirty="0">
                <a:ln>
                  <a:noFill/>
                </a:ln>
                <a:solidFill>
                  <a:schemeClr val="accent2"/>
                </a:solidFill>
                <a:effectLst/>
                <a:uLnTx/>
                <a:uFillTx/>
                <a:latin typeface="Times New Roman" panose="02020603050405020304" pitchFamily="18" charset="0"/>
                <a:cs typeface="Times New Roman" panose="02020603050405020304" pitchFamily="18" charset="0"/>
              </a:rPr>
              <a:t> </a:t>
            </a:r>
            <a:r>
              <a:rPr kumimoji="0" lang="en-US" sz="3300" b="1" i="0" u="none" strike="noStrike" kern="1200" cap="none" spc="0" normalizeH="0" baseline="0" noProof="0" dirty="0" err="1">
                <a:ln>
                  <a:noFill/>
                </a:ln>
                <a:solidFill>
                  <a:schemeClr val="accent2"/>
                </a:solidFill>
                <a:effectLst/>
                <a:uLnTx/>
                <a:uFillTx/>
                <a:latin typeface="Times New Roman" panose="02020603050405020304" pitchFamily="18" charset="0"/>
                <a:cs typeface="Times New Roman" panose="02020603050405020304" pitchFamily="18" charset="0"/>
              </a:rPr>
              <a:t>đặc</a:t>
            </a:r>
            <a:r>
              <a:rPr kumimoji="0" lang="en-US" sz="3300" b="1" i="0" u="none" strike="noStrike" kern="1200" cap="none" spc="0" normalizeH="0" baseline="0" noProof="0" dirty="0">
                <a:ln>
                  <a:noFill/>
                </a:ln>
                <a:solidFill>
                  <a:schemeClr val="accent2"/>
                </a:solidFill>
                <a:effectLst/>
                <a:uLnTx/>
                <a:uFillTx/>
                <a:latin typeface="Times New Roman" panose="02020603050405020304" pitchFamily="18" charset="0"/>
                <a:cs typeface="Times New Roman" panose="02020603050405020304" pitchFamily="18" charset="0"/>
              </a:rPr>
              <a:t> </a:t>
            </a:r>
            <a:r>
              <a:rPr kumimoji="0" lang="en-US" sz="3300" b="1" i="0" u="none" strike="noStrike" kern="1200" cap="none" spc="0" normalizeH="0" baseline="0" noProof="0" dirty="0" err="1">
                <a:ln>
                  <a:noFill/>
                </a:ln>
                <a:solidFill>
                  <a:schemeClr val="accent2"/>
                </a:solidFill>
                <a:effectLst/>
                <a:uLnTx/>
                <a:uFillTx/>
                <a:latin typeface="Times New Roman" panose="02020603050405020304" pitchFamily="18" charset="0"/>
                <a:cs typeface="Times New Roman" panose="02020603050405020304" pitchFamily="18" charset="0"/>
              </a:rPr>
              <a:t>biệt</a:t>
            </a:r>
            <a:r>
              <a:rPr kumimoji="0" lang="en-US" sz="3300" b="1" i="0" u="none" strike="noStrike" kern="1200" cap="none" spc="0" normalizeH="0" baseline="0" noProof="0" dirty="0">
                <a:ln>
                  <a:noFill/>
                </a:ln>
                <a:solidFill>
                  <a:schemeClr val="accent2"/>
                </a:solidFill>
                <a:effectLst/>
                <a:uLnTx/>
                <a:uFillTx/>
                <a:latin typeface="Times New Roman" panose="02020603050405020304" pitchFamily="18" charset="0"/>
                <a:cs typeface="Times New Roman" panose="02020603050405020304" pitchFamily="18" charset="0"/>
              </a:rPr>
              <a:t>:</a:t>
            </a:r>
          </a:p>
          <a:p>
            <a:pPr marR="0" lvl="1" algn="just" defTabSz="914400" rtl="0" eaLnBrk="1" fontAlgn="auto" latinLnBrk="0" hangingPunct="1">
              <a:lnSpc>
                <a:spcPct val="100000"/>
              </a:lnSpc>
              <a:spcBef>
                <a:spcPct val="20000"/>
              </a:spcBef>
              <a:spcAft>
                <a:spcPts val="0"/>
              </a:spcAft>
              <a:buClrTx/>
              <a:buSzTx/>
              <a:tabLst/>
              <a:defRPr/>
            </a:pP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Người</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mua</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biết</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chính</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xác</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những</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gì</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họ</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muốn</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mua</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đơn</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chiếc</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người</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mua</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thu</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thập</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rất</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nhiều</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thông</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tin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và</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mất</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nhiều</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thời</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gian</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nhãn</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hiệu</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là</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yếu</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tố</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quan</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trọng</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phân</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phối</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cũng</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liên</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quan</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chặt</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chẽ</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đến</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quá</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trình</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ra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quyết</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định</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300" b="1" i="0" u="none" strike="noStrike" kern="1200" cap="none" spc="0" normalizeH="0" baseline="0" noProof="0" dirty="0" err="1">
                <a:ln>
                  <a:noFill/>
                </a:ln>
                <a:solidFill>
                  <a:schemeClr val="accent2"/>
                </a:solidFill>
                <a:effectLst/>
                <a:uLnTx/>
                <a:uFillTx/>
                <a:latin typeface="Times New Roman" panose="02020603050405020304" pitchFamily="18" charset="0"/>
                <a:cs typeface="Times New Roman" panose="02020603050405020304" pitchFamily="18" charset="0"/>
              </a:rPr>
              <a:t>Hàng</a:t>
            </a:r>
            <a:r>
              <a:rPr kumimoji="0" lang="en-US" sz="3300" b="1" i="0" u="none" strike="noStrike" kern="1200" cap="none" spc="0" normalizeH="0" baseline="0" noProof="0" dirty="0">
                <a:ln>
                  <a:noFill/>
                </a:ln>
                <a:solidFill>
                  <a:schemeClr val="accent2"/>
                </a:solidFill>
                <a:effectLst/>
                <a:uLnTx/>
                <a:uFillTx/>
                <a:latin typeface="Times New Roman" panose="02020603050405020304" pitchFamily="18" charset="0"/>
                <a:cs typeface="Times New Roman" panose="02020603050405020304" pitchFamily="18" charset="0"/>
              </a:rPr>
              <a:t> </a:t>
            </a:r>
            <a:r>
              <a:rPr kumimoji="0" lang="en-US" sz="3300" b="1" i="0" u="none" strike="noStrike" kern="1200" cap="none" spc="0" normalizeH="0" baseline="0" noProof="0" dirty="0" err="1">
                <a:ln>
                  <a:noFill/>
                </a:ln>
                <a:solidFill>
                  <a:schemeClr val="accent2"/>
                </a:solidFill>
                <a:effectLst/>
                <a:uLnTx/>
                <a:uFillTx/>
                <a:latin typeface="Times New Roman" panose="02020603050405020304" pitchFamily="18" charset="0"/>
                <a:cs typeface="Times New Roman" panose="02020603050405020304" pitchFamily="18" charset="0"/>
              </a:rPr>
              <a:t>mua</a:t>
            </a:r>
            <a:r>
              <a:rPr kumimoji="0" lang="en-US" sz="3300" b="1" i="0" u="none" strike="noStrike" kern="1200" cap="none" spc="0" normalizeH="0" baseline="0" noProof="0" dirty="0">
                <a:ln>
                  <a:noFill/>
                </a:ln>
                <a:solidFill>
                  <a:schemeClr val="accent2"/>
                </a:solidFill>
                <a:effectLst/>
                <a:uLnTx/>
                <a:uFillTx/>
                <a:latin typeface="Times New Roman" panose="02020603050405020304" pitchFamily="18" charset="0"/>
                <a:cs typeface="Times New Roman" panose="02020603050405020304" pitchFamily="18" charset="0"/>
              </a:rPr>
              <a:t> </a:t>
            </a:r>
            <a:r>
              <a:rPr kumimoji="0" lang="en-US" sz="3300" b="1" i="0" u="none" strike="noStrike" kern="1200" cap="none" spc="0" normalizeH="0" baseline="0" noProof="0" dirty="0" err="1">
                <a:ln>
                  <a:noFill/>
                </a:ln>
                <a:solidFill>
                  <a:schemeClr val="accent2"/>
                </a:solidFill>
                <a:effectLst/>
                <a:uLnTx/>
                <a:uFillTx/>
                <a:latin typeface="Times New Roman" panose="02020603050405020304" pitchFamily="18" charset="0"/>
                <a:cs typeface="Times New Roman" panose="02020603050405020304" pitchFamily="18" charset="0"/>
              </a:rPr>
              <a:t>theo</a:t>
            </a:r>
            <a:r>
              <a:rPr kumimoji="0" lang="en-US" sz="3300" b="1" i="0" u="none" strike="noStrike" kern="1200" cap="none" spc="0" normalizeH="0" baseline="0" noProof="0" dirty="0">
                <a:ln>
                  <a:noFill/>
                </a:ln>
                <a:solidFill>
                  <a:schemeClr val="accent2"/>
                </a:solidFill>
                <a:effectLst/>
                <a:uLnTx/>
                <a:uFillTx/>
                <a:latin typeface="Times New Roman" panose="02020603050405020304" pitchFamily="18" charset="0"/>
                <a:cs typeface="Times New Roman" panose="02020603050405020304" pitchFamily="18" charset="0"/>
              </a:rPr>
              <a:t> </a:t>
            </a:r>
            <a:r>
              <a:rPr kumimoji="0" lang="en-US" sz="3300" b="1" i="0" u="none" strike="noStrike" kern="1200" cap="none" spc="0" normalizeH="0" baseline="0" noProof="0" dirty="0" err="1">
                <a:ln>
                  <a:noFill/>
                </a:ln>
                <a:solidFill>
                  <a:schemeClr val="accent2"/>
                </a:solidFill>
                <a:effectLst/>
                <a:uLnTx/>
                <a:uFillTx/>
                <a:latin typeface="Times New Roman" panose="02020603050405020304" pitchFamily="18" charset="0"/>
                <a:cs typeface="Times New Roman" panose="02020603050405020304" pitchFamily="18" charset="0"/>
              </a:rPr>
              <a:t>nhu</a:t>
            </a:r>
            <a:r>
              <a:rPr kumimoji="0" lang="en-US" sz="3300" b="1" i="0" u="none" strike="noStrike" kern="1200" cap="none" spc="0" normalizeH="0" baseline="0" noProof="0" dirty="0">
                <a:ln>
                  <a:noFill/>
                </a:ln>
                <a:solidFill>
                  <a:schemeClr val="accent2"/>
                </a:solidFill>
                <a:effectLst/>
                <a:uLnTx/>
                <a:uFillTx/>
                <a:latin typeface="Times New Roman" panose="02020603050405020304" pitchFamily="18" charset="0"/>
                <a:cs typeface="Times New Roman" panose="02020603050405020304" pitchFamily="18" charset="0"/>
              </a:rPr>
              <a:t> </a:t>
            </a:r>
            <a:r>
              <a:rPr kumimoji="0" lang="en-US" sz="3300" b="1" i="0" u="none" strike="noStrike" kern="1200" cap="none" spc="0" normalizeH="0" baseline="0" noProof="0" dirty="0" err="1">
                <a:ln>
                  <a:noFill/>
                </a:ln>
                <a:solidFill>
                  <a:schemeClr val="accent2"/>
                </a:solidFill>
                <a:effectLst/>
                <a:uLnTx/>
                <a:uFillTx/>
                <a:latin typeface="Times New Roman" panose="02020603050405020304" pitchFamily="18" charset="0"/>
                <a:cs typeface="Times New Roman" panose="02020603050405020304" pitchFamily="18" charset="0"/>
              </a:rPr>
              <a:t>cầu</a:t>
            </a:r>
            <a:r>
              <a:rPr kumimoji="0" lang="en-US" sz="3300" b="1" i="0" u="none" strike="noStrike" kern="1200" cap="none" spc="0" normalizeH="0" baseline="0" noProof="0" dirty="0">
                <a:ln>
                  <a:noFill/>
                </a:ln>
                <a:solidFill>
                  <a:schemeClr val="accent2"/>
                </a:solidFill>
                <a:effectLst/>
                <a:uLnTx/>
                <a:uFillTx/>
                <a:latin typeface="Times New Roman" panose="02020603050405020304" pitchFamily="18" charset="0"/>
                <a:cs typeface="Times New Roman" panose="02020603050405020304" pitchFamily="18" charset="0"/>
              </a:rPr>
              <a:t> </a:t>
            </a:r>
            <a:r>
              <a:rPr kumimoji="0" lang="en-US" sz="3300" b="1" i="0" u="none" strike="noStrike" kern="1200" cap="none" spc="0" normalizeH="0" baseline="0" noProof="0" dirty="0" err="1">
                <a:ln>
                  <a:noFill/>
                </a:ln>
                <a:solidFill>
                  <a:schemeClr val="accent2"/>
                </a:solidFill>
                <a:effectLst/>
                <a:uLnTx/>
                <a:uFillTx/>
                <a:latin typeface="Times New Roman" panose="02020603050405020304" pitchFamily="18" charset="0"/>
                <a:cs typeface="Times New Roman" panose="02020603050405020304" pitchFamily="18" charset="0"/>
              </a:rPr>
              <a:t>thụ</a:t>
            </a:r>
            <a:r>
              <a:rPr kumimoji="0" lang="en-US" sz="3300" b="1" i="0" u="none" strike="noStrike" kern="1200" cap="none" spc="0" normalizeH="0" baseline="0" noProof="0" dirty="0">
                <a:ln>
                  <a:noFill/>
                </a:ln>
                <a:solidFill>
                  <a:schemeClr val="accent2"/>
                </a:solidFill>
                <a:effectLst/>
                <a:uLnTx/>
                <a:uFillTx/>
                <a:latin typeface="Times New Roman" panose="02020603050405020304" pitchFamily="18" charset="0"/>
                <a:cs typeface="Times New Roman" panose="02020603050405020304" pitchFamily="18" charset="0"/>
              </a:rPr>
              <a:t> </a:t>
            </a:r>
            <a:r>
              <a:rPr kumimoji="0" lang="en-US" sz="3300" b="1" i="0" u="none" strike="noStrike" kern="1200" cap="none" spc="0" normalizeH="0" baseline="0" noProof="0" dirty="0" err="1">
                <a:ln>
                  <a:noFill/>
                </a:ln>
                <a:solidFill>
                  <a:schemeClr val="accent2"/>
                </a:solidFill>
                <a:effectLst/>
                <a:uLnTx/>
                <a:uFillTx/>
                <a:latin typeface="Times New Roman" panose="02020603050405020304" pitchFamily="18" charset="0"/>
                <a:cs typeface="Times New Roman" panose="02020603050405020304" pitchFamily="18" charset="0"/>
              </a:rPr>
              <a:t>động</a:t>
            </a:r>
            <a:r>
              <a:rPr kumimoji="0" lang="en-US" sz="3300" b="0" i="0" u="none" strike="noStrike" kern="1200" cap="none" spc="0" normalizeH="0" baseline="0" noProof="0" dirty="0">
                <a:ln>
                  <a:noFill/>
                </a:ln>
                <a:solidFill>
                  <a:schemeClr val="accent2"/>
                </a:solidFill>
                <a:effectLst/>
                <a:uLnTx/>
                <a:uFillTx/>
                <a:latin typeface="Times New Roman" panose="02020603050405020304" pitchFamily="18" charset="0"/>
                <a:cs typeface="Times New Roman" panose="02020603050405020304" pitchFamily="18" charset="0"/>
              </a:rPr>
              <a:t>:</a:t>
            </a:r>
          </a:p>
          <a:p>
            <a:pPr marR="0" lvl="1" algn="just" defTabSz="914400" rtl="0" eaLnBrk="1" fontAlgn="auto" latinLnBrk="0" hangingPunct="1">
              <a:lnSpc>
                <a:spcPct val="100000"/>
              </a:lnSpc>
              <a:spcBef>
                <a:spcPct val="20000"/>
              </a:spcBef>
              <a:spcAft>
                <a:spcPts val="0"/>
              </a:spcAft>
              <a:buClrTx/>
              <a:buSzTx/>
              <a:tabLst/>
              <a:defRPr/>
            </a:pPr>
            <a:r>
              <a:rPr lang="en-US" sz="2800" dirty="0">
                <a:latin typeface="Times New Roman" panose="02020603050405020304" pitchFamily="18" charset="0"/>
                <a:cs typeface="Times New Roman" panose="02020603050405020304" pitchFamily="18" charset="0"/>
              </a:rPr>
              <a:t>C</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ó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thể</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có</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hay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không</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tồn</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tại</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trong</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tâm</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trí</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nhu</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cầu</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xuất</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hiện</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khi</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thấy</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hoặc</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biết</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đến</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sản</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phẩm</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nổ</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lực</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marketing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rất</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cao</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để</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bán</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hàng</a:t>
            </a: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1"/>
              </a:solidFill>
              <a:effectLst/>
              <a:uLnTx/>
              <a:uFillTx/>
              <a:latin typeface="Arial"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1+#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anim calcmode="lin" valueType="num">
                                      <p:cBhvr additive="base">
                                        <p:cTn id="19"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0">
                                            <p:txEl>
                                              <p:pRg st="1" end="1"/>
                                            </p:txEl>
                                          </p:spTgt>
                                        </p:tgtEl>
                                        <p:attrNameLst>
                                          <p:attrName>style.visibility</p:attrName>
                                        </p:attrNameLst>
                                      </p:cBhvr>
                                      <p:to>
                                        <p:strVal val="visible"/>
                                      </p:to>
                                    </p:set>
                                    <p:anim calcmode="lin" valueType="num">
                                      <p:cBhvr additive="base">
                                        <p:cTn id="23" dur="500" fill="hold"/>
                                        <p:tgtEl>
                                          <p:spTgt spid="10">
                                            <p:txEl>
                                              <p:pRg st="1" end="1"/>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0">
                                            <p:txEl>
                                              <p:pRg st="2" end="2"/>
                                            </p:txEl>
                                          </p:spTgt>
                                        </p:tgtEl>
                                        <p:attrNameLst>
                                          <p:attrName>style.visibility</p:attrName>
                                        </p:attrNameLst>
                                      </p:cBhvr>
                                      <p:to>
                                        <p:strVal val="visible"/>
                                      </p:to>
                                    </p:set>
                                    <p:anim calcmode="lin" valueType="num">
                                      <p:cBhvr additive="base">
                                        <p:cTn id="29" dur="500" fill="hold"/>
                                        <p:tgtEl>
                                          <p:spTgt spid="10">
                                            <p:txEl>
                                              <p:pRg st="2" end="2"/>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0">
                                            <p:txEl>
                                              <p:pRg st="2" end="2"/>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10">
                                            <p:txEl>
                                              <p:pRg st="3" end="3"/>
                                            </p:txEl>
                                          </p:spTgt>
                                        </p:tgtEl>
                                        <p:attrNameLst>
                                          <p:attrName>style.visibility</p:attrName>
                                        </p:attrNameLst>
                                      </p:cBhvr>
                                      <p:to>
                                        <p:strVal val="visible"/>
                                      </p:to>
                                    </p:set>
                                    <p:anim calcmode="lin" valueType="num">
                                      <p:cBhvr additive="base">
                                        <p:cTn id="33" dur="500" fill="hold"/>
                                        <p:tgtEl>
                                          <p:spTgt spid="10">
                                            <p:txEl>
                                              <p:pRg st="3" end="3"/>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0">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ChangeArrowheads="1"/>
          </p:cNvSpPr>
          <p:nvPr/>
        </p:nvSpPr>
        <p:spPr bwMode="auto">
          <a:xfrm>
            <a:off x="7620000" y="5183188"/>
            <a:ext cx="1371600" cy="1219200"/>
          </a:xfrm>
          <a:prstGeom prst="rect">
            <a:avLst/>
          </a:prstGeom>
          <a:solidFill>
            <a:schemeClr val="bg1"/>
          </a:solidFill>
          <a:ln w="9525">
            <a:noFill/>
            <a:miter lim="800000"/>
            <a:headEnd/>
            <a:tailEnd/>
          </a:ln>
        </p:spPr>
        <p:txBody>
          <a:bodyPr wrap="none" anchor="ctr"/>
          <a:lstStyle/>
          <a:p>
            <a:endParaRPr lang="en-US"/>
          </a:p>
        </p:txBody>
      </p:sp>
      <p:sp>
        <p:nvSpPr>
          <p:cNvPr id="40976" name="Rectangle 16"/>
          <p:cNvSpPr>
            <a:spLocks noGrp="1" noChangeArrowheads="1"/>
          </p:cNvSpPr>
          <p:nvPr>
            <p:ph type="title"/>
          </p:nvPr>
        </p:nvSpPr>
        <p:spPr>
          <a:xfrm>
            <a:off x="457200" y="228600"/>
            <a:ext cx="5334000" cy="685800"/>
          </a:xfrm>
          <a:noFill/>
        </p:spPr>
        <p:txBody>
          <a:bodyPr lIns="92075" tIns="46038" rIns="92075" bIns="46038">
            <a:normAutofit/>
          </a:bodyPr>
          <a:lstStyle/>
          <a:p>
            <a:pPr algn="l" eaLnBrk="1" hangingPunct="1"/>
            <a:r>
              <a:rPr lang="en-US" sz="3600" b="1" dirty="0" err="1">
                <a:solidFill>
                  <a:srgbClr val="CC0000"/>
                </a:solidFill>
                <a:latin typeface="Times New Roman" panose="02020603050405020304" pitchFamily="18" charset="0"/>
                <a:cs typeface="Times New Roman" panose="02020603050405020304" pitchFamily="18" charset="0"/>
              </a:rPr>
              <a:t>Hàng</a:t>
            </a:r>
            <a:r>
              <a:rPr lang="en-US" sz="3600" b="1" dirty="0">
                <a:solidFill>
                  <a:srgbClr val="CC0000"/>
                </a:solidFill>
                <a:latin typeface="Times New Roman" panose="02020603050405020304" pitchFamily="18" charset="0"/>
                <a:cs typeface="Times New Roman" panose="02020603050405020304" pitchFamily="18" charset="0"/>
              </a:rPr>
              <a:t> </a:t>
            </a:r>
            <a:r>
              <a:rPr lang="en-US" sz="3600" b="1" dirty="0" err="1">
                <a:solidFill>
                  <a:srgbClr val="CC0000"/>
                </a:solidFill>
                <a:latin typeface="Times New Roman" panose="02020603050405020304" pitchFamily="18" charset="0"/>
                <a:cs typeface="Times New Roman" panose="02020603050405020304" pitchFamily="18" charset="0"/>
              </a:rPr>
              <a:t>tư</a:t>
            </a:r>
            <a:r>
              <a:rPr lang="en-US" sz="3600" b="1" dirty="0">
                <a:solidFill>
                  <a:srgbClr val="CC0000"/>
                </a:solidFill>
                <a:latin typeface="Times New Roman" panose="02020603050405020304" pitchFamily="18" charset="0"/>
                <a:cs typeface="Times New Roman" panose="02020603050405020304" pitchFamily="18" charset="0"/>
              </a:rPr>
              <a:t> </a:t>
            </a:r>
            <a:r>
              <a:rPr lang="en-US" sz="3600" b="1" dirty="0" err="1">
                <a:solidFill>
                  <a:srgbClr val="CC0000"/>
                </a:solidFill>
                <a:latin typeface="Times New Roman" panose="02020603050405020304" pitchFamily="18" charset="0"/>
                <a:cs typeface="Times New Roman" panose="02020603050405020304" pitchFamily="18" charset="0"/>
              </a:rPr>
              <a:t>liệu</a:t>
            </a:r>
            <a:r>
              <a:rPr lang="en-US" sz="3600" b="1" dirty="0">
                <a:solidFill>
                  <a:srgbClr val="CC0000"/>
                </a:solidFill>
                <a:latin typeface="Times New Roman" panose="02020603050405020304" pitchFamily="18" charset="0"/>
                <a:cs typeface="Times New Roman" panose="02020603050405020304" pitchFamily="18" charset="0"/>
              </a:rPr>
              <a:t> </a:t>
            </a:r>
            <a:r>
              <a:rPr lang="en-US" sz="3600" b="1" dirty="0" err="1">
                <a:solidFill>
                  <a:srgbClr val="CC0000"/>
                </a:solidFill>
                <a:latin typeface="Times New Roman" panose="02020603050405020304" pitchFamily="18" charset="0"/>
                <a:cs typeface="Times New Roman" panose="02020603050405020304" pitchFamily="18" charset="0"/>
              </a:rPr>
              <a:t>sản</a:t>
            </a:r>
            <a:r>
              <a:rPr lang="en-US" sz="3600" b="1" dirty="0">
                <a:solidFill>
                  <a:srgbClr val="CC0000"/>
                </a:solidFill>
                <a:latin typeface="Times New Roman" panose="02020603050405020304" pitchFamily="18" charset="0"/>
                <a:cs typeface="Times New Roman" panose="02020603050405020304" pitchFamily="18" charset="0"/>
              </a:rPr>
              <a:t> </a:t>
            </a:r>
            <a:r>
              <a:rPr lang="en-US" sz="3600" b="1" dirty="0" err="1">
                <a:solidFill>
                  <a:srgbClr val="CC0000"/>
                </a:solidFill>
                <a:latin typeface="Times New Roman" panose="02020603050405020304" pitchFamily="18" charset="0"/>
                <a:cs typeface="Times New Roman" panose="02020603050405020304" pitchFamily="18" charset="0"/>
              </a:rPr>
              <a:t>xuất</a:t>
            </a:r>
            <a:endParaRPr lang="en-US" sz="3600" b="1" dirty="0">
              <a:solidFill>
                <a:srgbClr val="CC0000"/>
              </a:solidFill>
              <a:latin typeface="Times New Roman" panose="02020603050405020304" pitchFamily="18" charset="0"/>
              <a:cs typeface="Times New Roman" panose="02020603050405020304" pitchFamily="18" charset="0"/>
            </a:endParaRPr>
          </a:p>
        </p:txBody>
      </p:sp>
      <p:sp>
        <p:nvSpPr>
          <p:cNvPr id="3094" name="Line 35"/>
          <p:cNvSpPr>
            <a:spLocks noChangeShapeType="1"/>
          </p:cNvSpPr>
          <p:nvPr/>
        </p:nvSpPr>
        <p:spPr bwMode="auto">
          <a:xfrm>
            <a:off x="6629400" y="4267200"/>
            <a:ext cx="0" cy="1600200"/>
          </a:xfrm>
          <a:prstGeom prst="line">
            <a:avLst/>
          </a:prstGeom>
          <a:noFill/>
          <a:ln w="12700">
            <a:noFill/>
            <a:round/>
            <a:headEnd/>
            <a:tailEnd/>
          </a:ln>
        </p:spPr>
        <p:txBody>
          <a:bodyPr wrap="none" anchor="ctr"/>
          <a:lstStyle/>
          <a:p>
            <a:endParaRPr lang="en-US"/>
          </a:p>
        </p:txBody>
      </p:sp>
      <p:sp>
        <p:nvSpPr>
          <p:cNvPr id="3095" name="Line 36"/>
          <p:cNvSpPr>
            <a:spLocks noChangeShapeType="1"/>
          </p:cNvSpPr>
          <p:nvPr/>
        </p:nvSpPr>
        <p:spPr bwMode="auto">
          <a:xfrm>
            <a:off x="6629400" y="4267200"/>
            <a:ext cx="228600" cy="0"/>
          </a:xfrm>
          <a:prstGeom prst="line">
            <a:avLst/>
          </a:prstGeom>
          <a:noFill/>
          <a:ln w="12700">
            <a:noFill/>
            <a:round/>
            <a:headEnd/>
            <a:tailEnd type="triangle" w="med" len="med"/>
          </a:ln>
        </p:spPr>
        <p:txBody>
          <a:bodyPr wrap="none" anchor="ctr"/>
          <a:lstStyle/>
          <a:p>
            <a:endParaRPr lang="en-US"/>
          </a:p>
        </p:txBody>
      </p:sp>
      <p:sp>
        <p:nvSpPr>
          <p:cNvPr id="3096" name="Line 37"/>
          <p:cNvSpPr>
            <a:spLocks noChangeShapeType="1"/>
          </p:cNvSpPr>
          <p:nvPr/>
        </p:nvSpPr>
        <p:spPr bwMode="auto">
          <a:xfrm>
            <a:off x="6629400" y="5105400"/>
            <a:ext cx="228600" cy="0"/>
          </a:xfrm>
          <a:prstGeom prst="line">
            <a:avLst/>
          </a:prstGeom>
          <a:noFill/>
          <a:ln w="12700">
            <a:noFill/>
            <a:round/>
            <a:headEnd/>
            <a:tailEnd type="triangle" w="med" len="med"/>
          </a:ln>
        </p:spPr>
        <p:txBody>
          <a:bodyPr wrap="none" anchor="ctr"/>
          <a:lstStyle/>
          <a:p>
            <a:endParaRPr lang="en-US"/>
          </a:p>
        </p:txBody>
      </p:sp>
      <p:sp>
        <p:nvSpPr>
          <p:cNvPr id="3097" name="Line 38"/>
          <p:cNvSpPr>
            <a:spLocks noChangeShapeType="1"/>
          </p:cNvSpPr>
          <p:nvPr/>
        </p:nvSpPr>
        <p:spPr bwMode="auto">
          <a:xfrm>
            <a:off x="6629400" y="5867400"/>
            <a:ext cx="228600" cy="0"/>
          </a:xfrm>
          <a:prstGeom prst="line">
            <a:avLst/>
          </a:prstGeom>
          <a:noFill/>
          <a:ln w="12700">
            <a:noFill/>
            <a:round/>
            <a:headEnd/>
            <a:tailEnd type="triangle" w="med" len="med"/>
          </a:ln>
        </p:spPr>
        <p:txBody>
          <a:bodyPr wrap="none" anchor="ctr"/>
          <a:lstStyle/>
          <a:p>
            <a:endParaRPr lang="en-US"/>
          </a:p>
        </p:txBody>
      </p:sp>
      <p:sp>
        <p:nvSpPr>
          <p:cNvPr id="3098" name="Line 39"/>
          <p:cNvSpPr>
            <a:spLocks noChangeShapeType="1"/>
          </p:cNvSpPr>
          <p:nvPr/>
        </p:nvSpPr>
        <p:spPr bwMode="auto">
          <a:xfrm flipH="1">
            <a:off x="6400800" y="3124200"/>
            <a:ext cx="304800" cy="0"/>
          </a:xfrm>
          <a:prstGeom prst="line">
            <a:avLst/>
          </a:prstGeom>
          <a:noFill/>
          <a:ln w="12700">
            <a:noFill/>
            <a:round/>
            <a:headEnd/>
            <a:tailEnd/>
          </a:ln>
        </p:spPr>
        <p:txBody>
          <a:bodyPr wrap="none" anchor="ctr"/>
          <a:lstStyle/>
          <a:p>
            <a:endParaRPr lang="en-US"/>
          </a:p>
        </p:txBody>
      </p:sp>
      <p:sp>
        <p:nvSpPr>
          <p:cNvPr id="3099" name="Line 40"/>
          <p:cNvSpPr>
            <a:spLocks noChangeShapeType="1"/>
          </p:cNvSpPr>
          <p:nvPr/>
        </p:nvSpPr>
        <p:spPr bwMode="auto">
          <a:xfrm>
            <a:off x="6400800" y="3124200"/>
            <a:ext cx="0" cy="1905000"/>
          </a:xfrm>
          <a:prstGeom prst="line">
            <a:avLst/>
          </a:prstGeom>
          <a:noFill/>
          <a:ln w="12700">
            <a:noFill/>
            <a:round/>
            <a:headEnd/>
            <a:tailEnd/>
          </a:ln>
        </p:spPr>
        <p:txBody>
          <a:bodyPr wrap="none" anchor="ctr"/>
          <a:lstStyle/>
          <a:p>
            <a:endParaRPr lang="en-US"/>
          </a:p>
        </p:txBody>
      </p:sp>
      <p:sp>
        <p:nvSpPr>
          <p:cNvPr id="3100" name="Line 41"/>
          <p:cNvSpPr>
            <a:spLocks noChangeShapeType="1"/>
          </p:cNvSpPr>
          <p:nvPr/>
        </p:nvSpPr>
        <p:spPr bwMode="auto">
          <a:xfrm>
            <a:off x="6400800" y="5029200"/>
            <a:ext cx="228600" cy="0"/>
          </a:xfrm>
          <a:prstGeom prst="line">
            <a:avLst/>
          </a:prstGeom>
          <a:noFill/>
          <a:ln w="12700">
            <a:noFill/>
            <a:round/>
            <a:headEnd/>
            <a:tailEnd/>
          </a:ln>
        </p:spPr>
        <p:txBody>
          <a:bodyPr wrap="none" anchor="ctr"/>
          <a:lstStyle/>
          <a:p>
            <a:endParaRPr lang="en-US"/>
          </a:p>
        </p:txBody>
      </p:sp>
      <p:sp>
        <p:nvSpPr>
          <p:cNvPr id="3101" name="Line 42"/>
          <p:cNvSpPr>
            <a:spLocks noChangeShapeType="1"/>
          </p:cNvSpPr>
          <p:nvPr/>
        </p:nvSpPr>
        <p:spPr bwMode="auto">
          <a:xfrm>
            <a:off x="4419600" y="3505200"/>
            <a:ext cx="0" cy="1752600"/>
          </a:xfrm>
          <a:prstGeom prst="line">
            <a:avLst/>
          </a:prstGeom>
          <a:noFill/>
          <a:ln w="12700">
            <a:noFill/>
            <a:round/>
            <a:headEnd/>
            <a:tailEnd type="arrow" w="med" len="med"/>
          </a:ln>
        </p:spPr>
        <p:txBody>
          <a:bodyPr wrap="none" anchor="ctr"/>
          <a:lstStyle/>
          <a:p>
            <a:endParaRPr lang="en-US"/>
          </a:p>
        </p:txBody>
      </p:sp>
      <p:sp>
        <p:nvSpPr>
          <p:cNvPr id="3102" name="Line 43"/>
          <p:cNvSpPr>
            <a:spLocks noChangeShapeType="1"/>
          </p:cNvSpPr>
          <p:nvPr/>
        </p:nvSpPr>
        <p:spPr bwMode="auto">
          <a:xfrm>
            <a:off x="3505200" y="3886200"/>
            <a:ext cx="1905000" cy="0"/>
          </a:xfrm>
          <a:prstGeom prst="line">
            <a:avLst/>
          </a:prstGeom>
          <a:noFill/>
          <a:ln w="12700">
            <a:noFill/>
            <a:round/>
            <a:headEnd/>
            <a:tailEnd/>
          </a:ln>
        </p:spPr>
        <p:txBody>
          <a:bodyPr wrap="none" anchor="ctr"/>
          <a:lstStyle/>
          <a:p>
            <a:endParaRPr lang="en-US"/>
          </a:p>
        </p:txBody>
      </p:sp>
      <p:sp>
        <p:nvSpPr>
          <p:cNvPr id="3103" name="Line 44"/>
          <p:cNvSpPr>
            <a:spLocks noChangeShapeType="1"/>
          </p:cNvSpPr>
          <p:nvPr/>
        </p:nvSpPr>
        <p:spPr bwMode="auto">
          <a:xfrm>
            <a:off x="5337717" y="3810000"/>
            <a:ext cx="0" cy="304800"/>
          </a:xfrm>
          <a:prstGeom prst="line">
            <a:avLst/>
          </a:prstGeom>
          <a:noFill/>
          <a:ln w="12700">
            <a:noFill/>
            <a:round/>
            <a:headEnd/>
            <a:tailEnd type="triangle" w="med" len="med"/>
          </a:ln>
        </p:spPr>
        <p:txBody>
          <a:bodyPr wrap="none" anchor="ctr"/>
          <a:lstStyle/>
          <a:p>
            <a:endParaRPr lang="en-US"/>
          </a:p>
        </p:txBody>
      </p:sp>
      <p:sp>
        <p:nvSpPr>
          <p:cNvPr id="3104" name="Line 45"/>
          <p:cNvSpPr>
            <a:spLocks noChangeShapeType="1"/>
          </p:cNvSpPr>
          <p:nvPr/>
        </p:nvSpPr>
        <p:spPr bwMode="auto">
          <a:xfrm>
            <a:off x="3581400" y="3626005"/>
            <a:ext cx="0" cy="304800"/>
          </a:xfrm>
          <a:prstGeom prst="line">
            <a:avLst/>
          </a:prstGeom>
          <a:noFill/>
          <a:ln w="12700">
            <a:noFill/>
            <a:round/>
            <a:headEnd/>
            <a:tailEnd type="triangle" w="med" len="med"/>
          </a:ln>
        </p:spPr>
        <p:txBody>
          <a:bodyPr wrap="none" anchor="ctr"/>
          <a:lstStyle/>
          <a:p>
            <a:endParaRPr lang="en-US"/>
          </a:p>
        </p:txBody>
      </p:sp>
      <p:sp>
        <p:nvSpPr>
          <p:cNvPr id="3105" name="Line 46"/>
          <p:cNvSpPr>
            <a:spLocks noChangeShapeType="1"/>
          </p:cNvSpPr>
          <p:nvPr/>
        </p:nvSpPr>
        <p:spPr bwMode="auto">
          <a:xfrm>
            <a:off x="0" y="3124200"/>
            <a:ext cx="0" cy="2667000"/>
          </a:xfrm>
          <a:prstGeom prst="line">
            <a:avLst/>
          </a:prstGeom>
          <a:noFill/>
          <a:ln w="12700">
            <a:noFill/>
            <a:round/>
            <a:headEnd/>
            <a:tailEnd/>
          </a:ln>
        </p:spPr>
        <p:txBody>
          <a:bodyPr wrap="none" anchor="ctr"/>
          <a:lstStyle/>
          <a:p>
            <a:endParaRPr lang="en-US"/>
          </a:p>
        </p:txBody>
      </p:sp>
      <p:sp>
        <p:nvSpPr>
          <p:cNvPr id="3106" name="Line 47"/>
          <p:cNvSpPr>
            <a:spLocks noChangeShapeType="1"/>
          </p:cNvSpPr>
          <p:nvPr/>
        </p:nvSpPr>
        <p:spPr bwMode="auto">
          <a:xfrm>
            <a:off x="0" y="5791200"/>
            <a:ext cx="533400" cy="0"/>
          </a:xfrm>
          <a:prstGeom prst="line">
            <a:avLst/>
          </a:prstGeom>
          <a:noFill/>
          <a:ln w="12700">
            <a:noFill/>
            <a:round/>
            <a:headEnd/>
            <a:tailEnd type="triangle" w="med" len="med"/>
          </a:ln>
        </p:spPr>
        <p:txBody>
          <a:bodyPr wrap="none" anchor="ctr"/>
          <a:lstStyle/>
          <a:p>
            <a:endParaRPr lang="en-US"/>
          </a:p>
        </p:txBody>
      </p:sp>
      <p:sp>
        <p:nvSpPr>
          <p:cNvPr id="3107" name="Line 48"/>
          <p:cNvSpPr>
            <a:spLocks noChangeShapeType="1"/>
          </p:cNvSpPr>
          <p:nvPr/>
        </p:nvSpPr>
        <p:spPr bwMode="auto">
          <a:xfrm>
            <a:off x="0" y="3124200"/>
            <a:ext cx="381000" cy="0"/>
          </a:xfrm>
          <a:prstGeom prst="line">
            <a:avLst/>
          </a:prstGeom>
          <a:noFill/>
          <a:ln w="12700">
            <a:noFill/>
            <a:round/>
            <a:headEnd/>
            <a:tailEnd/>
          </a:ln>
        </p:spPr>
        <p:txBody>
          <a:bodyPr wrap="none" anchor="ctr"/>
          <a:lstStyle/>
          <a:p>
            <a:endParaRPr lang="en-US"/>
          </a:p>
        </p:txBody>
      </p:sp>
      <p:sp>
        <p:nvSpPr>
          <p:cNvPr id="3108" name="Line 49"/>
          <p:cNvSpPr>
            <a:spLocks noChangeShapeType="1"/>
          </p:cNvSpPr>
          <p:nvPr/>
        </p:nvSpPr>
        <p:spPr bwMode="auto">
          <a:xfrm>
            <a:off x="0" y="4495800"/>
            <a:ext cx="533400" cy="0"/>
          </a:xfrm>
          <a:prstGeom prst="line">
            <a:avLst/>
          </a:prstGeom>
          <a:noFill/>
          <a:ln w="12700">
            <a:noFill/>
            <a:round/>
            <a:headEnd/>
            <a:tailEnd type="triangle" w="med" len="med"/>
          </a:ln>
        </p:spPr>
        <p:txBody>
          <a:bodyPr wrap="none" anchor="ctr"/>
          <a:lstStyle/>
          <a:p>
            <a:endParaRPr lang="en-US"/>
          </a:p>
        </p:txBody>
      </p:sp>
      <p:pic>
        <p:nvPicPr>
          <p:cNvPr id="3" name="Picture 2">
            <a:extLst>
              <a:ext uri="{FF2B5EF4-FFF2-40B4-BE49-F238E27FC236}">
                <a16:creationId xmlns:a16="http://schemas.microsoft.com/office/drawing/2014/main" id="{65BC4FBA-1F47-4A48-871B-91EEE0F45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147762"/>
            <a:ext cx="7229475" cy="5427772"/>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0976"/>
                                        </p:tgtEl>
                                        <p:attrNameLst>
                                          <p:attrName>style.visibility</p:attrName>
                                        </p:attrNameLst>
                                      </p:cBhvr>
                                      <p:to>
                                        <p:strVal val="visible"/>
                                      </p:to>
                                    </p:set>
                                    <p:anim calcmode="lin" valueType="num">
                                      <p:cBhvr additive="base">
                                        <p:cTn id="7" dur="500" fill="hold"/>
                                        <p:tgtEl>
                                          <p:spTgt spid="40976"/>
                                        </p:tgtEl>
                                        <p:attrNameLst>
                                          <p:attrName>ppt_x</p:attrName>
                                        </p:attrNameLst>
                                      </p:cBhvr>
                                      <p:tavLst>
                                        <p:tav tm="0">
                                          <p:val>
                                            <p:strVal val="1+#ppt_w/2"/>
                                          </p:val>
                                        </p:tav>
                                        <p:tav tm="100000">
                                          <p:val>
                                            <p:strVal val="#ppt_x"/>
                                          </p:val>
                                        </p:tav>
                                      </p:tavLst>
                                    </p:anim>
                                    <p:anim calcmode="lin" valueType="num">
                                      <p:cBhvr additive="base">
                                        <p:cTn id="8" dur="500" fill="hold"/>
                                        <p:tgtEl>
                                          <p:spTgt spid="4097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6"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5972-2C51-4E18-BA82-DBE0FFED36DC}"/>
              </a:ext>
            </a:extLst>
          </p:cNvPr>
          <p:cNvSpPr>
            <a:spLocks noGrp="1"/>
          </p:cNvSpPr>
          <p:nvPr>
            <p:ph type="title"/>
          </p:nvPr>
        </p:nvSpPr>
        <p:spPr/>
        <p:txBody>
          <a:bodyPr/>
          <a:lstStyle/>
          <a:p>
            <a:r>
              <a:rPr lang="en-US" b="1" dirty="0" err="1">
                <a:solidFill>
                  <a:srgbClr val="0070C0"/>
                </a:solidFill>
                <a:latin typeface="Times New Roman" panose="02020603050405020304" pitchFamily="18" charset="0"/>
                <a:cs typeface="Times New Roman" panose="02020603050405020304" pitchFamily="18" charset="0"/>
              </a:rPr>
              <a:t>Vị</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trí</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của</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chính</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sách</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sản</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phẩm</a:t>
            </a: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1D595F0-86E2-42A6-BC0D-CF3F6D27B7EA}"/>
              </a:ext>
            </a:extLst>
          </p:cNvPr>
          <p:cNvSpPr>
            <a:spLocks noGrp="1"/>
          </p:cNvSpPr>
          <p:nvPr>
            <p:ph idx="1"/>
          </p:nvPr>
        </p:nvSpPr>
        <p:spPr>
          <a:xfrm>
            <a:off x="609599" y="1371600"/>
            <a:ext cx="7239001" cy="4953000"/>
          </a:xfrm>
        </p:spPr>
        <p:txBody>
          <a:bodyPr>
            <a:noAutofit/>
          </a:bodyPr>
          <a:lstStyle/>
          <a:p>
            <a:pPr>
              <a:lnSpc>
                <a:spcPct val="150000"/>
              </a:lnSpc>
              <a:spcBef>
                <a:spcPts val="0"/>
              </a:spcBef>
            </a:pPr>
            <a:r>
              <a:rPr lang="en-US" sz="3200" dirty="0" err="1">
                <a:latin typeface="Times New Roman" panose="02020603050405020304" pitchFamily="18" charset="0"/>
                <a:cs typeface="Times New Roman" panose="02020603050405020304" pitchFamily="18" charset="0"/>
              </a:rPr>
              <a:t>Chính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sách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sản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phẩm</a:t>
            </a:r>
            <a:r>
              <a:rPr lang="en-US" sz="3200" dirty="0">
                <a:latin typeface="Times New Roman" panose="02020603050405020304" pitchFamily="18" charset="0"/>
                <a:cs typeface="Times New Roman" panose="02020603050405020304" pitchFamily="18" charset="0"/>
              </a:rPr>
              <a:t> bao </a:t>
            </a:r>
            <a:r>
              <a:rPr lang="en-US" sz="3200" dirty="0" err="1">
                <a:latin typeface="Times New Roman" panose="02020603050405020304" pitchFamily="18" charset="0"/>
                <a:cs typeface="Times New Roman" panose="02020603050405020304" pitchFamily="18" charset="0"/>
              </a:rPr>
              <a:t>gồm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hoạt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động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giải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nhằm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đề</a:t>
            </a:r>
            <a:r>
              <a:rPr lang="en-US" sz="3200" dirty="0">
                <a:latin typeface="Times New Roman" panose="02020603050405020304" pitchFamily="18" charset="0"/>
                <a:cs typeface="Times New Roman" panose="02020603050405020304" pitchFamily="18" charset="0"/>
              </a:rPr>
              <a:t> ra, </a:t>
            </a:r>
            <a:r>
              <a:rPr lang="en-US" sz="3200" dirty="0" err="1">
                <a:latin typeface="Times New Roman" panose="02020603050405020304" pitchFamily="18" charset="0"/>
                <a:cs typeface="Times New Roman" panose="02020603050405020304" pitchFamily="18" charset="0"/>
              </a:rPr>
              <a:t>thực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hiện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chiến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lược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về</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sản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phẩm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của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doanh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nghiệp</a:t>
            </a:r>
            <a:endParaRPr lang="en-US" sz="3200" dirty="0">
              <a:latin typeface="Times New Roman" panose="02020603050405020304" pitchFamily="18" charset="0"/>
              <a:cs typeface="Times New Roman" panose="02020603050405020304" pitchFamily="18" charset="0"/>
            </a:endParaRPr>
          </a:p>
          <a:p>
            <a:pPr>
              <a:lnSpc>
                <a:spcPct val="150000"/>
              </a:lnSpc>
              <a:spcBef>
                <a:spcPts val="0"/>
              </a:spcBef>
            </a:pPr>
            <a:r>
              <a:rPr lang="en-US" sz="3200" b="1" dirty="0" err="1">
                <a:solidFill>
                  <a:srgbClr val="C00000"/>
                </a:solidFill>
                <a:latin typeface="Times New Roman" panose="02020603050405020304" pitchFamily="18" charset="0"/>
                <a:cs typeface="Times New Roman" panose="02020603050405020304" pitchFamily="18" charset="0"/>
              </a:rPr>
              <a:t>Vai</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trò</a:t>
            </a:r>
            <a:r>
              <a:rPr lang="en-US" sz="3200" b="1" dirty="0">
                <a:solidFill>
                  <a:srgbClr val="C00000"/>
                </a:solidFill>
                <a:latin typeface="Times New Roman" panose="02020603050405020304" pitchFamily="18" charset="0"/>
                <a:cs typeface="Times New Roman" panose="02020603050405020304" pitchFamily="18" charset="0"/>
              </a:rPr>
              <a:t>:</a:t>
            </a:r>
          </a:p>
          <a:p>
            <a:pPr>
              <a:lnSpc>
                <a:spcPct val="150000"/>
              </a:lnSpc>
              <a:spcBef>
                <a:spcPts val="0"/>
              </a:spcBef>
            </a:pP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Sản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phẩm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công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cụ</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cạnh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tranh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bền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vững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nhất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của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doanh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nghiệp</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4460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5972-2C51-4E18-BA82-DBE0FFED36DC}"/>
              </a:ext>
            </a:extLst>
          </p:cNvPr>
          <p:cNvSpPr>
            <a:spLocks noGrp="1"/>
          </p:cNvSpPr>
          <p:nvPr>
            <p:ph type="title"/>
          </p:nvPr>
        </p:nvSpPr>
        <p:spPr/>
        <p:txBody>
          <a:bodyPr/>
          <a:lstStyle/>
          <a:p>
            <a:r>
              <a:rPr lang="en-US" b="1" dirty="0" err="1">
                <a:solidFill>
                  <a:srgbClr val="0070C0"/>
                </a:solidFill>
                <a:latin typeface="Times New Roman" panose="02020603050405020304" pitchFamily="18" charset="0"/>
                <a:cs typeface="Times New Roman" panose="02020603050405020304" pitchFamily="18" charset="0"/>
              </a:rPr>
              <a:t>Vị</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trí</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của</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chính</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sách</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sản</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phẩm</a:t>
            </a: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1D595F0-86E2-42A6-BC0D-CF3F6D27B7EA}"/>
              </a:ext>
            </a:extLst>
          </p:cNvPr>
          <p:cNvSpPr>
            <a:spLocks noGrp="1"/>
          </p:cNvSpPr>
          <p:nvPr>
            <p:ph idx="1"/>
          </p:nvPr>
        </p:nvSpPr>
        <p:spPr>
          <a:xfrm>
            <a:off x="609599" y="1371600"/>
            <a:ext cx="7239001" cy="4953000"/>
          </a:xfrm>
        </p:spPr>
        <p:txBody>
          <a:bodyPr>
            <a:noAutofit/>
          </a:bodyPr>
          <a:lstStyle/>
          <a:p>
            <a:r>
              <a:rPr lang="en-US" sz="3200" dirty="0" err="1">
                <a:solidFill>
                  <a:srgbClr val="C00000"/>
                </a:solidFill>
                <a:latin typeface="Times New Roman" panose="02020603050405020304" pitchFamily="18" charset="0"/>
                <a:cs typeface="Times New Roman" panose="02020603050405020304" pitchFamily="18" charset="0"/>
              </a:rPr>
              <a:t>Vai</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trò</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tt</a:t>
            </a:r>
            <a:r>
              <a:rPr lang="en-US" sz="3200" dirty="0">
                <a:solidFill>
                  <a:srgbClr val="C00000"/>
                </a:solidFill>
                <a:latin typeface="Times New Roman" panose="02020603050405020304" pitchFamily="18" charset="0"/>
                <a:cs typeface="Times New Roman" panose="02020603050405020304" pitchFamily="18" charset="0"/>
              </a:rPr>
              <a:t>):</a:t>
            </a:r>
          </a:p>
          <a:p>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Cơ</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sở</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việc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thực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hiện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triển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khai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phối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hợp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một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cách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có</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hiệu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quả</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với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chính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sách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khác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Giá</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Phân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phối</a:t>
            </a:r>
            <a:r>
              <a:rPr lang="en-US" sz="3200" dirty="0">
                <a:latin typeface="Times New Roman" panose="02020603050405020304" pitchFamily="18" charset="0"/>
                <a:cs typeface="Times New Roman" panose="02020603050405020304" pitchFamily="18" charset="0"/>
              </a:rPr>
              <a:t>, XTHH</a:t>
            </a:r>
          </a:p>
          <a:p>
            <a:r>
              <a:rPr lang="en-US" sz="3200" dirty="0">
                <a:latin typeface="Times New Roman" panose="02020603050405020304" pitchFamily="18" charset="0"/>
                <a:cs typeface="Times New Roman" panose="02020603050405020304" pitchFamily="18" charset="0"/>
              </a:rPr>
              <a:t>- </a:t>
            </a:r>
            <a:r>
              <a:rPr lang="en-US" sz="3200" dirty="0" err="1">
                <a:highlight>
                  <a:srgbClr val="FFFF00"/>
                </a:highlight>
                <a:latin typeface="Times New Roman" panose="02020603050405020304" pitchFamily="18" charset="0"/>
                <a:cs typeface="Times New Roman" panose="02020603050405020304" pitchFamily="18" charset="0"/>
              </a:rPr>
              <a:t>Giúp</a:t>
            </a:r>
            <a:r>
              <a:rPr lang="en-US" sz="3200" dirty="0">
                <a:highlight>
                  <a:srgbClr val="FFFF00"/>
                </a:highlight>
                <a:latin typeface="Times New Roman" panose="02020603050405020304" pitchFamily="18" charset="0"/>
                <a:cs typeface="Times New Roman" panose="02020603050405020304" pitchFamily="18" charset="0"/>
              </a:rPr>
              <a:t> </a:t>
            </a:r>
            <a:r>
              <a:rPr lang="en-US" sz="3200" dirty="0" err="1">
                <a:highlight>
                  <a:srgbClr val="FFFF00"/>
                </a:highlight>
                <a:latin typeface="Times New Roman" panose="02020603050405020304" pitchFamily="18" charset="0"/>
                <a:cs typeface="Times New Roman" panose="02020603050405020304" pitchFamily="18" charset="0"/>
              </a:rPr>
              <a:t>doanh</a:t>
            </a:r>
            <a:r>
              <a:rPr lang="en-US" sz="3200" dirty="0">
                <a:highlight>
                  <a:srgbClr val="FFFF00"/>
                </a:highlight>
                <a:latin typeface="Times New Roman" panose="02020603050405020304" pitchFamily="18" charset="0"/>
                <a:cs typeface="Times New Roman" panose="02020603050405020304" pitchFamily="18" charset="0"/>
              </a:rPr>
              <a:t> </a:t>
            </a:r>
            <a:r>
              <a:rPr lang="en-US" sz="3200" dirty="0" err="1">
                <a:highlight>
                  <a:srgbClr val="FFFF00"/>
                </a:highlight>
                <a:latin typeface="Times New Roman" panose="02020603050405020304" pitchFamily="18" charset="0"/>
                <a:cs typeface="Times New Roman" panose="02020603050405020304" pitchFamily="18" charset="0"/>
              </a:rPr>
              <a:t>nghiệp</a:t>
            </a:r>
            <a:r>
              <a:rPr lang="en-US" sz="3200" dirty="0">
                <a:highlight>
                  <a:srgbClr val="FFFF00"/>
                </a:highlight>
                <a:latin typeface="Times New Roman" panose="02020603050405020304" pitchFamily="18" charset="0"/>
                <a:cs typeface="Times New Roman" panose="02020603050405020304" pitchFamily="18" charset="0"/>
              </a:rPr>
              <a:t> </a:t>
            </a:r>
            <a:r>
              <a:rPr lang="en-US" sz="3200" dirty="0" err="1">
                <a:highlight>
                  <a:srgbClr val="FFFF00"/>
                </a:highlight>
                <a:latin typeface="Times New Roman" panose="02020603050405020304" pitchFamily="18" charset="0"/>
                <a:cs typeface="Times New Roman" panose="02020603050405020304" pitchFamily="18" charset="0"/>
              </a:rPr>
              <a:t>thực</a:t>
            </a:r>
            <a:r>
              <a:rPr lang="en-US" sz="3200" dirty="0">
                <a:highlight>
                  <a:srgbClr val="FFFF00"/>
                </a:highlight>
                <a:latin typeface="Times New Roman" panose="02020603050405020304" pitchFamily="18" charset="0"/>
                <a:cs typeface="Times New Roman" panose="02020603050405020304" pitchFamily="18" charset="0"/>
              </a:rPr>
              <a:t> </a:t>
            </a:r>
            <a:r>
              <a:rPr lang="en-US" sz="3200" dirty="0" err="1">
                <a:highlight>
                  <a:srgbClr val="FFFF00"/>
                </a:highlight>
                <a:latin typeface="Times New Roman" panose="02020603050405020304" pitchFamily="18" charset="0"/>
                <a:cs typeface="Times New Roman" panose="02020603050405020304" pitchFamily="18" charset="0"/>
              </a:rPr>
              <a:t>hiện</a:t>
            </a:r>
            <a:r>
              <a:rPr lang="en-US" sz="3200" dirty="0">
                <a:highlight>
                  <a:srgbClr val="FFFF00"/>
                </a:highlight>
                <a:latin typeface="Times New Roman" panose="02020603050405020304" pitchFamily="18" charset="0"/>
                <a:cs typeface="Times New Roman" panose="02020603050405020304" pitchFamily="18" charset="0"/>
              </a:rPr>
              <a:t> </a:t>
            </a:r>
            <a:r>
              <a:rPr lang="en-US" sz="3200" dirty="0" err="1">
                <a:highlight>
                  <a:srgbClr val="FFFF00"/>
                </a:highlight>
                <a:latin typeface="Times New Roman" panose="02020603050405020304" pitchFamily="18" charset="0"/>
                <a:cs typeface="Times New Roman" panose="02020603050405020304" pitchFamily="18" charset="0"/>
              </a:rPr>
              <a:t>được</a:t>
            </a:r>
            <a:r>
              <a:rPr lang="en-US" sz="3200" dirty="0">
                <a:highlight>
                  <a:srgbClr val="FFFF00"/>
                </a:highlight>
                <a:latin typeface="Times New Roman" panose="02020603050405020304" pitchFamily="18" charset="0"/>
                <a:cs typeface="Times New Roman" panose="02020603050405020304" pitchFamily="18" charset="0"/>
              </a:rPr>
              <a:t> </a:t>
            </a:r>
            <a:r>
              <a:rPr lang="en-US" sz="3200" dirty="0" err="1">
                <a:highlight>
                  <a:srgbClr val="FFFF00"/>
                </a:highlight>
                <a:latin typeface="Times New Roman" panose="02020603050405020304" pitchFamily="18" charset="0"/>
                <a:cs typeface="Times New Roman" panose="02020603050405020304" pitchFamily="18" charset="0"/>
              </a:rPr>
              <a:t>các</a:t>
            </a:r>
            <a:r>
              <a:rPr lang="en-US" sz="3200" dirty="0">
                <a:highlight>
                  <a:srgbClr val="FFFF00"/>
                </a:highlight>
                <a:latin typeface="Times New Roman" panose="02020603050405020304" pitchFamily="18" charset="0"/>
                <a:cs typeface="Times New Roman" panose="02020603050405020304" pitchFamily="18" charset="0"/>
              </a:rPr>
              <a:t> </a:t>
            </a:r>
            <a:r>
              <a:rPr lang="en-US" sz="3200" dirty="0" err="1">
                <a:highlight>
                  <a:srgbClr val="FFFF00"/>
                </a:highlight>
                <a:latin typeface="Times New Roman" panose="02020603050405020304" pitchFamily="18" charset="0"/>
                <a:cs typeface="Times New Roman" panose="02020603050405020304" pitchFamily="18" charset="0"/>
              </a:rPr>
              <a:t>mục</a:t>
            </a:r>
            <a:r>
              <a:rPr lang="en-US" sz="3200" dirty="0">
                <a:highlight>
                  <a:srgbClr val="FFFF00"/>
                </a:highlight>
                <a:latin typeface="Times New Roman" panose="02020603050405020304" pitchFamily="18" charset="0"/>
                <a:cs typeface="Times New Roman" panose="02020603050405020304" pitchFamily="18" charset="0"/>
              </a:rPr>
              <a:t> </a:t>
            </a:r>
            <a:r>
              <a:rPr lang="en-US" sz="3200" dirty="0" err="1">
                <a:highlight>
                  <a:srgbClr val="FFFF00"/>
                </a:highlight>
                <a:latin typeface="Times New Roman" panose="02020603050405020304" pitchFamily="18" charset="0"/>
                <a:cs typeface="Times New Roman" panose="02020603050405020304" pitchFamily="18" charset="0"/>
              </a:rPr>
              <a:t>tiêu</a:t>
            </a:r>
            <a:r>
              <a:rPr lang="en-US" sz="3200" dirty="0">
                <a:highlight>
                  <a:srgbClr val="FFFF00"/>
                </a:highlight>
                <a:latin typeface="Times New Roman" panose="02020603050405020304" pitchFamily="18" charset="0"/>
                <a:cs typeface="Times New Roman" panose="02020603050405020304" pitchFamily="18" charset="0"/>
              </a:rPr>
              <a:t> marketing </a:t>
            </a:r>
            <a:r>
              <a:rPr lang="en-US" sz="3200" dirty="0" err="1">
                <a:highlight>
                  <a:srgbClr val="FFFF00"/>
                </a:highlight>
                <a:latin typeface="Times New Roman" panose="02020603050405020304" pitchFamily="18" charset="0"/>
                <a:cs typeface="Times New Roman" panose="02020603050405020304" pitchFamily="18" charset="0"/>
              </a:rPr>
              <a:t>trong</a:t>
            </a:r>
            <a:r>
              <a:rPr lang="en-US" sz="3200" dirty="0">
                <a:highlight>
                  <a:srgbClr val="FFFF00"/>
                </a:highlight>
                <a:latin typeface="Times New Roman" panose="02020603050405020304" pitchFamily="18" charset="0"/>
                <a:cs typeface="Times New Roman" panose="02020603050405020304" pitchFamily="18" charset="0"/>
              </a:rPr>
              <a:t> </a:t>
            </a:r>
            <a:r>
              <a:rPr lang="en-US" sz="3200" dirty="0" err="1">
                <a:highlight>
                  <a:srgbClr val="FFFF00"/>
                </a:highlight>
                <a:latin typeface="Times New Roman" panose="02020603050405020304" pitchFamily="18" charset="0"/>
                <a:cs typeface="Times New Roman" panose="02020603050405020304" pitchFamily="18" charset="0"/>
              </a:rPr>
              <a:t>từng</a:t>
            </a:r>
            <a:r>
              <a:rPr lang="en-US" sz="3200" dirty="0">
                <a:highlight>
                  <a:srgbClr val="FFFF00"/>
                </a:highlight>
                <a:latin typeface="Times New Roman" panose="02020603050405020304" pitchFamily="18" charset="0"/>
                <a:cs typeface="Times New Roman" panose="02020603050405020304" pitchFamily="18" charset="0"/>
              </a:rPr>
              <a:t> </a:t>
            </a:r>
            <a:r>
              <a:rPr lang="en-US" sz="3200" dirty="0" err="1">
                <a:highlight>
                  <a:srgbClr val="FFFF00"/>
                </a:highlight>
                <a:latin typeface="Times New Roman" panose="02020603050405020304" pitchFamily="18" charset="0"/>
                <a:cs typeface="Times New Roman" panose="02020603050405020304" pitchFamily="18" charset="0"/>
              </a:rPr>
              <a:t>thời</a:t>
            </a:r>
            <a:r>
              <a:rPr lang="en-US" sz="3200" dirty="0">
                <a:highlight>
                  <a:srgbClr val="FFFF00"/>
                </a:highlight>
                <a:latin typeface="Times New Roman" panose="02020603050405020304" pitchFamily="18" charset="0"/>
                <a:cs typeface="Times New Roman" panose="02020603050405020304" pitchFamily="18" charset="0"/>
              </a:rPr>
              <a:t> </a:t>
            </a:r>
            <a:r>
              <a:rPr lang="en-US" sz="3200" dirty="0" err="1">
                <a:highlight>
                  <a:srgbClr val="FFFF00"/>
                </a:highlight>
                <a:latin typeface="Times New Roman" panose="02020603050405020304" pitchFamily="18" charset="0"/>
                <a:cs typeface="Times New Roman" panose="02020603050405020304" pitchFamily="18" charset="0"/>
              </a:rPr>
              <a:t>kỳ</a:t>
            </a:r>
            <a:r>
              <a:rPr lang="en-US" sz="3200" dirty="0">
                <a:highlight>
                  <a:srgbClr val="FFFF00"/>
                </a:highligh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80332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E77C2-036E-413D-9330-52397E101BD4}"/>
              </a:ext>
            </a:extLst>
          </p:cNvPr>
          <p:cNvSpPr>
            <a:spLocks noGrp="1"/>
          </p:cNvSpPr>
          <p:nvPr>
            <p:ph type="title"/>
          </p:nvPr>
        </p:nvSpPr>
        <p:spPr>
          <a:xfrm>
            <a:off x="609599" y="609600"/>
            <a:ext cx="7239001" cy="1295400"/>
          </a:xfrm>
        </p:spPr>
        <p:txBody>
          <a:bodyPr>
            <a:normAutofit/>
          </a:bodyPr>
          <a:lstStyle/>
          <a:p>
            <a:r>
              <a:rPr lang="en-US" b="1" dirty="0">
                <a:solidFill>
                  <a:srgbClr val="C00000"/>
                </a:solidFill>
                <a:latin typeface="Times New Roman" panose="02020603050405020304" pitchFamily="18" charset="0"/>
                <a:cs typeface="Times New Roman" panose="02020603050405020304" pitchFamily="18" charset="0"/>
              </a:rPr>
              <a:t>II. </a:t>
            </a:r>
            <a:r>
              <a:rPr lang="en-US" b="1" dirty="0" err="1">
                <a:solidFill>
                  <a:srgbClr val="C00000"/>
                </a:solidFill>
                <a:latin typeface="Times New Roman" panose="02020603050405020304" pitchFamily="18" charset="0"/>
                <a:cs typeface="Times New Roman" panose="02020603050405020304" pitchFamily="18" charset="0"/>
              </a:rPr>
              <a:t>Các</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quyết</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định</a:t>
            </a:r>
            <a:r>
              <a:rPr lang="en-US" b="1" dirty="0">
                <a:solidFill>
                  <a:srgbClr val="C00000"/>
                </a:solidFill>
                <a:latin typeface="Times New Roman" panose="02020603050405020304" pitchFamily="18" charset="0"/>
                <a:cs typeface="Times New Roman" panose="02020603050405020304" pitchFamily="18" charset="0"/>
              </a:rPr>
              <a:t> marketing </a:t>
            </a:r>
            <a:r>
              <a:rPr lang="en-US" b="1" dirty="0" err="1">
                <a:solidFill>
                  <a:srgbClr val="C00000"/>
                </a:solidFill>
                <a:latin typeface="Times New Roman" panose="02020603050405020304" pitchFamily="18" charset="0"/>
                <a:cs typeface="Times New Roman" panose="02020603050405020304" pitchFamily="18" charset="0"/>
              </a:rPr>
              <a:t>chủ</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yếu</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trong</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chính</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sách</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sản</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phẩm</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54FF2EC-7BEB-40AD-AB23-5DB7F500B2BF}"/>
              </a:ext>
            </a:extLst>
          </p:cNvPr>
          <p:cNvSpPr>
            <a:spLocks noGrp="1"/>
          </p:cNvSpPr>
          <p:nvPr>
            <p:ph idx="1"/>
          </p:nvPr>
        </p:nvSpPr>
        <p:spPr>
          <a:xfrm>
            <a:off x="609598" y="2160591"/>
            <a:ext cx="6858001" cy="3859210"/>
          </a:xfrm>
        </p:spPr>
        <p:txBody>
          <a:bodyPr>
            <a:normAutofit/>
          </a:bodyPr>
          <a:lstStyle/>
          <a:p>
            <a:r>
              <a:rPr lang="en-US" sz="3200" b="1" dirty="0">
                <a:solidFill>
                  <a:srgbClr val="0070C0"/>
                </a:solidFill>
                <a:latin typeface="Times New Roman" panose="02020603050405020304" pitchFamily="18" charset="0"/>
                <a:cs typeface="Times New Roman" panose="02020603050405020304" pitchFamily="18" charset="0"/>
              </a:rPr>
              <a:t>1. </a:t>
            </a:r>
            <a:r>
              <a:rPr lang="en-US" sz="3200" b="1" dirty="0" err="1">
                <a:solidFill>
                  <a:srgbClr val="0070C0"/>
                </a:solidFill>
                <a:latin typeface="Times New Roman" panose="02020603050405020304" pitchFamily="18" charset="0"/>
                <a:cs typeface="Times New Roman" panose="02020603050405020304" pitchFamily="18" charset="0"/>
              </a:rPr>
              <a:t>Quyết</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dirty="0" err="1">
                <a:solidFill>
                  <a:srgbClr val="0070C0"/>
                </a:solidFill>
                <a:latin typeface="Times New Roman" panose="02020603050405020304" pitchFamily="18" charset="0"/>
                <a:cs typeface="Times New Roman" panose="02020603050405020304" pitchFamily="18" charset="0"/>
              </a:rPr>
              <a:t>định</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dirty="0" err="1">
                <a:solidFill>
                  <a:srgbClr val="0070C0"/>
                </a:solidFill>
                <a:latin typeface="Times New Roman" panose="02020603050405020304" pitchFamily="18" charset="0"/>
                <a:cs typeface="Times New Roman" panose="02020603050405020304" pitchFamily="18" charset="0"/>
              </a:rPr>
              <a:t>các</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dirty="0" err="1">
                <a:solidFill>
                  <a:srgbClr val="0070C0"/>
                </a:solidFill>
                <a:latin typeface="Times New Roman" panose="02020603050405020304" pitchFamily="18" charset="0"/>
                <a:cs typeface="Times New Roman" panose="02020603050405020304" pitchFamily="18" charset="0"/>
              </a:rPr>
              <a:t>đặc</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dirty="0" err="1">
                <a:solidFill>
                  <a:srgbClr val="0070C0"/>
                </a:solidFill>
                <a:latin typeface="Times New Roman" panose="02020603050405020304" pitchFamily="18" charset="0"/>
                <a:cs typeface="Times New Roman" panose="02020603050405020304" pitchFamily="18" charset="0"/>
              </a:rPr>
              <a:t>tính</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dirty="0" err="1">
                <a:solidFill>
                  <a:srgbClr val="0070C0"/>
                </a:solidFill>
                <a:latin typeface="Times New Roman" panose="02020603050405020304" pitchFamily="18" charset="0"/>
                <a:cs typeface="Times New Roman" panose="02020603050405020304" pitchFamily="18" charset="0"/>
              </a:rPr>
              <a:t>của</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dirty="0" err="1">
                <a:solidFill>
                  <a:srgbClr val="0070C0"/>
                </a:solidFill>
                <a:latin typeface="Times New Roman" panose="02020603050405020304" pitchFamily="18" charset="0"/>
                <a:cs typeface="Times New Roman" panose="02020603050405020304" pitchFamily="18" charset="0"/>
              </a:rPr>
              <a:t>sản</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dirty="0" err="1">
                <a:solidFill>
                  <a:srgbClr val="0070C0"/>
                </a:solidFill>
                <a:latin typeface="Times New Roman" panose="02020603050405020304" pitchFamily="18" charset="0"/>
                <a:cs typeface="Times New Roman" panose="02020603050405020304" pitchFamily="18" charset="0"/>
              </a:rPr>
              <a:t>phẩm</a:t>
            </a:r>
            <a:r>
              <a:rPr lang="en-US" sz="3200" b="1" dirty="0">
                <a:solidFill>
                  <a:srgbClr val="0070C0"/>
                </a:solidFill>
                <a:latin typeface="Times New Roman" panose="02020603050405020304" pitchFamily="18" charset="0"/>
                <a:cs typeface="Times New Roman" panose="02020603050405020304" pitchFamily="18" charset="0"/>
              </a:rPr>
              <a:t>.</a:t>
            </a:r>
          </a:p>
          <a:p>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Quyết</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định</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về</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chất</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lượng</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sản</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phẩm</a:t>
            </a:r>
            <a:endParaRPr lang="en-US" sz="3200" dirty="0">
              <a:solidFill>
                <a:schemeClr val="tx1"/>
              </a:solidFill>
              <a:latin typeface="Times New Roman" panose="02020603050405020304" pitchFamily="18" charset="0"/>
              <a:cs typeface="Times New Roman" panose="02020603050405020304" pitchFamily="18" charset="0"/>
            </a:endParaRPr>
          </a:p>
          <a:p>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Quyết</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định</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về</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việc</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lựa</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chọn</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các</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tính</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năng</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của</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sản</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phẩm</a:t>
            </a:r>
            <a:endParaRPr lang="en-US" sz="3200" dirty="0">
              <a:solidFill>
                <a:schemeClr val="tx1"/>
              </a:solidFill>
              <a:latin typeface="Times New Roman" panose="02020603050405020304" pitchFamily="18" charset="0"/>
              <a:cs typeface="Times New Roman" panose="02020603050405020304" pitchFamily="18" charset="0"/>
            </a:endParaRPr>
          </a:p>
          <a:p>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Quyết</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định</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về</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thiết</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kế</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sản</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phẩm</a:t>
            </a:r>
            <a:r>
              <a:rPr lang="en-US" sz="3200"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479798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E77C2-036E-413D-9330-52397E101BD4}"/>
              </a:ext>
            </a:extLst>
          </p:cNvPr>
          <p:cNvSpPr>
            <a:spLocks noGrp="1"/>
          </p:cNvSpPr>
          <p:nvPr>
            <p:ph type="title"/>
          </p:nvPr>
        </p:nvSpPr>
        <p:spPr>
          <a:xfrm>
            <a:off x="609599" y="609600"/>
            <a:ext cx="7239001" cy="1295400"/>
          </a:xfrm>
        </p:spPr>
        <p:txBody>
          <a:bodyPr>
            <a:normAutofit/>
          </a:bodyPr>
          <a:lstStyle/>
          <a:p>
            <a:r>
              <a:rPr lang="en-US" b="1" dirty="0">
                <a:solidFill>
                  <a:srgbClr val="C00000"/>
                </a:solidFill>
                <a:latin typeface="Times New Roman" panose="02020603050405020304" pitchFamily="18" charset="0"/>
                <a:cs typeface="Times New Roman" panose="02020603050405020304" pitchFamily="18" charset="0"/>
              </a:rPr>
              <a:t>II. </a:t>
            </a:r>
            <a:r>
              <a:rPr lang="en-US" b="1" dirty="0" err="1">
                <a:solidFill>
                  <a:srgbClr val="C00000"/>
                </a:solidFill>
                <a:latin typeface="Times New Roman" panose="02020603050405020304" pitchFamily="18" charset="0"/>
                <a:cs typeface="Times New Roman" panose="02020603050405020304" pitchFamily="18" charset="0"/>
              </a:rPr>
              <a:t>Các</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quyết</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định</a:t>
            </a:r>
            <a:r>
              <a:rPr lang="en-US" b="1" dirty="0">
                <a:solidFill>
                  <a:srgbClr val="C00000"/>
                </a:solidFill>
                <a:latin typeface="Times New Roman" panose="02020603050405020304" pitchFamily="18" charset="0"/>
                <a:cs typeface="Times New Roman" panose="02020603050405020304" pitchFamily="18" charset="0"/>
              </a:rPr>
              <a:t> marketing </a:t>
            </a:r>
            <a:r>
              <a:rPr lang="en-US" b="1" dirty="0" err="1">
                <a:solidFill>
                  <a:srgbClr val="C00000"/>
                </a:solidFill>
                <a:latin typeface="Times New Roman" panose="02020603050405020304" pitchFamily="18" charset="0"/>
                <a:cs typeface="Times New Roman" panose="02020603050405020304" pitchFamily="18" charset="0"/>
              </a:rPr>
              <a:t>chủ</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yếu</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trong</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chính</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sách</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sản</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phẩm</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tt</a:t>
            </a:r>
            <a:r>
              <a:rPr lang="en-US" b="1" dirty="0">
                <a:solidFill>
                  <a:srgbClr val="C00000"/>
                </a:solidFill>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254FF2EC-7BEB-40AD-AB23-5DB7F500B2BF}"/>
              </a:ext>
            </a:extLst>
          </p:cNvPr>
          <p:cNvSpPr>
            <a:spLocks noGrp="1"/>
          </p:cNvSpPr>
          <p:nvPr>
            <p:ph idx="1"/>
          </p:nvPr>
        </p:nvSpPr>
        <p:spPr>
          <a:xfrm>
            <a:off x="609598" y="2160590"/>
            <a:ext cx="7239001" cy="4316410"/>
          </a:xfrm>
        </p:spPr>
        <p:txBody>
          <a:bodyPr>
            <a:noAutofit/>
          </a:bodyPr>
          <a:lstStyle/>
          <a:p>
            <a:r>
              <a:rPr lang="en-US" sz="3200" b="1" dirty="0">
                <a:solidFill>
                  <a:srgbClr val="0070C0"/>
                </a:solidFill>
                <a:latin typeface="Times New Roman" panose="02020603050405020304" pitchFamily="18" charset="0"/>
                <a:cs typeface="Times New Roman" panose="02020603050405020304" pitchFamily="18" charset="0"/>
              </a:rPr>
              <a:t>2. </a:t>
            </a:r>
            <a:r>
              <a:rPr lang="en-US" sz="3200" b="1" dirty="0" err="1">
                <a:solidFill>
                  <a:srgbClr val="0070C0"/>
                </a:solidFill>
                <a:latin typeface="Times New Roman" panose="02020603050405020304" pitchFamily="18" charset="0"/>
                <a:cs typeface="Times New Roman" panose="02020603050405020304" pitchFamily="18" charset="0"/>
              </a:rPr>
              <a:t>Quyết</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dirty="0" err="1">
                <a:solidFill>
                  <a:srgbClr val="0070C0"/>
                </a:solidFill>
                <a:latin typeface="Times New Roman" panose="02020603050405020304" pitchFamily="18" charset="0"/>
                <a:cs typeface="Times New Roman" panose="02020603050405020304" pitchFamily="18" charset="0"/>
              </a:rPr>
              <a:t>định</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dirty="0" err="1">
                <a:solidFill>
                  <a:srgbClr val="0070C0"/>
                </a:solidFill>
                <a:latin typeface="Times New Roman" panose="02020603050405020304" pitchFamily="18" charset="0"/>
                <a:cs typeface="Times New Roman" panose="02020603050405020304" pitchFamily="18" charset="0"/>
              </a:rPr>
              <a:t>về</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dirty="0" err="1">
                <a:solidFill>
                  <a:srgbClr val="0070C0"/>
                </a:solidFill>
                <a:latin typeface="Times New Roman" panose="02020603050405020304" pitchFamily="18" charset="0"/>
                <a:cs typeface="Times New Roman" panose="02020603050405020304" pitchFamily="18" charset="0"/>
              </a:rPr>
              <a:t>thương</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dirty="0" err="1">
                <a:solidFill>
                  <a:srgbClr val="0070C0"/>
                </a:solidFill>
                <a:latin typeface="Times New Roman" panose="02020603050405020304" pitchFamily="18" charset="0"/>
                <a:cs typeface="Times New Roman" panose="02020603050405020304" pitchFamily="18" charset="0"/>
              </a:rPr>
              <a:t>hiệu</a:t>
            </a:r>
            <a:endParaRPr lang="en-US" sz="3200" b="1" dirty="0">
              <a:solidFill>
                <a:srgbClr val="0070C0"/>
              </a:solidFill>
              <a:latin typeface="Times New Roman" panose="02020603050405020304" pitchFamily="18" charset="0"/>
              <a:cs typeface="Times New Roman" panose="02020603050405020304" pitchFamily="18" charset="0"/>
            </a:endParaRPr>
          </a:p>
          <a:p>
            <a:r>
              <a:rPr lang="en-US" sz="3200" dirty="0" err="1">
                <a:solidFill>
                  <a:schemeClr val="tx1"/>
                </a:solidFill>
                <a:latin typeface="Times New Roman" panose="02020603050405020304" pitchFamily="18" charset="0"/>
                <a:cs typeface="Times New Roman" panose="02020603050405020304" pitchFamily="18" charset="0"/>
              </a:rPr>
              <a:t>Thương</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hiệu</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là</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sự</a:t>
            </a:r>
            <a:r>
              <a:rPr lang="en-US" sz="3200" dirty="0">
                <a:solidFill>
                  <a:schemeClr val="tx1"/>
                </a:solidFill>
                <a:latin typeface="Times New Roman" panose="02020603050405020304" pitchFamily="18" charset="0"/>
                <a:cs typeface="Times New Roman" panose="02020603050405020304" pitchFamily="18" charset="0"/>
              </a:rPr>
              <a:t> cam </a:t>
            </a:r>
            <a:r>
              <a:rPr lang="en-US" sz="3200" dirty="0" err="1">
                <a:solidFill>
                  <a:schemeClr val="tx1"/>
                </a:solidFill>
                <a:latin typeface="Times New Roman" panose="02020603050405020304" pitchFamily="18" charset="0"/>
                <a:cs typeface="Times New Roman" panose="02020603050405020304" pitchFamily="18" charset="0"/>
              </a:rPr>
              <a:t>kết</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của</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người</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bán</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đối</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với</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người</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mua</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về</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mức</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độ</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lợi</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ích</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sẽ</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cung</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ứng</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cho</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họ</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được</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thể</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hiện</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trong</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tập</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hợp</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các</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tính</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năng</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chất</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lượng</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các</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dịch</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vụ</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chuyên</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biệt</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và</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được</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nhận</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biết</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thông</a:t>
            </a:r>
            <a:r>
              <a:rPr lang="en-US" sz="3200" dirty="0">
                <a:solidFill>
                  <a:schemeClr val="tx1"/>
                </a:solidFill>
                <a:latin typeface="Times New Roman" panose="02020603050405020304" pitchFamily="18" charset="0"/>
                <a:cs typeface="Times New Roman" panose="02020603050405020304" pitchFamily="18" charset="0"/>
              </a:rPr>
              <a:t> qua </a:t>
            </a:r>
            <a:r>
              <a:rPr lang="en-US" sz="3200" dirty="0" err="1">
                <a:solidFill>
                  <a:schemeClr val="tx1"/>
                </a:solidFill>
                <a:latin typeface="Times New Roman" panose="02020603050405020304" pitchFamily="18" charset="0"/>
                <a:cs typeface="Times New Roman" panose="02020603050405020304" pitchFamily="18" charset="0"/>
              </a:rPr>
              <a:t>tên</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gọi</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thuật</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ngữ</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biểu</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tượng</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hình</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vẽ</a:t>
            </a:r>
            <a:r>
              <a:rPr lang="en-US" sz="3200" dirty="0">
                <a:solidFill>
                  <a:schemeClr val="tx1"/>
                </a:solidFill>
                <a:latin typeface="Times New Roman" panose="02020603050405020304" pitchFamily="18" charset="0"/>
                <a:cs typeface="Times New Roman" panose="02020603050405020304" pitchFamily="18" charset="0"/>
              </a:rPr>
              <a:t>…</a:t>
            </a:r>
            <a:r>
              <a:rPr lang="en-US" sz="3200" dirty="0" err="1">
                <a:solidFill>
                  <a:schemeClr val="tx1"/>
                </a:solidFill>
                <a:latin typeface="Times New Roman" panose="02020603050405020304" pitchFamily="18" charset="0"/>
                <a:cs typeface="Times New Roman" panose="02020603050405020304" pitchFamily="18" charset="0"/>
              </a:rPr>
              <a:t>hoặc</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sự</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phối</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hợp</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giữa</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chúng</a:t>
            </a:r>
            <a:r>
              <a:rPr lang="en-US" sz="3200"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712604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477001" cy="1066800"/>
          </a:xfrm>
        </p:spPr>
        <p:style>
          <a:lnRef idx="3">
            <a:schemeClr val="lt1"/>
          </a:lnRef>
          <a:fillRef idx="1">
            <a:schemeClr val="accent1"/>
          </a:fillRef>
          <a:effectRef idx="1">
            <a:schemeClr val="accent1"/>
          </a:effectRef>
          <a:fontRef idx="minor">
            <a:schemeClr val="lt1"/>
          </a:fontRef>
        </p:style>
        <p:txBody>
          <a:bodyPr>
            <a:noAutofit/>
          </a:bodyPr>
          <a:lstStyle/>
          <a:p>
            <a:pPr algn="l"/>
            <a:r>
              <a:rPr lang="en-US" sz="3200" b="1" i="1" dirty="0"/>
              <a:t> </a:t>
            </a:r>
            <a:r>
              <a:rPr lang="en-US" sz="3200" b="1" i="1" dirty="0" err="1"/>
              <a:t>Khái</a:t>
            </a:r>
            <a:r>
              <a:rPr lang="en-US" sz="3200" b="1" i="1" dirty="0"/>
              <a:t> </a:t>
            </a:r>
            <a:r>
              <a:rPr lang="en-US" sz="3200" b="1" i="1" dirty="0" err="1"/>
              <a:t>niệm</a:t>
            </a:r>
            <a:r>
              <a:rPr lang="en-US" sz="3200" b="1" i="1" dirty="0"/>
              <a:t> </a:t>
            </a:r>
            <a:r>
              <a:rPr lang="en-US" sz="3200" b="1" i="1" dirty="0" err="1"/>
              <a:t>thương</a:t>
            </a:r>
            <a:r>
              <a:rPr lang="en-US" sz="3200" b="1" i="1" dirty="0"/>
              <a:t> </a:t>
            </a:r>
            <a:r>
              <a:rPr lang="en-US" sz="3200" b="1" i="1" dirty="0" err="1"/>
              <a:t>hiệu</a:t>
            </a:r>
            <a:br>
              <a:rPr lang="en-US" sz="3200" dirty="0"/>
            </a:br>
            <a:endParaRPr lang="en-US" sz="3200" dirty="0"/>
          </a:p>
        </p:txBody>
      </p:sp>
      <p:sp>
        <p:nvSpPr>
          <p:cNvPr id="3" name="Content Placeholder 2"/>
          <p:cNvSpPr>
            <a:spLocks noGrp="1"/>
          </p:cNvSpPr>
          <p:nvPr>
            <p:ph idx="1"/>
          </p:nvPr>
        </p:nvSpPr>
        <p:spPr>
          <a:xfrm>
            <a:off x="228600" y="1809136"/>
            <a:ext cx="6858000" cy="3773130"/>
          </a:xfrm>
        </p:spPr>
        <p:txBody>
          <a:bodyPr>
            <a:normAutofit/>
          </a:bodyPr>
          <a:lstStyle/>
          <a:p>
            <a:pPr algn="just">
              <a:buNone/>
            </a:pPr>
            <a:r>
              <a:rPr lang="en-US" dirty="0"/>
              <a:t>   </a:t>
            </a:r>
            <a:r>
              <a:rPr lang="en-US" sz="2800" b="1" dirty="0" err="1">
                <a:solidFill>
                  <a:srgbClr val="FF0000"/>
                </a:solidFill>
                <a:latin typeface="Times New Roman" panose="02020603050405020304" pitchFamily="18" charset="0"/>
                <a:cs typeface="Times New Roman" panose="02020603050405020304" pitchFamily="18" charset="0"/>
              </a:rPr>
              <a:t>Thương</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hiệu</a:t>
            </a:r>
            <a:r>
              <a:rPr lang="en-US" sz="2800" b="1" dirty="0">
                <a:solidFill>
                  <a:srgbClr val="FF0000"/>
                </a:solidFill>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là</a:t>
            </a:r>
            <a:r>
              <a:rPr lang="en-US" sz="2800" dirty="0">
                <a:latin typeface="Times New Roman" panose="02020603050405020304" pitchFamily="18" charset="0"/>
                <a:cs typeface="Times New Roman" panose="02020603050405020304" pitchFamily="18" charset="0"/>
              </a:rPr>
              <a:t> </a:t>
            </a:r>
            <a:r>
              <a:rPr lang="en-US" sz="2800" u="sng" dirty="0" err="1">
                <a:latin typeface="Times New Roman" panose="02020603050405020304" pitchFamily="18" charset="0"/>
                <a:cs typeface="Times New Roman" panose="02020603050405020304" pitchFamily="18" charset="0"/>
              </a:rPr>
              <a:t>hình</a:t>
            </a:r>
            <a:r>
              <a:rPr lang="en-US" sz="2800" u="sng" dirty="0">
                <a:latin typeface="Times New Roman" panose="02020603050405020304" pitchFamily="18" charset="0"/>
                <a:cs typeface="Times New Roman" panose="02020603050405020304" pitchFamily="18" charset="0"/>
              </a:rPr>
              <a:t> </a:t>
            </a:r>
            <a:r>
              <a:rPr lang="en-US" sz="2800" u="sng" dirty="0" err="1">
                <a:latin typeface="Times New Roman" panose="02020603050405020304" pitchFamily="18" charset="0"/>
                <a:cs typeface="Times New Roman" panose="02020603050405020304" pitchFamily="18" charset="0"/>
              </a:rPr>
              <a:t>tượng</a:t>
            </a:r>
            <a:r>
              <a:rPr lang="en-US" sz="2800" u="sng"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về</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một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doanh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nghiệp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hoặc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một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loại</a:t>
            </a:r>
            <a:r>
              <a:rPr lang="en-US" sz="2800" dirty="0">
                <a:latin typeface="Times New Roman" panose="02020603050405020304" pitchFamily="18" charset="0"/>
                <a:cs typeface="Times New Roman" panose="02020603050405020304" pitchFamily="18" charset="0"/>
              </a:rPr>
              <a:t>, hay </a:t>
            </a:r>
            <a:r>
              <a:rPr lang="en-US" sz="2800" dirty="0" err="1">
                <a:latin typeface="Times New Roman" panose="02020603050405020304" pitchFamily="18" charset="0"/>
                <a:cs typeface="Times New Roman" panose="02020603050405020304" pitchFamily="18" charset="0"/>
              </a:rPr>
              <a:t>một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nhóm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hàng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hóa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dịch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vụ</a:t>
            </a:r>
            <a:r>
              <a:rPr lang="en-US" sz="2800" dirty="0">
                <a:latin typeface="Times New Roman" panose="02020603050405020304" pitchFamily="18" charset="0"/>
                <a:cs typeface="Times New Roman" panose="02020603050405020304" pitchFamily="18" charset="0"/>
              </a:rPr>
              <a:t> </a:t>
            </a:r>
            <a:r>
              <a:rPr lang="en-US" sz="2800" dirty="0" err="1">
                <a:highlight>
                  <a:srgbClr val="FFFF00"/>
                </a:highlight>
                <a:latin typeface="Times New Roman" panose="02020603050405020304" pitchFamily="18" charset="0"/>
                <a:cs typeface="Times New Roman" panose="02020603050405020304" pitchFamily="18" charset="0"/>
              </a:rPr>
              <a:t>trong</a:t>
            </a:r>
            <a:r>
              <a:rPr lang="en-US" sz="2800" dirty="0">
                <a:highlight>
                  <a:srgbClr val="FFFF00"/>
                </a:highlight>
                <a:latin typeface="Times New Roman" panose="02020603050405020304" pitchFamily="18" charset="0"/>
                <a:cs typeface="Times New Roman" panose="02020603050405020304" pitchFamily="18" charset="0"/>
              </a:rPr>
              <a:t> con </a:t>
            </a:r>
            <a:r>
              <a:rPr lang="en-US" sz="2800" dirty="0" err="1">
                <a:highlight>
                  <a:srgbClr val="FFFF00"/>
                </a:highlight>
                <a:latin typeface="Times New Roman" panose="02020603050405020304" pitchFamily="18" charset="0"/>
                <a:cs typeface="Times New Roman" panose="02020603050405020304" pitchFamily="18" charset="0"/>
              </a:rPr>
              <a:t>mắt</a:t>
            </a:r>
            <a:r>
              <a:rPr lang="en-US" sz="2800" dirty="0">
                <a:highlight>
                  <a:srgbClr val="FFFF00"/>
                </a:highlight>
                <a:latin typeface="Times New Roman" panose="02020603050405020304" pitchFamily="18" charset="0"/>
                <a:cs typeface="Times New Roman" panose="02020603050405020304" pitchFamily="18" charset="0"/>
              </a:rPr>
              <a:t> </a:t>
            </a:r>
            <a:r>
              <a:rPr lang="en-US" sz="2800" dirty="0" err="1">
                <a:highlight>
                  <a:srgbClr val="FFFF00"/>
                </a:highlight>
                <a:latin typeface="Times New Roman" panose="02020603050405020304" pitchFamily="18" charset="0"/>
                <a:cs typeface="Times New Roman" panose="02020603050405020304" pitchFamily="18" charset="0"/>
              </a:rPr>
              <a:t>khách</a:t>
            </a:r>
            <a:r>
              <a:rPr lang="en-US" sz="2800" dirty="0">
                <a:highlight>
                  <a:srgbClr val="FFFF00"/>
                </a:highlight>
                <a:latin typeface="Times New Roman" panose="02020603050405020304" pitchFamily="18" charset="0"/>
                <a:cs typeface="Times New Roman" panose="02020603050405020304" pitchFamily="18" charset="0"/>
              </a:rPr>
              <a:t> </a:t>
            </a:r>
            <a:r>
              <a:rPr lang="en-US" sz="2800" dirty="0" err="1">
                <a:highlight>
                  <a:srgbClr val="FFFF00"/>
                </a:highlight>
                <a:latin typeface="Times New Roman" panose="02020603050405020304" pitchFamily="18" charset="0"/>
                <a:cs typeface="Times New Roman" panose="02020603050405020304" pitchFamily="18" charset="0"/>
              </a:rPr>
              <a:t>hàng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tập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hợp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các</a:t>
            </a:r>
            <a:r>
              <a:rPr lang="en-US" sz="2800" dirty="0">
                <a:latin typeface="Times New Roman" panose="02020603050405020304" pitchFamily="18" charset="0"/>
                <a:cs typeface="Times New Roman" panose="02020603050405020304" pitchFamily="18" charset="0"/>
              </a:rPr>
              <a:t> </a:t>
            </a:r>
            <a:r>
              <a:rPr lang="en-US" sz="2800" u="sng" dirty="0" err="1">
                <a:latin typeface="Times New Roman" panose="02020603050405020304" pitchFamily="18" charset="0"/>
                <a:cs typeface="Times New Roman" panose="02020603050405020304" pitchFamily="18" charset="0"/>
              </a:rPr>
              <a:t>dấu</a:t>
            </a:r>
            <a:r>
              <a:rPr lang="en-US" sz="2800" u="sng" dirty="0">
                <a:latin typeface="Times New Roman" panose="02020603050405020304" pitchFamily="18" charset="0"/>
                <a:cs typeface="Times New Roman" panose="02020603050405020304" pitchFamily="18" charset="0"/>
              </a:rPr>
              <a:t> </a:t>
            </a:r>
            <a:r>
              <a:rPr lang="en-US" sz="2800" u="sng" dirty="0" err="1">
                <a:latin typeface="Times New Roman" panose="02020603050405020304" pitchFamily="18" charset="0"/>
                <a:cs typeface="Times New Roman" panose="02020603050405020304" pitchFamily="18" charset="0"/>
              </a:rPr>
              <a:t>hiệu</a:t>
            </a:r>
            <a:r>
              <a:rPr lang="en-US" sz="2800" u="sng" dirty="0">
                <a:latin typeface="Times New Roman" panose="02020603050405020304" pitchFamily="18" charset="0"/>
                <a:cs typeface="Times New Roman" panose="02020603050405020304" pitchFamily="18" charset="0"/>
              </a:rPr>
              <a:t> </a:t>
            </a:r>
            <a:r>
              <a:rPr lang="en-US" sz="2800" u="sng" dirty="0" err="1">
                <a:latin typeface="Times New Roman" panose="02020603050405020304" pitchFamily="18" charset="0"/>
                <a:cs typeface="Times New Roman" panose="02020603050405020304" pitchFamily="18" charset="0"/>
              </a:rPr>
              <a:t>để</a:t>
            </a:r>
            <a:r>
              <a:rPr lang="en-US" sz="2800" u="sng" dirty="0">
                <a:latin typeface="Times New Roman" panose="02020603050405020304" pitchFamily="18" charset="0"/>
                <a:cs typeface="Times New Roman" panose="02020603050405020304" pitchFamily="18" charset="0"/>
              </a:rPr>
              <a:t> </a:t>
            </a:r>
            <a:r>
              <a:rPr lang="en-US" sz="2800" u="sng" dirty="0" err="1">
                <a:latin typeface="Times New Roman" panose="02020603050405020304" pitchFamily="18" charset="0"/>
                <a:cs typeface="Times New Roman" panose="02020603050405020304" pitchFamily="18" charset="0"/>
              </a:rPr>
              <a:t>phân</a:t>
            </a:r>
            <a:r>
              <a:rPr lang="en-US" sz="2800" u="sng" dirty="0">
                <a:latin typeface="Times New Roman" panose="02020603050405020304" pitchFamily="18" charset="0"/>
                <a:cs typeface="Times New Roman" panose="02020603050405020304" pitchFamily="18" charset="0"/>
              </a:rPr>
              <a:t> </a:t>
            </a:r>
            <a:r>
              <a:rPr lang="en-US" sz="2800" u="sng" dirty="0" err="1">
                <a:latin typeface="Times New Roman" panose="02020603050405020304" pitchFamily="18" charset="0"/>
                <a:cs typeface="Times New Roman" panose="02020603050405020304" pitchFamily="18" charset="0"/>
              </a:rPr>
              <a:t>biệt</a:t>
            </a:r>
            <a:r>
              <a:rPr lang="en-US" sz="2800" u="sng"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hàng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hóa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dịch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vụ</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doanh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nghiệp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này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với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hàng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hóa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dịch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vụ</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doanh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nghiệp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hoặc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phân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biệt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chính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doanh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nghiệp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này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với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doanh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nghiệp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khác</a:t>
            </a:r>
            <a:r>
              <a:rPr lang="en-US" sz="2800"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(Philip Kotler)</a:t>
            </a:r>
          </a:p>
        </p:txBody>
      </p:sp>
      <p:sp>
        <p:nvSpPr>
          <p:cNvPr id="5" name="Title 1"/>
          <p:cNvSpPr txBox="1">
            <a:spLocks/>
          </p:cNvSpPr>
          <p:nvPr/>
        </p:nvSpPr>
        <p:spPr>
          <a:xfrm>
            <a:off x="228600" y="5715000"/>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000" b="1" i="1" u="none" strike="noStrike" kern="1200" cap="none" spc="0" normalizeH="0" baseline="0" noProof="0">
                <a:ln>
                  <a:noFill/>
                </a:ln>
                <a:solidFill>
                  <a:srgbClr val="FF0000"/>
                </a:solidFill>
                <a:effectLst/>
                <a:uLnTx/>
                <a:uFillTx/>
                <a:latin typeface="+mj-lt"/>
                <a:ea typeface="+mj-ea"/>
                <a:cs typeface="+mj-cs"/>
              </a:rPr>
              <a:t>(Thương hiệu là nhãn hiệu có uy tín, giá trị)</a:t>
            </a:r>
          </a:p>
        </p:txBody>
      </p:sp>
      <p:pic>
        <p:nvPicPr>
          <p:cNvPr id="6" name="Picture 12" descr="http://www.danangcity.gov.vn/portal/pls/portal/docs/298597.JPG"/>
          <p:cNvPicPr>
            <a:picLocks noChangeAspect="1" noChangeArrowheads="1"/>
          </p:cNvPicPr>
          <p:nvPr/>
        </p:nvPicPr>
        <p:blipFill>
          <a:blip r:embed="rId2" cstate="print"/>
          <a:srcRect/>
          <a:stretch>
            <a:fillRect/>
          </a:stretch>
        </p:blipFill>
        <p:spPr bwMode="auto">
          <a:xfrm>
            <a:off x="7904660" y="5867400"/>
            <a:ext cx="1239340" cy="990600"/>
          </a:xfrm>
          <a:prstGeom prst="rect">
            <a:avLst/>
          </a:prstGeom>
          <a:noFill/>
        </p:spPr>
      </p:pic>
      <p:pic>
        <p:nvPicPr>
          <p:cNvPr id="7" name="Picture 2" descr="http://images.thuonghieuviet.com.vn/Images/Uploaded/Company/2011/12/30/15/16/logo---an-phuoc.gif"/>
          <p:cNvPicPr>
            <a:picLocks noChangeAspect="1" noChangeArrowheads="1"/>
          </p:cNvPicPr>
          <p:nvPr/>
        </p:nvPicPr>
        <p:blipFill>
          <a:blip r:embed="rId3" cstate="print"/>
          <a:srcRect/>
          <a:stretch>
            <a:fillRect/>
          </a:stretch>
        </p:blipFill>
        <p:spPr bwMode="auto">
          <a:xfrm>
            <a:off x="2458" y="5582265"/>
            <a:ext cx="1295400" cy="1295400"/>
          </a:xfrm>
          <a:prstGeom prst="rect">
            <a:avLst/>
          </a:prstGeom>
          <a:noFill/>
        </p:spPr>
      </p:pic>
    </p:spTree>
    <p:extLst>
      <p:ext uri="{BB962C8B-B14F-4D97-AF65-F5344CB8AC3E}">
        <p14:creationId xmlns:p14="http://schemas.microsoft.com/office/powerpoint/2010/main" val="2896425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4FF2EC-7BEB-40AD-AB23-5DB7F500B2BF}"/>
              </a:ext>
            </a:extLst>
          </p:cNvPr>
          <p:cNvSpPr>
            <a:spLocks noGrp="1"/>
          </p:cNvSpPr>
          <p:nvPr>
            <p:ph idx="1"/>
          </p:nvPr>
        </p:nvSpPr>
        <p:spPr>
          <a:xfrm>
            <a:off x="609598" y="2160590"/>
            <a:ext cx="7239001" cy="4316410"/>
          </a:xfrm>
        </p:spPr>
        <p:txBody>
          <a:bodyPr>
            <a:noAutofit/>
          </a:bodyPr>
          <a:lstStyle/>
          <a:p>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Các</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thuộc</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tính</a:t>
            </a:r>
            <a:endParaRPr lang="en-US" sz="3200" dirty="0">
              <a:solidFill>
                <a:schemeClr val="tx1"/>
              </a:solidFill>
              <a:latin typeface="Times New Roman" panose="02020603050405020304" pitchFamily="18" charset="0"/>
              <a:cs typeface="Times New Roman" panose="02020603050405020304" pitchFamily="18" charset="0"/>
            </a:endParaRPr>
          </a:p>
          <a:p>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Các</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lợi</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ích</a:t>
            </a:r>
            <a:endParaRPr lang="en-US" sz="3200" dirty="0">
              <a:solidFill>
                <a:schemeClr val="tx1"/>
              </a:solidFill>
              <a:latin typeface="Times New Roman" panose="02020603050405020304" pitchFamily="18" charset="0"/>
              <a:cs typeface="Times New Roman" panose="02020603050405020304" pitchFamily="18" charset="0"/>
            </a:endParaRPr>
          </a:p>
          <a:p>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Giá</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trị</a:t>
            </a:r>
            <a:endParaRPr lang="en-US" sz="3200" dirty="0">
              <a:solidFill>
                <a:schemeClr val="tx1"/>
              </a:solidFill>
              <a:latin typeface="Times New Roman" panose="02020603050405020304" pitchFamily="18" charset="0"/>
              <a:cs typeface="Times New Roman" panose="02020603050405020304" pitchFamily="18" charset="0"/>
            </a:endParaRPr>
          </a:p>
          <a:p>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Tính</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cách</a:t>
            </a: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C80BDE72-687B-4FB7-8AC1-0C39A5A8E621}"/>
              </a:ext>
            </a:extLst>
          </p:cNvPr>
          <p:cNvSpPr>
            <a:spLocks noGrp="1"/>
          </p:cNvSpPr>
          <p:nvPr>
            <p:ph type="title"/>
          </p:nvPr>
        </p:nvSpPr>
        <p:spPr/>
        <p:txBody>
          <a:bodyPr>
            <a:normAutofit fontScale="90000"/>
          </a:bodyPr>
          <a:lstStyle/>
          <a:p>
            <a:r>
              <a:rPr lang="en-US" sz="3600" b="1" dirty="0">
                <a:solidFill>
                  <a:srgbClr val="0070C0"/>
                </a:solidFill>
                <a:latin typeface="Times New Roman" panose="02020603050405020304" pitchFamily="18" charset="0"/>
                <a:cs typeface="Times New Roman" panose="02020603050405020304" pitchFamily="18" charset="0"/>
              </a:rPr>
              <a:t>2.1. </a:t>
            </a:r>
            <a:r>
              <a:rPr lang="en-US" sz="3600" b="1" dirty="0" err="1">
                <a:solidFill>
                  <a:srgbClr val="0070C0"/>
                </a:solidFill>
                <a:latin typeface="Times New Roman" panose="02020603050405020304" pitchFamily="18" charset="0"/>
                <a:cs typeface="Times New Roman" panose="02020603050405020304" pitchFamily="18" charset="0"/>
              </a:rPr>
              <a:t>Các</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yếu</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tố</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cốt</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lõi</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của</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thương</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hiệu</a:t>
            </a:r>
            <a:br>
              <a:rPr lang="en-US" sz="3600" b="1" dirty="0">
                <a:solidFill>
                  <a:srgbClr val="0070C0"/>
                </a:solidFill>
                <a:latin typeface="Times New Roman" panose="02020603050405020304" pitchFamily="18" charset="0"/>
                <a:cs typeface="Times New Roman" panose="02020603050405020304" pitchFamily="18" charset="0"/>
              </a:rPr>
            </a:br>
            <a:endParaRPr lang="en-US" dirty="0"/>
          </a:p>
        </p:txBody>
      </p:sp>
    </p:spTree>
    <p:extLst>
      <p:ext uri="{BB962C8B-B14F-4D97-AF65-F5344CB8AC3E}">
        <p14:creationId xmlns:p14="http://schemas.microsoft.com/office/powerpoint/2010/main" val="1821082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4FF2EC-7BEB-40AD-AB23-5DB7F500B2BF}"/>
              </a:ext>
            </a:extLst>
          </p:cNvPr>
          <p:cNvSpPr>
            <a:spLocks noGrp="1"/>
          </p:cNvSpPr>
          <p:nvPr>
            <p:ph idx="1"/>
          </p:nvPr>
        </p:nvSpPr>
        <p:spPr>
          <a:xfrm>
            <a:off x="609599" y="1524000"/>
            <a:ext cx="6934202" cy="4953000"/>
          </a:xfrm>
        </p:spPr>
        <p:txBody>
          <a:bodyPr>
            <a:noAutofit/>
          </a:bodyPr>
          <a:lstStyle/>
          <a:p>
            <a:pPr>
              <a:lnSpc>
                <a:spcPct val="150000"/>
              </a:lnSpc>
            </a:pP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Tên</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thương</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hiệu</a:t>
            </a:r>
            <a:endParaRPr lang="en-US" sz="3200"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Dấu</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hiệu</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của</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thương</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hiệu</a:t>
            </a:r>
            <a:r>
              <a:rPr lang="en-US" sz="3200" dirty="0">
                <a:solidFill>
                  <a:schemeClr val="tx1"/>
                </a:solidFill>
                <a:latin typeface="Times New Roman" panose="02020603050405020304" pitchFamily="18" charset="0"/>
                <a:cs typeface="Times New Roman" panose="02020603050405020304" pitchFamily="18" charset="0"/>
              </a:rPr>
              <a:t> </a:t>
            </a:r>
          </a:p>
          <a:p>
            <a:pPr>
              <a:lnSpc>
                <a:spcPct val="150000"/>
              </a:lnSpc>
            </a:pP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Câu</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khẩu</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hiệu</a:t>
            </a:r>
            <a:r>
              <a:rPr lang="en-US" sz="3200" dirty="0">
                <a:solidFill>
                  <a:schemeClr val="tx1"/>
                </a:solidFill>
                <a:latin typeface="Times New Roman" panose="02020603050405020304" pitchFamily="18" charset="0"/>
                <a:cs typeface="Times New Roman" panose="02020603050405020304" pitchFamily="18" charset="0"/>
              </a:rPr>
              <a:t> (Slogan)</a:t>
            </a:r>
          </a:p>
        </p:txBody>
      </p:sp>
      <p:sp>
        <p:nvSpPr>
          <p:cNvPr id="5" name="Title 4">
            <a:extLst>
              <a:ext uri="{FF2B5EF4-FFF2-40B4-BE49-F238E27FC236}">
                <a16:creationId xmlns:a16="http://schemas.microsoft.com/office/drawing/2014/main" id="{B931CA6B-D205-4E5F-8922-387BC31686BD}"/>
              </a:ext>
            </a:extLst>
          </p:cNvPr>
          <p:cNvSpPr>
            <a:spLocks noGrp="1"/>
          </p:cNvSpPr>
          <p:nvPr>
            <p:ph type="title"/>
          </p:nvPr>
        </p:nvSpPr>
        <p:spPr/>
        <p:txBody>
          <a:bodyPr>
            <a:normAutofit fontScale="90000"/>
          </a:bodyPr>
          <a:lstStyle/>
          <a:p>
            <a:r>
              <a:rPr lang="en-US" sz="3600" b="1" dirty="0">
                <a:solidFill>
                  <a:srgbClr val="0070C0"/>
                </a:solidFill>
                <a:latin typeface="Times New Roman" panose="02020603050405020304" pitchFamily="18" charset="0"/>
                <a:cs typeface="Times New Roman" panose="02020603050405020304" pitchFamily="18" charset="0"/>
              </a:rPr>
              <a:t>2.2. </a:t>
            </a:r>
            <a:r>
              <a:rPr lang="en-US" sz="3600" b="1" dirty="0" err="1">
                <a:solidFill>
                  <a:srgbClr val="0070C0"/>
                </a:solidFill>
                <a:latin typeface="Times New Roman" panose="02020603050405020304" pitchFamily="18" charset="0"/>
                <a:cs typeface="Times New Roman" panose="02020603050405020304" pitchFamily="18" charset="0"/>
              </a:rPr>
              <a:t>Các</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yếu</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nhận</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diện</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thương</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hiệu</a:t>
            </a:r>
            <a:br>
              <a:rPr lang="en-US" sz="3600" b="1" dirty="0">
                <a:solidFill>
                  <a:srgbClr val="0070C0"/>
                </a:solidFill>
                <a:latin typeface="Times New Roman" panose="02020603050405020304" pitchFamily="18" charset="0"/>
                <a:cs typeface="Times New Roman" panose="02020603050405020304" pitchFamily="18" charset="0"/>
              </a:rPr>
            </a:br>
            <a:endParaRPr lang="en-US" dirty="0"/>
          </a:p>
        </p:txBody>
      </p:sp>
    </p:spTree>
    <p:extLst>
      <p:ext uri="{BB962C8B-B14F-4D97-AF65-F5344CB8AC3E}">
        <p14:creationId xmlns:p14="http://schemas.microsoft.com/office/powerpoint/2010/main" val="482659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E77C2-036E-413D-9330-52397E101BD4}"/>
              </a:ext>
            </a:extLst>
          </p:cNvPr>
          <p:cNvSpPr>
            <a:spLocks noGrp="1"/>
          </p:cNvSpPr>
          <p:nvPr>
            <p:ph type="title"/>
          </p:nvPr>
        </p:nvSpPr>
        <p:spPr>
          <a:xfrm>
            <a:off x="609599" y="609600"/>
            <a:ext cx="7086601" cy="914400"/>
          </a:xfrm>
        </p:spPr>
        <p:txBody>
          <a:bodyPr>
            <a:normAutofit fontScale="90000"/>
          </a:bodyPr>
          <a:lstStyle/>
          <a:p>
            <a:r>
              <a:rPr lang="en-US" sz="3600" b="1" dirty="0">
                <a:solidFill>
                  <a:srgbClr val="0070C0"/>
                </a:solidFill>
                <a:latin typeface="Times New Roman" panose="02020603050405020304" pitchFamily="18" charset="0"/>
                <a:cs typeface="Times New Roman" panose="02020603050405020304" pitchFamily="18" charset="0"/>
              </a:rPr>
              <a:t>2.3. </a:t>
            </a:r>
            <a:r>
              <a:rPr lang="en-US" sz="3600" b="1" dirty="0" err="1">
                <a:solidFill>
                  <a:srgbClr val="0070C0"/>
                </a:solidFill>
                <a:latin typeface="Times New Roman" panose="02020603050405020304" pitchFamily="18" charset="0"/>
                <a:cs typeface="Times New Roman" panose="02020603050405020304" pitchFamily="18" charset="0"/>
              </a:rPr>
              <a:t>Các</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yếu</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cấu</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thành</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nhãn</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hiệu</a:t>
            </a:r>
            <a:br>
              <a:rPr lang="en-US" sz="3600" b="1" dirty="0">
                <a:solidFill>
                  <a:srgbClr val="0070C0"/>
                </a:solidFill>
                <a:latin typeface="Times New Roman" panose="02020603050405020304" pitchFamily="18" charset="0"/>
                <a:cs typeface="Times New Roman" panose="02020603050405020304" pitchFamily="18" charset="0"/>
              </a:rPr>
            </a:b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54FF2EC-7BEB-40AD-AB23-5DB7F500B2BF}"/>
              </a:ext>
            </a:extLst>
          </p:cNvPr>
          <p:cNvSpPr>
            <a:spLocks noGrp="1"/>
          </p:cNvSpPr>
          <p:nvPr>
            <p:ph idx="1"/>
          </p:nvPr>
        </p:nvSpPr>
        <p:spPr>
          <a:xfrm>
            <a:off x="609599" y="1524000"/>
            <a:ext cx="7086602" cy="4953000"/>
          </a:xfrm>
        </p:spPr>
        <p:txBody>
          <a:bodyPr>
            <a:noAutofit/>
          </a:bodyPr>
          <a:lstStyle/>
          <a:p>
            <a:pPr>
              <a:lnSpc>
                <a:spcPct val="150000"/>
              </a:lnSpc>
            </a:pP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Tên</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nhãn</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hiệu</a:t>
            </a:r>
            <a:r>
              <a:rPr lang="en-US" sz="3200" dirty="0">
                <a:solidFill>
                  <a:schemeClr val="tx1"/>
                </a:solidFill>
                <a:latin typeface="Times New Roman" panose="02020603050405020304" pitchFamily="18" charset="0"/>
                <a:cs typeface="Times New Roman" panose="02020603050405020304" pitchFamily="18" charset="0"/>
              </a:rPr>
              <a:t> ( Brand Name)</a:t>
            </a:r>
          </a:p>
          <a:p>
            <a:pPr>
              <a:lnSpc>
                <a:spcPct val="150000"/>
              </a:lnSpc>
            </a:pP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Dấu</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hiệu</a:t>
            </a:r>
            <a:r>
              <a:rPr lang="en-US" sz="3200" dirty="0">
                <a:solidFill>
                  <a:schemeClr val="tx1"/>
                </a:solidFill>
                <a:latin typeface="Times New Roman" panose="02020603050405020304" pitchFamily="18" charset="0"/>
                <a:cs typeface="Times New Roman" panose="02020603050405020304" pitchFamily="18" charset="0"/>
              </a:rPr>
              <a:t> ( Brand Mark)</a:t>
            </a:r>
          </a:p>
          <a:p>
            <a:pPr>
              <a:lnSpc>
                <a:spcPct val="150000"/>
              </a:lnSpc>
            </a:pPr>
            <a:r>
              <a:rPr lang="en-US" sz="3200" dirty="0" err="1">
                <a:solidFill>
                  <a:schemeClr val="tx1"/>
                </a:solidFill>
                <a:latin typeface="Times New Roman" panose="02020603050405020304" pitchFamily="18" charset="0"/>
                <a:cs typeface="Times New Roman" panose="02020603050405020304" pitchFamily="18" charset="0"/>
              </a:rPr>
              <a:t>Nhãn</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hiệu</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thương</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mại</a:t>
            </a:r>
            <a:r>
              <a:rPr lang="en-US" sz="3200" dirty="0">
                <a:solidFill>
                  <a:schemeClr val="tx1"/>
                </a:solidFill>
                <a:latin typeface="Times New Roman" panose="02020603050405020304" pitchFamily="18" charset="0"/>
                <a:cs typeface="Times New Roman" panose="02020603050405020304" pitchFamily="18" charset="0"/>
              </a:rPr>
              <a:t> (Trade Mark)</a:t>
            </a:r>
          </a:p>
        </p:txBody>
      </p:sp>
    </p:spTree>
    <p:extLst>
      <p:ext uri="{BB962C8B-B14F-4D97-AF65-F5344CB8AC3E}">
        <p14:creationId xmlns:p14="http://schemas.microsoft.com/office/powerpoint/2010/main" val="2056884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E77C2-036E-413D-9330-52397E101BD4}"/>
              </a:ext>
            </a:extLst>
          </p:cNvPr>
          <p:cNvSpPr>
            <a:spLocks noGrp="1"/>
          </p:cNvSpPr>
          <p:nvPr>
            <p:ph type="title"/>
          </p:nvPr>
        </p:nvSpPr>
        <p:spPr>
          <a:xfrm>
            <a:off x="609600" y="609600"/>
            <a:ext cx="7239000" cy="914400"/>
          </a:xfrm>
        </p:spPr>
        <p:txBody>
          <a:bodyPr>
            <a:normAutofit fontScale="90000"/>
          </a:bodyPr>
          <a:lstStyle/>
          <a:p>
            <a:r>
              <a:rPr lang="en-US" sz="3600" b="1" dirty="0">
                <a:solidFill>
                  <a:srgbClr val="0070C0"/>
                </a:solidFill>
                <a:latin typeface="Times New Roman" panose="02020603050405020304" pitchFamily="18" charset="0"/>
                <a:cs typeface="Times New Roman" panose="02020603050405020304" pitchFamily="18" charset="0"/>
              </a:rPr>
              <a:t>2.3. </a:t>
            </a:r>
            <a:r>
              <a:rPr lang="en-US" sz="3600" b="1" dirty="0" err="1">
                <a:solidFill>
                  <a:srgbClr val="0070C0"/>
                </a:solidFill>
                <a:latin typeface="Times New Roman" panose="02020603050405020304" pitchFamily="18" charset="0"/>
                <a:cs typeface="Times New Roman" panose="02020603050405020304" pitchFamily="18" charset="0"/>
              </a:rPr>
              <a:t>Các</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yếu</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cấu</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thành</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nhãn</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hiệu</a:t>
            </a:r>
            <a:br>
              <a:rPr lang="en-US" sz="3600" b="1" dirty="0">
                <a:solidFill>
                  <a:srgbClr val="0070C0"/>
                </a:solidFill>
                <a:latin typeface="Times New Roman" panose="02020603050405020304" pitchFamily="18" charset="0"/>
                <a:cs typeface="Times New Roman" panose="02020603050405020304" pitchFamily="18" charset="0"/>
              </a:rPr>
            </a:b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54FF2EC-7BEB-40AD-AB23-5DB7F500B2BF}"/>
              </a:ext>
            </a:extLst>
          </p:cNvPr>
          <p:cNvSpPr>
            <a:spLocks noGrp="1"/>
          </p:cNvSpPr>
          <p:nvPr>
            <p:ph idx="1"/>
          </p:nvPr>
        </p:nvSpPr>
        <p:spPr>
          <a:xfrm>
            <a:off x="609598" y="2160590"/>
            <a:ext cx="7239001" cy="4316410"/>
          </a:xfrm>
        </p:spPr>
        <p:txBody>
          <a:bodyPr>
            <a:noAutofit/>
          </a:bodyPr>
          <a:lstStyle/>
          <a:p>
            <a:pPr marL="0" indent="0">
              <a:lnSpc>
                <a:spcPct val="150000"/>
              </a:lnSpc>
              <a:buNone/>
            </a:pP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Tên</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nhãn</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hiệu</a:t>
            </a:r>
            <a:r>
              <a:rPr lang="en-US" sz="3200" dirty="0">
                <a:solidFill>
                  <a:schemeClr val="tx1"/>
                </a:solidFill>
                <a:latin typeface="Times New Roman" panose="02020603050405020304" pitchFamily="18" charset="0"/>
                <a:cs typeface="Times New Roman" panose="02020603050405020304" pitchFamily="18" charset="0"/>
              </a:rPr>
              <a:t> ( Brand Name)</a:t>
            </a:r>
          </a:p>
          <a:p>
            <a:pPr marL="0" indent="0">
              <a:lnSpc>
                <a:spcPct val="150000"/>
              </a:lnSpc>
              <a:buNone/>
            </a:pPr>
            <a:r>
              <a:rPr lang="en-US" sz="3200" dirty="0" err="1">
                <a:solidFill>
                  <a:schemeClr val="tx1"/>
                </a:solidFill>
                <a:latin typeface="Times New Roman" panose="02020603050405020304" pitchFamily="18" charset="0"/>
                <a:cs typeface="Times New Roman" panose="02020603050405020304" pitchFamily="18" charset="0"/>
              </a:rPr>
              <a:t>Tên</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gọi</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nhằm</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xác</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định</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hàng</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hóa</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dịch</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vụ</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của</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người</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bán</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và</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phân</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biệt</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với</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hàng</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hóa</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của</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những</a:t>
            </a:r>
            <a:r>
              <a:rPr lang="en-US" sz="3200" dirty="0">
                <a:solidFill>
                  <a:schemeClr val="tx1"/>
                </a:solidFill>
                <a:latin typeface="Times New Roman" panose="02020603050405020304" pitchFamily="18" charset="0"/>
                <a:cs typeface="Times New Roman" panose="02020603050405020304" pitchFamily="18" charset="0"/>
              </a:rPr>
              <a:t> DN </a:t>
            </a:r>
            <a:r>
              <a:rPr lang="en-US" sz="3200" dirty="0" err="1">
                <a:solidFill>
                  <a:schemeClr val="tx1"/>
                </a:solidFill>
                <a:latin typeface="Times New Roman" panose="02020603050405020304" pitchFamily="18" charset="0"/>
                <a:cs typeface="Times New Roman" panose="02020603050405020304" pitchFamily="18" charset="0"/>
              </a:rPr>
              <a:t>khác</a:t>
            </a:r>
            <a:endParaRPr lang="en-US" sz="3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3463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E77C2-036E-413D-9330-52397E101BD4}"/>
              </a:ext>
            </a:extLst>
          </p:cNvPr>
          <p:cNvSpPr>
            <a:spLocks noGrp="1"/>
          </p:cNvSpPr>
          <p:nvPr>
            <p:ph type="title"/>
          </p:nvPr>
        </p:nvSpPr>
        <p:spPr>
          <a:xfrm>
            <a:off x="609599" y="609600"/>
            <a:ext cx="7239001" cy="1295400"/>
          </a:xfrm>
        </p:spPr>
        <p:txBody>
          <a:bodyPr>
            <a:normAutofit/>
          </a:bodyPr>
          <a:lstStyle/>
          <a:p>
            <a:r>
              <a:rPr lang="en-US" sz="3600" b="1" dirty="0" err="1">
                <a:solidFill>
                  <a:srgbClr val="C00000"/>
                </a:solidFill>
                <a:latin typeface="Times New Roman" panose="02020603050405020304" pitchFamily="18" charset="0"/>
                <a:cs typeface="Times New Roman" panose="02020603050405020304" pitchFamily="18" charset="0"/>
              </a:rPr>
              <a:t>Tên</a:t>
            </a:r>
            <a:r>
              <a:rPr lang="en-US" sz="3600" b="1" dirty="0">
                <a:solidFill>
                  <a:srgbClr val="C00000"/>
                </a:solidFill>
                <a:latin typeface="Times New Roman" panose="02020603050405020304" pitchFamily="18" charset="0"/>
                <a:cs typeface="Times New Roman" panose="02020603050405020304" pitchFamily="18" charset="0"/>
              </a:rPr>
              <a:t> </a:t>
            </a:r>
            <a:r>
              <a:rPr lang="en-US" sz="3600" b="1" dirty="0" err="1">
                <a:solidFill>
                  <a:srgbClr val="C00000"/>
                </a:solidFill>
                <a:latin typeface="Times New Roman" panose="02020603050405020304" pitchFamily="18" charset="0"/>
                <a:cs typeface="Times New Roman" panose="02020603050405020304" pitchFamily="18" charset="0"/>
              </a:rPr>
              <a:t>nhãn</a:t>
            </a:r>
            <a:r>
              <a:rPr lang="en-US" sz="3600" b="1" dirty="0">
                <a:solidFill>
                  <a:srgbClr val="C00000"/>
                </a:solidFill>
                <a:latin typeface="Times New Roman" panose="02020603050405020304" pitchFamily="18" charset="0"/>
                <a:cs typeface="Times New Roman" panose="02020603050405020304" pitchFamily="18" charset="0"/>
              </a:rPr>
              <a:t> </a:t>
            </a:r>
            <a:r>
              <a:rPr lang="en-US" sz="3600" b="1" dirty="0" err="1">
                <a:solidFill>
                  <a:srgbClr val="C00000"/>
                </a:solidFill>
                <a:latin typeface="Times New Roman" panose="02020603050405020304" pitchFamily="18" charset="0"/>
                <a:cs typeface="Times New Roman" panose="02020603050405020304" pitchFamily="18" charset="0"/>
              </a:rPr>
              <a:t>hiệu</a:t>
            </a:r>
            <a:r>
              <a:rPr lang="en-US" sz="3600" b="1" dirty="0">
                <a:solidFill>
                  <a:srgbClr val="C00000"/>
                </a:solidFill>
                <a:latin typeface="Times New Roman" panose="02020603050405020304" pitchFamily="18" charset="0"/>
                <a:cs typeface="Times New Roman" panose="02020603050405020304" pitchFamily="18" charset="0"/>
              </a:rPr>
              <a:t> ( Brand Name)</a:t>
            </a:r>
            <a:endParaRPr lang="en-US" b="1" dirty="0">
              <a:solidFill>
                <a:srgbClr val="C00000"/>
              </a:solidFill>
              <a:latin typeface="Times New Roman" panose="02020603050405020304" pitchFamily="18" charset="0"/>
              <a:cs typeface="Times New Roman" panose="02020603050405020304" pitchFamily="18" charset="0"/>
            </a:endParaRPr>
          </a:p>
        </p:txBody>
      </p:sp>
      <p:pic>
        <p:nvPicPr>
          <p:cNvPr id="1028" name="Picture 4" descr="logo hãng xe ô tô Ford được cả thế giới biết đến">
            <a:extLst>
              <a:ext uri="{FF2B5EF4-FFF2-40B4-BE49-F238E27FC236}">
                <a16:creationId xmlns:a16="http://schemas.microsoft.com/office/drawing/2014/main" id="{AED3F7ED-8527-474F-985A-29E052673A7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981200"/>
            <a:ext cx="2857500" cy="23812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xe ô tô Ford được cả thế giới biết đến">
            <a:extLst>
              <a:ext uri="{FF2B5EF4-FFF2-40B4-BE49-F238E27FC236}">
                <a16:creationId xmlns:a16="http://schemas.microsoft.com/office/drawing/2014/main" id="{BFD38063-F3CE-4722-8193-71ED0E02A2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1676400"/>
            <a:ext cx="2857500" cy="23812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logo hãng xe ô tô Honda nổi tiếng trên thế giới">
            <a:extLst>
              <a:ext uri="{FF2B5EF4-FFF2-40B4-BE49-F238E27FC236}">
                <a16:creationId xmlns:a16="http://schemas.microsoft.com/office/drawing/2014/main" id="{EDE8B067-ED23-4380-BC92-AAA43D74A9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 y="3867150"/>
            <a:ext cx="2857500" cy="238125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 xe ô tô Honda nổi tiếng">
            <a:extLst>
              <a:ext uri="{FF2B5EF4-FFF2-40B4-BE49-F238E27FC236}">
                <a16:creationId xmlns:a16="http://schemas.microsoft.com/office/drawing/2014/main" id="{14282FA6-E3AE-4F53-A1D1-A55A287955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43250" y="4248150"/>
            <a:ext cx="2857500" cy="238125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logo xe hơi nổi tiếng Hyundai">
            <a:extLst>
              <a:ext uri="{FF2B5EF4-FFF2-40B4-BE49-F238E27FC236}">
                <a16:creationId xmlns:a16="http://schemas.microsoft.com/office/drawing/2014/main" id="{D3D096D4-DBBF-41D9-B5A9-C8E8A837B52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86500" y="1123950"/>
            <a:ext cx="2857500" cy="238125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 xe hơi nổi tiếng Hyundai">
            <a:extLst>
              <a:ext uri="{FF2B5EF4-FFF2-40B4-BE49-F238E27FC236}">
                <a16:creationId xmlns:a16="http://schemas.microsoft.com/office/drawing/2014/main" id="{4B50AFCD-8B78-429B-B444-6579F6C4A0A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86500" y="4095750"/>
            <a:ext cx="285750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0475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E77C2-036E-413D-9330-52397E101BD4}"/>
              </a:ext>
            </a:extLst>
          </p:cNvPr>
          <p:cNvSpPr>
            <a:spLocks noGrp="1"/>
          </p:cNvSpPr>
          <p:nvPr>
            <p:ph type="title"/>
          </p:nvPr>
        </p:nvSpPr>
        <p:spPr>
          <a:xfrm>
            <a:off x="609599" y="609600"/>
            <a:ext cx="6934201" cy="762000"/>
          </a:xfrm>
        </p:spPr>
        <p:txBody>
          <a:bodyPr>
            <a:normAutofit fontScale="90000"/>
          </a:bodyPr>
          <a:lstStyle/>
          <a:p>
            <a:r>
              <a:rPr lang="en-US" sz="3600" dirty="0">
                <a:solidFill>
                  <a:srgbClr val="0070C0"/>
                </a:solidFill>
                <a:latin typeface="Times New Roman" panose="02020603050405020304" pitchFamily="18" charset="0"/>
                <a:cs typeface="Times New Roman" panose="02020603050405020304" pitchFamily="18" charset="0"/>
              </a:rPr>
              <a:t>- </a:t>
            </a:r>
            <a:r>
              <a:rPr lang="en-US" sz="3600" dirty="0" err="1">
                <a:solidFill>
                  <a:srgbClr val="0070C0"/>
                </a:solidFill>
                <a:latin typeface="Times New Roman" panose="02020603050405020304" pitchFamily="18" charset="0"/>
                <a:cs typeface="Times New Roman" panose="02020603050405020304" pitchFamily="18" charset="0"/>
              </a:rPr>
              <a:t>Nhãn</a:t>
            </a:r>
            <a:r>
              <a:rPr lang="en-US" sz="3600" dirty="0">
                <a:solidFill>
                  <a:srgbClr val="0070C0"/>
                </a:solidFill>
                <a:latin typeface="Times New Roman" panose="02020603050405020304" pitchFamily="18" charset="0"/>
                <a:cs typeface="Times New Roman" panose="02020603050405020304" pitchFamily="18" charset="0"/>
              </a:rPr>
              <a:t> </a:t>
            </a:r>
            <a:r>
              <a:rPr lang="en-US" sz="3600" dirty="0" err="1">
                <a:solidFill>
                  <a:srgbClr val="0070C0"/>
                </a:solidFill>
                <a:latin typeface="Times New Roman" panose="02020603050405020304" pitchFamily="18" charset="0"/>
                <a:cs typeface="Times New Roman" panose="02020603050405020304" pitchFamily="18" charset="0"/>
              </a:rPr>
              <a:t>hiệu</a:t>
            </a:r>
            <a:r>
              <a:rPr lang="en-US" sz="3600" dirty="0">
                <a:solidFill>
                  <a:srgbClr val="0070C0"/>
                </a:solidFill>
                <a:latin typeface="Times New Roman" panose="02020603050405020304" pitchFamily="18" charset="0"/>
                <a:cs typeface="Times New Roman" panose="02020603050405020304" pitchFamily="18" charset="0"/>
              </a:rPr>
              <a:t> </a:t>
            </a:r>
            <a:r>
              <a:rPr lang="en-US" sz="3600" dirty="0" err="1">
                <a:solidFill>
                  <a:srgbClr val="0070C0"/>
                </a:solidFill>
                <a:latin typeface="Times New Roman" panose="02020603050405020304" pitchFamily="18" charset="0"/>
                <a:cs typeface="Times New Roman" panose="02020603050405020304" pitchFamily="18" charset="0"/>
              </a:rPr>
              <a:t>thương</a:t>
            </a:r>
            <a:r>
              <a:rPr lang="en-US" sz="3600" dirty="0">
                <a:solidFill>
                  <a:srgbClr val="0070C0"/>
                </a:solidFill>
                <a:latin typeface="Times New Roman" panose="02020603050405020304" pitchFamily="18" charset="0"/>
                <a:cs typeface="Times New Roman" panose="02020603050405020304" pitchFamily="18" charset="0"/>
              </a:rPr>
              <a:t> </a:t>
            </a:r>
            <a:r>
              <a:rPr lang="en-US" sz="3600" dirty="0" err="1">
                <a:solidFill>
                  <a:srgbClr val="0070C0"/>
                </a:solidFill>
                <a:latin typeface="Times New Roman" panose="02020603050405020304" pitchFamily="18" charset="0"/>
                <a:cs typeface="Times New Roman" panose="02020603050405020304" pitchFamily="18" charset="0"/>
              </a:rPr>
              <a:t>mại</a:t>
            </a:r>
            <a:r>
              <a:rPr lang="en-US" sz="3600" dirty="0">
                <a:solidFill>
                  <a:srgbClr val="0070C0"/>
                </a:solidFill>
                <a:latin typeface="Times New Roman" panose="02020603050405020304" pitchFamily="18" charset="0"/>
                <a:cs typeface="Times New Roman" panose="02020603050405020304" pitchFamily="18" charset="0"/>
              </a:rPr>
              <a:t> ( Trade Mark)</a:t>
            </a:r>
            <a:br>
              <a:rPr lang="en-US" sz="3600" dirty="0">
                <a:solidFill>
                  <a:schemeClr val="tx1"/>
                </a:solidFill>
                <a:latin typeface="Times New Roman" panose="02020603050405020304" pitchFamily="18" charset="0"/>
                <a:cs typeface="Times New Roman" panose="02020603050405020304" pitchFamily="18" charset="0"/>
              </a:rPr>
            </a:b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54FF2EC-7BEB-40AD-AB23-5DB7F500B2BF}"/>
              </a:ext>
            </a:extLst>
          </p:cNvPr>
          <p:cNvSpPr>
            <a:spLocks noGrp="1"/>
          </p:cNvSpPr>
          <p:nvPr>
            <p:ph idx="1"/>
          </p:nvPr>
        </p:nvSpPr>
        <p:spPr>
          <a:xfrm>
            <a:off x="762000" y="1447800"/>
            <a:ext cx="7086599" cy="5029200"/>
          </a:xfrm>
        </p:spPr>
        <p:txBody>
          <a:bodyPr>
            <a:noAutofit/>
          </a:bodyPr>
          <a:lstStyle/>
          <a:p>
            <a:pPr marL="0" indent="0">
              <a:lnSpc>
                <a:spcPct val="150000"/>
              </a:lnSpc>
              <a:buNone/>
            </a:pPr>
            <a:r>
              <a:rPr lang="en-US" sz="3200" dirty="0" err="1">
                <a:solidFill>
                  <a:schemeClr val="tx1"/>
                </a:solidFill>
                <a:latin typeface="Times New Roman" panose="02020603050405020304" pitchFamily="18" charset="0"/>
                <a:cs typeface="Times New Roman" panose="02020603050405020304" pitchFamily="18" charset="0"/>
              </a:rPr>
              <a:t>Tên</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hiệu</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thương</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latin typeface="Times New Roman" panose="02020603050405020304" pitchFamily="18" charset="0"/>
                <a:cs typeface="Times New Roman" panose="02020603050405020304" pitchFamily="18" charset="0"/>
              </a:rPr>
              <a:t>mại</a:t>
            </a:r>
            <a:r>
              <a:rPr lang="en-US" sz="3200" dirty="0">
                <a:solidFill>
                  <a:schemeClr val="tx1"/>
                </a:solidFill>
                <a:latin typeface="Times New Roman" panose="02020603050405020304" pitchFamily="18" charset="0"/>
                <a:cs typeface="Times New Roman" panose="02020603050405020304" pitchFamily="18" charset="0"/>
              </a:rPr>
              <a:t> </a:t>
            </a:r>
            <a:r>
              <a:rPr lang="en-US" sz="3200" dirty="0" err="1">
                <a:solidFill>
                  <a:schemeClr val="tx1"/>
                </a:solidFill>
                <a:highlight>
                  <a:srgbClr val="FFFF00"/>
                </a:highlight>
                <a:latin typeface="Times New Roman" panose="02020603050405020304" pitchFamily="18" charset="0"/>
                <a:cs typeface="Times New Roman" panose="02020603050405020304" pitchFamily="18" charset="0"/>
              </a:rPr>
              <a:t>đã</a:t>
            </a:r>
            <a:r>
              <a:rPr lang="en-US" sz="3200" dirty="0">
                <a:solidFill>
                  <a:schemeClr val="tx1"/>
                </a:solidFill>
                <a:highlight>
                  <a:srgbClr val="FFFF00"/>
                </a:highlight>
                <a:latin typeface="Times New Roman" panose="02020603050405020304" pitchFamily="18" charset="0"/>
                <a:cs typeface="Times New Roman" panose="02020603050405020304" pitchFamily="18" charset="0"/>
              </a:rPr>
              <a:t> </a:t>
            </a:r>
            <a:r>
              <a:rPr lang="en-US" sz="3200" dirty="0" err="1">
                <a:solidFill>
                  <a:schemeClr val="tx1"/>
                </a:solidFill>
                <a:highlight>
                  <a:srgbClr val="FFFF00"/>
                </a:highlight>
                <a:latin typeface="Times New Roman" panose="02020603050405020304" pitchFamily="18" charset="0"/>
                <a:cs typeface="Times New Roman" panose="02020603050405020304" pitchFamily="18" charset="0"/>
              </a:rPr>
              <a:t>được</a:t>
            </a:r>
            <a:r>
              <a:rPr lang="en-US" sz="3200" dirty="0">
                <a:solidFill>
                  <a:schemeClr val="tx1"/>
                </a:solidFill>
                <a:highlight>
                  <a:srgbClr val="FFFF00"/>
                </a:highlight>
                <a:latin typeface="Times New Roman" panose="02020603050405020304" pitchFamily="18" charset="0"/>
                <a:cs typeface="Times New Roman" panose="02020603050405020304" pitchFamily="18" charset="0"/>
              </a:rPr>
              <a:t> </a:t>
            </a:r>
            <a:r>
              <a:rPr lang="en-US" sz="3200" dirty="0" err="1">
                <a:solidFill>
                  <a:schemeClr val="tx1"/>
                </a:solidFill>
                <a:highlight>
                  <a:srgbClr val="FFFF00"/>
                </a:highlight>
                <a:latin typeface="Times New Roman" panose="02020603050405020304" pitchFamily="18" charset="0"/>
                <a:cs typeface="Times New Roman" panose="02020603050405020304" pitchFamily="18" charset="0"/>
              </a:rPr>
              <a:t>đăng</a:t>
            </a:r>
            <a:r>
              <a:rPr lang="en-US" sz="3200" dirty="0">
                <a:solidFill>
                  <a:schemeClr val="tx1"/>
                </a:solidFill>
                <a:highlight>
                  <a:srgbClr val="FFFF00"/>
                </a:highlight>
                <a:latin typeface="Times New Roman" panose="02020603050405020304" pitchFamily="18" charset="0"/>
                <a:cs typeface="Times New Roman" panose="02020603050405020304" pitchFamily="18" charset="0"/>
              </a:rPr>
              <a:t> </a:t>
            </a:r>
            <a:r>
              <a:rPr lang="en-US" sz="3200" dirty="0" err="1">
                <a:solidFill>
                  <a:schemeClr val="tx1"/>
                </a:solidFill>
                <a:highlight>
                  <a:srgbClr val="FFFF00"/>
                </a:highlight>
                <a:latin typeface="Times New Roman" panose="02020603050405020304" pitchFamily="18" charset="0"/>
                <a:cs typeface="Times New Roman" panose="02020603050405020304" pitchFamily="18" charset="0"/>
              </a:rPr>
              <a:t>ký</a:t>
            </a:r>
            <a:r>
              <a:rPr lang="en-US" sz="3200" dirty="0">
                <a:solidFill>
                  <a:schemeClr val="tx1"/>
                </a:solidFill>
                <a:highlight>
                  <a:srgbClr val="FFFF00"/>
                </a:highlight>
                <a:latin typeface="Times New Roman" panose="02020603050405020304" pitchFamily="18" charset="0"/>
                <a:cs typeface="Times New Roman" panose="02020603050405020304" pitchFamily="18" charset="0"/>
              </a:rPr>
              <a:t> </a:t>
            </a:r>
            <a:r>
              <a:rPr lang="en-US" sz="3200" dirty="0" err="1">
                <a:solidFill>
                  <a:schemeClr val="tx1"/>
                </a:solidFill>
                <a:highlight>
                  <a:srgbClr val="FFFF00"/>
                </a:highlight>
                <a:latin typeface="Times New Roman" panose="02020603050405020304" pitchFamily="18" charset="0"/>
                <a:cs typeface="Times New Roman" panose="02020603050405020304" pitchFamily="18" charset="0"/>
              </a:rPr>
              <a:t>và</a:t>
            </a:r>
            <a:r>
              <a:rPr lang="en-US" sz="3200" dirty="0">
                <a:solidFill>
                  <a:schemeClr val="tx1"/>
                </a:solidFill>
                <a:highlight>
                  <a:srgbClr val="FFFF00"/>
                </a:highlight>
                <a:latin typeface="Times New Roman" panose="02020603050405020304" pitchFamily="18" charset="0"/>
                <a:cs typeface="Times New Roman" panose="02020603050405020304" pitchFamily="18" charset="0"/>
              </a:rPr>
              <a:t> </a:t>
            </a:r>
            <a:r>
              <a:rPr lang="en-US" sz="3200" dirty="0" err="1">
                <a:solidFill>
                  <a:schemeClr val="tx1"/>
                </a:solidFill>
                <a:highlight>
                  <a:srgbClr val="FFFF00"/>
                </a:highlight>
                <a:latin typeface="Times New Roman" panose="02020603050405020304" pitchFamily="18" charset="0"/>
                <a:cs typeface="Times New Roman" panose="02020603050405020304" pitchFamily="18" charset="0"/>
              </a:rPr>
              <a:t>được</a:t>
            </a:r>
            <a:r>
              <a:rPr lang="en-US" sz="3200" dirty="0">
                <a:solidFill>
                  <a:schemeClr val="tx1"/>
                </a:solidFill>
                <a:highlight>
                  <a:srgbClr val="FFFF00"/>
                </a:highlight>
                <a:latin typeface="Times New Roman" panose="02020603050405020304" pitchFamily="18" charset="0"/>
                <a:cs typeface="Times New Roman" panose="02020603050405020304" pitchFamily="18" charset="0"/>
              </a:rPr>
              <a:t> </a:t>
            </a:r>
            <a:r>
              <a:rPr lang="en-US" sz="3200" dirty="0" err="1">
                <a:solidFill>
                  <a:schemeClr val="tx1"/>
                </a:solidFill>
                <a:highlight>
                  <a:srgbClr val="FFFF00"/>
                </a:highlight>
                <a:latin typeface="Times New Roman" panose="02020603050405020304" pitchFamily="18" charset="0"/>
                <a:cs typeface="Times New Roman" panose="02020603050405020304" pitchFamily="18" charset="0"/>
              </a:rPr>
              <a:t>pháp</a:t>
            </a:r>
            <a:r>
              <a:rPr lang="en-US" sz="3200" dirty="0">
                <a:solidFill>
                  <a:schemeClr val="tx1"/>
                </a:solidFill>
                <a:highlight>
                  <a:srgbClr val="FFFF00"/>
                </a:highlight>
                <a:latin typeface="Times New Roman" panose="02020603050405020304" pitchFamily="18" charset="0"/>
                <a:cs typeface="Times New Roman" panose="02020603050405020304" pitchFamily="18" charset="0"/>
              </a:rPr>
              <a:t> </a:t>
            </a:r>
            <a:r>
              <a:rPr lang="en-US" sz="3200" dirty="0" err="1">
                <a:solidFill>
                  <a:schemeClr val="tx1"/>
                </a:solidFill>
                <a:highlight>
                  <a:srgbClr val="FFFF00"/>
                </a:highlight>
                <a:latin typeface="Times New Roman" panose="02020603050405020304" pitchFamily="18" charset="0"/>
                <a:cs typeface="Times New Roman" panose="02020603050405020304" pitchFamily="18" charset="0"/>
              </a:rPr>
              <a:t>luật</a:t>
            </a:r>
            <a:r>
              <a:rPr lang="en-US" sz="3200" dirty="0">
                <a:solidFill>
                  <a:schemeClr val="tx1"/>
                </a:solidFill>
                <a:highlight>
                  <a:srgbClr val="FFFF00"/>
                </a:highlight>
                <a:latin typeface="Times New Roman" panose="02020603050405020304" pitchFamily="18" charset="0"/>
                <a:cs typeface="Times New Roman" panose="02020603050405020304" pitchFamily="18" charset="0"/>
              </a:rPr>
              <a:t> </a:t>
            </a:r>
            <a:r>
              <a:rPr lang="en-US" sz="3200" dirty="0" err="1">
                <a:solidFill>
                  <a:schemeClr val="tx1"/>
                </a:solidFill>
                <a:highlight>
                  <a:srgbClr val="FFFF00"/>
                </a:highlight>
                <a:latin typeface="Times New Roman" panose="02020603050405020304" pitchFamily="18" charset="0"/>
                <a:cs typeface="Times New Roman" panose="02020603050405020304" pitchFamily="18" charset="0"/>
              </a:rPr>
              <a:t>bảo</a:t>
            </a:r>
            <a:r>
              <a:rPr lang="en-US" sz="3200" dirty="0">
                <a:solidFill>
                  <a:schemeClr val="tx1"/>
                </a:solidFill>
                <a:highlight>
                  <a:srgbClr val="FFFF00"/>
                </a:highlight>
                <a:latin typeface="Times New Roman" panose="02020603050405020304" pitchFamily="18" charset="0"/>
                <a:cs typeface="Times New Roman" panose="02020603050405020304" pitchFamily="18" charset="0"/>
              </a:rPr>
              <a:t> </a:t>
            </a:r>
            <a:r>
              <a:rPr lang="en-US" sz="3200" dirty="0" err="1">
                <a:solidFill>
                  <a:schemeClr val="tx1"/>
                </a:solidFill>
                <a:highlight>
                  <a:srgbClr val="FFFF00"/>
                </a:highlight>
                <a:latin typeface="Times New Roman" panose="02020603050405020304" pitchFamily="18" charset="0"/>
                <a:cs typeface="Times New Roman" panose="02020603050405020304" pitchFamily="18" charset="0"/>
              </a:rPr>
              <a:t>vệ</a:t>
            </a:r>
            <a:endParaRPr lang="en-US" sz="3200" dirty="0">
              <a:solidFill>
                <a:schemeClr val="tx1"/>
              </a:solidFill>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8717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51 &#10;b. Các cấp độ ý nghĩa của nhãn hiệu &#10;• Thuộc tính &#10;• Lợi ích &#10;• Giá trị &#10;• Văn hóa &#10;• Tính cách &#10;• Người sử dụng &#10; ">
            <a:extLst>
              <a:ext uri="{FF2B5EF4-FFF2-40B4-BE49-F238E27FC236}">
                <a16:creationId xmlns:a16="http://schemas.microsoft.com/office/drawing/2014/main" id="{7F23C747-F73C-4A60-9D3B-5F62A9DF495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49865"/>
            <a:ext cx="8153400" cy="61214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0621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E77C2-036E-413D-9330-52397E101BD4}"/>
              </a:ext>
            </a:extLst>
          </p:cNvPr>
          <p:cNvSpPr>
            <a:spLocks noGrp="1"/>
          </p:cNvSpPr>
          <p:nvPr>
            <p:ph type="title"/>
          </p:nvPr>
        </p:nvSpPr>
        <p:spPr>
          <a:xfrm>
            <a:off x="609599" y="609600"/>
            <a:ext cx="7239001" cy="1295400"/>
          </a:xfrm>
        </p:spPr>
        <p:txBody>
          <a:bodyPr>
            <a:normAutofit/>
          </a:bodyPr>
          <a:lstStyle/>
          <a:p>
            <a:r>
              <a:rPr lang="en-US" b="1" dirty="0" err="1">
                <a:solidFill>
                  <a:srgbClr val="C00000"/>
                </a:solidFill>
                <a:latin typeface="Times New Roman" panose="02020603050405020304" pitchFamily="18" charset="0"/>
                <a:cs typeface="Times New Roman" panose="02020603050405020304" pitchFamily="18" charset="0"/>
              </a:rPr>
              <a:t>Vai</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trò</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của</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nhãn</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hiệu</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4DB90771-9D58-4B9F-9FDA-9DEAB3569497}"/>
              </a:ext>
            </a:extLst>
          </p:cNvPr>
          <p:cNvSpPr>
            <a:spLocks noGrp="1"/>
          </p:cNvSpPr>
          <p:nvPr>
            <p:ph idx="1"/>
          </p:nvPr>
        </p:nvSpPr>
        <p:spPr>
          <a:xfrm>
            <a:off x="609599" y="1371600"/>
            <a:ext cx="8077201" cy="5486400"/>
          </a:xfrm>
        </p:spPr>
        <p:txBody>
          <a:bodyPr>
            <a:noAutofit/>
          </a:bodyPr>
          <a:lstStyle/>
          <a:p>
            <a:r>
              <a:rPr lang="en-US" sz="2800" dirty="0" err="1">
                <a:solidFill>
                  <a:srgbClr val="0070C0"/>
                </a:solidFill>
                <a:latin typeface="Times New Roman" panose="02020603050405020304" pitchFamily="18" charset="0"/>
                <a:cs typeface="Times New Roman" panose="02020603050405020304" pitchFamily="18" charset="0"/>
              </a:rPr>
              <a:t>Đối</a:t>
            </a:r>
            <a:r>
              <a:rPr lang="en-US" sz="2800" dirty="0">
                <a:solidFill>
                  <a:srgbClr val="0070C0"/>
                </a:solidFill>
                <a:latin typeface="Times New Roman" panose="02020603050405020304" pitchFamily="18" charset="0"/>
                <a:cs typeface="Times New Roman" panose="02020603050405020304" pitchFamily="18" charset="0"/>
              </a:rPr>
              <a:t> </a:t>
            </a:r>
            <a:r>
              <a:rPr lang="en-US" sz="2800" dirty="0" err="1">
                <a:solidFill>
                  <a:srgbClr val="0070C0"/>
                </a:solidFill>
                <a:latin typeface="Times New Roman" panose="02020603050405020304" pitchFamily="18" charset="0"/>
                <a:cs typeface="Times New Roman" panose="02020603050405020304" pitchFamily="18" charset="0"/>
              </a:rPr>
              <a:t>với</a:t>
            </a:r>
            <a:r>
              <a:rPr lang="en-US" sz="2800" dirty="0">
                <a:solidFill>
                  <a:srgbClr val="0070C0"/>
                </a:solidFill>
                <a:latin typeface="Times New Roman" panose="02020603050405020304" pitchFamily="18" charset="0"/>
                <a:cs typeface="Times New Roman" panose="02020603050405020304" pitchFamily="18" charset="0"/>
              </a:rPr>
              <a:t> </a:t>
            </a:r>
            <a:r>
              <a:rPr lang="en-US" sz="2800" dirty="0" err="1">
                <a:solidFill>
                  <a:srgbClr val="0070C0"/>
                </a:solidFill>
                <a:latin typeface="Times New Roman" panose="02020603050405020304" pitchFamily="18" charset="0"/>
                <a:cs typeface="Times New Roman" panose="02020603050405020304" pitchFamily="18" charset="0"/>
              </a:rPr>
              <a:t>doanh</a:t>
            </a:r>
            <a:r>
              <a:rPr lang="en-US" sz="2800" dirty="0">
                <a:solidFill>
                  <a:srgbClr val="0070C0"/>
                </a:solidFill>
                <a:latin typeface="Times New Roman" panose="02020603050405020304" pitchFamily="18" charset="0"/>
                <a:cs typeface="Times New Roman" panose="02020603050405020304" pitchFamily="18" charset="0"/>
              </a:rPr>
              <a:t> </a:t>
            </a:r>
            <a:r>
              <a:rPr lang="en-US" sz="2800" dirty="0" err="1">
                <a:solidFill>
                  <a:srgbClr val="0070C0"/>
                </a:solidFill>
                <a:latin typeface="Times New Roman" panose="02020603050405020304" pitchFamily="18" charset="0"/>
                <a:cs typeface="Times New Roman" panose="02020603050405020304" pitchFamily="18" charset="0"/>
              </a:rPr>
              <a:t>nghiệp</a:t>
            </a:r>
            <a:r>
              <a:rPr lang="en-US" sz="2800" dirty="0">
                <a:solidFill>
                  <a:srgbClr val="0070C0"/>
                </a:solidFill>
                <a:latin typeface="Times New Roman" panose="02020603050405020304" pitchFamily="18" charset="0"/>
                <a:cs typeface="Times New Roman" panose="02020603050405020304" pitchFamily="18" charset="0"/>
              </a:rPr>
              <a:t>: </a:t>
            </a:r>
          </a:p>
          <a:p>
            <a:r>
              <a:rPr lang="en-US" sz="2800" dirty="0" err="1">
                <a:latin typeface="Times New Roman" panose="02020603050405020304" pitchFamily="18" charset="0"/>
                <a:cs typeface="Times New Roman" panose="02020603050405020304" pitchFamily="18" charset="0"/>
              </a:rPr>
              <a:t>Công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cụ</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nhận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diện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tạo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biệt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hóa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phẩm</a:t>
            </a:r>
            <a:endParaRPr lang="en-US" sz="2800" dirty="0">
              <a:latin typeface="Times New Roman" panose="02020603050405020304" pitchFamily="18" charset="0"/>
              <a:cs typeface="Times New Roman" panose="02020603050405020304" pitchFamily="18" charset="0"/>
            </a:endParaRPr>
          </a:p>
          <a:p>
            <a:pPr>
              <a:buFontTx/>
              <a:buChar char="-"/>
            </a:pPr>
            <a:r>
              <a:rPr lang="en-US" sz="2800" dirty="0" err="1">
                <a:latin typeface="Times New Roman" panose="02020603050405020304" pitchFamily="18" charset="0"/>
                <a:cs typeface="Times New Roman" panose="02020603050405020304" pitchFamily="18" charset="0"/>
              </a:rPr>
              <a:t>Phương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tiện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bảo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vệ</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lợi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thế</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đặc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điểm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phẩm</a:t>
            </a:r>
            <a:endParaRPr lang="en-US" sz="2800" dirty="0">
              <a:latin typeface="Times New Roman" panose="02020603050405020304" pitchFamily="18" charset="0"/>
              <a:cs typeface="Times New Roman" panose="02020603050405020304" pitchFamily="18" charset="0"/>
            </a:endParaRPr>
          </a:p>
          <a:p>
            <a:pPr>
              <a:buFontTx/>
              <a:buChar char="-"/>
            </a:pPr>
            <a:r>
              <a:rPr lang="en-US" sz="2800" dirty="0" err="1">
                <a:latin typeface="Times New Roman" panose="02020603050405020304" pitchFamily="18" charset="0"/>
                <a:cs typeface="Times New Roman" panose="02020603050405020304" pitchFamily="18" charset="0"/>
              </a:rPr>
              <a:t>Khẳng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định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đẳng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cấp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chất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lượng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phẩm</a:t>
            </a:r>
            <a:endParaRPr lang="en-US" sz="2800" dirty="0">
              <a:latin typeface="Times New Roman" panose="02020603050405020304" pitchFamily="18" charset="0"/>
              <a:cs typeface="Times New Roman" panose="02020603050405020304" pitchFamily="18" charset="0"/>
            </a:endParaRPr>
          </a:p>
          <a:p>
            <a:pPr>
              <a:buFontTx/>
              <a:buChar char="-"/>
            </a:pPr>
            <a:r>
              <a:rPr lang="en-US" sz="2800" dirty="0" err="1">
                <a:latin typeface="Times New Roman" panose="02020603050405020304" pitchFamily="18" charset="0"/>
                <a:cs typeface="Times New Roman" panose="02020603050405020304" pitchFamily="18" charset="0"/>
              </a:rPr>
              <a:t>Cách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thức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khắc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họa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phẩm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vào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tâm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trí</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khách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hàng</a:t>
            </a:r>
            <a:endParaRPr lang="en-US" sz="2800" dirty="0">
              <a:latin typeface="Times New Roman" panose="02020603050405020304" pitchFamily="18" charset="0"/>
              <a:cs typeface="Times New Roman" panose="02020603050405020304" pitchFamily="18" charset="0"/>
            </a:endParaRPr>
          </a:p>
          <a:p>
            <a:pPr>
              <a:buFontTx/>
              <a:buChar char="-"/>
            </a:pPr>
            <a:r>
              <a:rPr lang="en-US" sz="2800" dirty="0" err="1">
                <a:latin typeface="Times New Roman" panose="02020603050405020304" pitchFamily="18" charset="0"/>
                <a:cs typeface="Times New Roman" panose="02020603050405020304" pitchFamily="18" charset="0"/>
              </a:rPr>
              <a:t>Hàng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rào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bảo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vệ</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phẩm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tạo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lợi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thế</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cạnh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tranh</a:t>
            </a:r>
            <a:r>
              <a:rPr lang="en-US"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073738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E77C2-036E-413D-9330-52397E101BD4}"/>
              </a:ext>
            </a:extLst>
          </p:cNvPr>
          <p:cNvSpPr>
            <a:spLocks noGrp="1"/>
          </p:cNvSpPr>
          <p:nvPr>
            <p:ph type="title"/>
          </p:nvPr>
        </p:nvSpPr>
        <p:spPr>
          <a:xfrm>
            <a:off x="609599" y="609600"/>
            <a:ext cx="7239001" cy="1295400"/>
          </a:xfrm>
        </p:spPr>
        <p:txBody>
          <a:bodyPr>
            <a:normAutofit/>
          </a:bodyPr>
          <a:lstStyle/>
          <a:p>
            <a:r>
              <a:rPr lang="en-US" b="1" dirty="0" err="1">
                <a:solidFill>
                  <a:srgbClr val="C00000"/>
                </a:solidFill>
                <a:latin typeface="Times New Roman" panose="02020603050405020304" pitchFamily="18" charset="0"/>
                <a:cs typeface="Times New Roman" panose="02020603050405020304" pitchFamily="18" charset="0"/>
              </a:rPr>
              <a:t>Vai</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trò</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của</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nhãn</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hiệu</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4DB90771-9D58-4B9F-9FDA-9DEAB3569497}"/>
              </a:ext>
            </a:extLst>
          </p:cNvPr>
          <p:cNvSpPr>
            <a:spLocks noGrp="1"/>
          </p:cNvSpPr>
          <p:nvPr>
            <p:ph idx="1"/>
          </p:nvPr>
        </p:nvSpPr>
        <p:spPr>
          <a:xfrm>
            <a:off x="609599" y="1371600"/>
            <a:ext cx="8077201" cy="5486400"/>
          </a:xfrm>
        </p:spPr>
        <p:txBody>
          <a:bodyPr>
            <a:noAutofit/>
          </a:bodyPr>
          <a:lstStyle/>
          <a:p>
            <a:pPr>
              <a:lnSpc>
                <a:spcPct val="150000"/>
              </a:lnSpc>
            </a:pPr>
            <a:r>
              <a:rPr lang="en-US" sz="3200" dirty="0" err="1">
                <a:solidFill>
                  <a:srgbClr val="0070C0"/>
                </a:solidFill>
                <a:latin typeface="Times New Roman" panose="02020603050405020304" pitchFamily="18" charset="0"/>
                <a:cs typeface="Times New Roman" panose="02020603050405020304" pitchFamily="18" charset="0"/>
              </a:rPr>
              <a:t>Đối</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với</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người</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tiêu</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dùng</a:t>
            </a:r>
            <a:r>
              <a:rPr lang="en-US" sz="3200" dirty="0">
                <a:solidFill>
                  <a:srgbClr val="0070C0"/>
                </a:solidFill>
                <a:latin typeface="Times New Roman" panose="02020603050405020304" pitchFamily="18" charset="0"/>
                <a:cs typeface="Times New Roman" panose="02020603050405020304" pitchFamily="18" charset="0"/>
              </a:rPr>
              <a:t>:</a:t>
            </a:r>
          </a:p>
          <a:p>
            <a:pPr>
              <a:lnSpc>
                <a:spcPct val="150000"/>
              </a:lnSpc>
              <a:buFontTx/>
              <a:buChar char="-"/>
            </a:pPr>
            <a:r>
              <a:rPr lang="en-US" sz="3200" dirty="0" err="1">
                <a:latin typeface="Times New Roman" panose="02020603050405020304" pitchFamily="18" charset="0"/>
                <a:cs typeface="Times New Roman" panose="02020603050405020304" pitchFamily="18" charset="0"/>
              </a:rPr>
              <a:t>Giúp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nguồn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gốc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xuất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xứ</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sản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phẩm</a:t>
            </a:r>
            <a:endParaRPr lang="en-US" sz="3200" dirty="0">
              <a:latin typeface="Times New Roman" panose="02020603050405020304" pitchFamily="18" charset="0"/>
              <a:cs typeface="Times New Roman" panose="02020603050405020304" pitchFamily="18" charset="0"/>
            </a:endParaRPr>
          </a:p>
          <a:p>
            <a:pPr>
              <a:lnSpc>
                <a:spcPct val="150000"/>
              </a:lnSpc>
              <a:buFontTx/>
              <a:buChar char="-"/>
            </a:pPr>
            <a:r>
              <a:rPr lang="en-US" sz="3200" dirty="0" err="1">
                <a:latin typeface="Times New Roman" panose="02020603050405020304" pitchFamily="18" charset="0"/>
                <a:cs typeface="Times New Roman" panose="02020603050405020304" pitchFamily="18" charset="0"/>
              </a:rPr>
              <a:t>Tiết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kiệm</a:t>
            </a:r>
            <a:r>
              <a:rPr lang="en-US" sz="3200" dirty="0">
                <a:latin typeface="Times New Roman" panose="02020603050405020304" pitchFamily="18" charset="0"/>
                <a:cs typeface="Times New Roman" panose="02020603050405020304" pitchFamily="18" charset="0"/>
              </a:rPr>
              <a:t> chi </a:t>
            </a:r>
            <a:r>
              <a:rPr lang="en-US" sz="3200" dirty="0" err="1">
                <a:latin typeface="Times New Roman" panose="02020603050405020304" pitchFamily="18" charset="0"/>
                <a:cs typeface="Times New Roman" panose="02020603050405020304" pitchFamily="18" charset="0"/>
              </a:rPr>
              <a:t>phí</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tìm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kiếm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sản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phẩm</a:t>
            </a:r>
            <a:endParaRPr lang="en-US" sz="3200" dirty="0">
              <a:latin typeface="Times New Roman" panose="02020603050405020304" pitchFamily="18" charset="0"/>
              <a:cs typeface="Times New Roman" panose="02020603050405020304" pitchFamily="18" charset="0"/>
            </a:endParaRPr>
          </a:p>
          <a:p>
            <a:pPr>
              <a:lnSpc>
                <a:spcPct val="150000"/>
              </a:lnSpc>
              <a:buFontTx/>
              <a:buChar char="-"/>
            </a:pPr>
            <a:r>
              <a:rPr lang="en-US" sz="3200" dirty="0" err="1">
                <a:latin typeface="Times New Roman" panose="02020603050405020304" pitchFamily="18" charset="0"/>
                <a:cs typeface="Times New Roman" panose="02020603050405020304" pitchFamily="18" charset="0"/>
              </a:rPr>
              <a:t>Góp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phần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khẳng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đẳng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cấp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gia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trị</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bản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thân</a:t>
            </a:r>
            <a:r>
              <a:rPr lang="en-US" sz="32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603685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5943600" cy="563562"/>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a:t>Vai trò của nhãn hiệu</a:t>
            </a:r>
          </a:p>
        </p:txBody>
      </p:sp>
      <p:sp>
        <p:nvSpPr>
          <p:cNvPr id="4" name="Rectangle 6"/>
          <p:cNvSpPr txBox="1">
            <a:spLocks noChangeArrowheads="1"/>
          </p:cNvSpPr>
          <p:nvPr/>
        </p:nvSpPr>
        <p:spPr>
          <a:xfrm>
            <a:off x="0" y="1295400"/>
            <a:ext cx="5638800" cy="4876800"/>
          </a:xfrm>
          <a:prstGeom prst="rect">
            <a:avLst/>
          </a:prstGeom>
          <a:noFill/>
        </p:spPr>
        <p:txBody>
          <a:bodyPr vert="horz" lIns="92075" tIns="46038" rIns="92075" bIns="46038" rtlCol="0">
            <a:normAutofit lnSpcReduction="10000"/>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1" i="0" u="none" strike="noStrike" kern="1200" cap="none" spc="0" normalizeH="0" baseline="0" noProof="0">
                <a:ln>
                  <a:noFill/>
                </a:ln>
                <a:solidFill>
                  <a:srgbClr val="FF0000"/>
                </a:solidFill>
                <a:effectLst/>
                <a:uLnTx/>
                <a:uFillTx/>
                <a:latin typeface="+mn-lt"/>
                <a:ea typeface="+mn-ea"/>
                <a:cs typeface="+mn-cs"/>
              </a:rPr>
              <a:t>Quan điểm người tiêu dùng:</a:t>
            </a:r>
            <a:endParaRPr kumimoji="0" lang="en-US" sz="2800" b="0" i="0" u="none" strike="noStrike" kern="1200" cap="none" spc="0" normalizeH="0" baseline="0" noProof="0">
              <a:ln>
                <a:noFill/>
              </a:ln>
              <a:solidFill>
                <a:srgbClr val="FF0000"/>
              </a:solidFill>
              <a:effectLst/>
              <a:uLnTx/>
              <a:uFillTx/>
              <a:latin typeface="+mn-lt"/>
              <a:ea typeface="+mn-ea"/>
              <a:cs typeface="+mn-cs"/>
            </a:endParaRPr>
          </a:p>
          <a:p>
            <a:pPr marL="625475" marR="0" lvl="1" indent="-341313" algn="l" defTabSz="914400" rtl="0" eaLnBrk="1" fontAlgn="auto" latinLnBrk="0" hangingPunct="1">
              <a:lnSpc>
                <a:spcPct val="100000"/>
              </a:lnSpc>
              <a:spcBef>
                <a:spcPct val="20000"/>
              </a:spcBef>
              <a:spcAft>
                <a:spcPts val="0"/>
              </a:spcAft>
              <a:buClrTx/>
              <a:buSzPct val="75000"/>
              <a:buFont typeface="Arial" pitchFamily="34" charset="0"/>
              <a:buChar char="–"/>
              <a:tabLst/>
              <a:defRPr/>
            </a:pPr>
            <a:r>
              <a:rPr kumimoji="0" lang="en-US" sz="2800" b="0" i="0" u="none" strike="noStrike" kern="1200" cap="none" spc="0" normalizeH="0" baseline="0" noProof="0">
                <a:ln>
                  <a:noFill/>
                </a:ln>
                <a:solidFill>
                  <a:schemeClr val="tx1"/>
                </a:solidFill>
                <a:effectLst/>
                <a:uLnTx/>
                <a:uFillTx/>
                <a:latin typeface="+mn-lt"/>
                <a:ea typeface="+mn-ea"/>
                <a:cs typeface="+mn-cs"/>
              </a:rPr>
              <a:t>giảm rủi ro khi lựa chọn SP</a:t>
            </a:r>
          </a:p>
          <a:p>
            <a:pPr marL="625475" marR="0" lvl="1" indent="-341313" algn="l" defTabSz="914400" rtl="0" eaLnBrk="1" fontAlgn="auto" latinLnBrk="0" hangingPunct="1">
              <a:lnSpc>
                <a:spcPct val="100000"/>
              </a:lnSpc>
              <a:spcBef>
                <a:spcPct val="20000"/>
              </a:spcBef>
              <a:spcAft>
                <a:spcPts val="0"/>
              </a:spcAft>
              <a:buClrTx/>
              <a:buSzPct val="75000"/>
              <a:buFont typeface="Arial" pitchFamily="34" charset="0"/>
              <a:buChar char="–"/>
              <a:tabLst/>
              <a:defRPr/>
            </a:pPr>
            <a:r>
              <a:rPr kumimoji="0" lang="en-US" sz="2800" b="0" i="0" u="none" strike="noStrike" kern="1200" cap="none" spc="0" normalizeH="0" baseline="0" noProof="0">
                <a:ln>
                  <a:noFill/>
                </a:ln>
                <a:solidFill>
                  <a:schemeClr val="tx1"/>
                </a:solidFill>
                <a:effectLst/>
                <a:uLnTx/>
                <a:uFillTx/>
                <a:latin typeface="+mn-lt"/>
                <a:ea typeface="+mn-ea"/>
                <a:cs typeface="+mn-cs"/>
              </a:rPr>
              <a:t>phân biệt và so sánh với SP cạnh tranh</a:t>
            </a:r>
          </a:p>
          <a:p>
            <a:pPr marL="0" marR="0" lvl="0" indent="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1" i="0" u="none" strike="noStrike" kern="1200" cap="none" spc="0" normalizeH="0" baseline="0" noProof="0">
                <a:ln>
                  <a:noFill/>
                </a:ln>
                <a:solidFill>
                  <a:srgbClr val="FF0000"/>
                </a:solidFill>
                <a:effectLst/>
                <a:uLnTx/>
                <a:uFillTx/>
                <a:latin typeface="+mn-lt"/>
                <a:ea typeface="+mn-ea"/>
                <a:cs typeface="+mn-cs"/>
              </a:rPr>
              <a:t> </a:t>
            </a:r>
            <a:r>
              <a:rPr kumimoji="0" lang="en-US" sz="2800" b="1" i="0" u="none" strike="noStrike" kern="1200" cap="none" spc="0" normalizeH="0" baseline="0" noProof="0">
                <a:ln>
                  <a:noFill/>
                </a:ln>
                <a:solidFill>
                  <a:srgbClr val="FF0000"/>
                </a:solidFill>
                <a:effectLst/>
                <a:uLnTx/>
                <a:uFillTx/>
                <a:latin typeface="+mn-lt"/>
                <a:ea typeface="+mn-ea"/>
                <a:cs typeface="+mn-cs"/>
              </a:rPr>
              <a:t>Quan điểm Marketing:</a:t>
            </a:r>
          </a:p>
          <a:p>
            <a:pPr marL="625475" marR="0" lvl="1" indent="-341313" algn="l" defTabSz="914400" rtl="0" eaLnBrk="1" fontAlgn="auto" latinLnBrk="0" hangingPunct="1">
              <a:lnSpc>
                <a:spcPct val="100000"/>
              </a:lnSpc>
              <a:spcBef>
                <a:spcPct val="20000"/>
              </a:spcBef>
              <a:spcAft>
                <a:spcPts val="0"/>
              </a:spcAft>
              <a:buClrTx/>
              <a:buSzPct val="75000"/>
              <a:buFont typeface="Arial" pitchFamily="34" charset="0"/>
              <a:buChar char="–"/>
              <a:tabLst/>
              <a:defRPr/>
            </a:pPr>
            <a:r>
              <a:rPr kumimoji="0" lang="en-US" sz="2800" b="0" i="0" u="none" strike="noStrike" kern="1200" cap="none" spc="0" normalizeH="0" baseline="0" noProof="0">
                <a:ln>
                  <a:noFill/>
                </a:ln>
                <a:solidFill>
                  <a:schemeClr val="tx1"/>
                </a:solidFill>
                <a:effectLst/>
                <a:uLnTx/>
                <a:uFillTx/>
                <a:latin typeface="+mn-lt"/>
                <a:ea typeface="+mn-ea"/>
                <a:cs typeface="+mn-cs"/>
              </a:rPr>
              <a:t>xây dựng thái độ của NTD về SP</a:t>
            </a:r>
          </a:p>
          <a:p>
            <a:pPr marL="625475" marR="0" lvl="1" indent="-341313" algn="l" defTabSz="914400" rtl="0" eaLnBrk="1" fontAlgn="auto" latinLnBrk="0" hangingPunct="1">
              <a:lnSpc>
                <a:spcPct val="100000"/>
              </a:lnSpc>
              <a:spcBef>
                <a:spcPct val="20000"/>
              </a:spcBef>
              <a:spcAft>
                <a:spcPts val="0"/>
              </a:spcAft>
              <a:buClrTx/>
              <a:buSzPct val="75000"/>
              <a:buFont typeface="Arial" pitchFamily="34" charset="0"/>
              <a:buChar char="–"/>
              <a:tabLst/>
              <a:defRPr/>
            </a:pPr>
            <a:r>
              <a:rPr kumimoji="0" lang="en-US" sz="2800" b="0" i="0" u="none" strike="noStrike" kern="1200" cap="none" spc="0" normalizeH="0" baseline="0" noProof="0">
                <a:ln>
                  <a:noFill/>
                </a:ln>
                <a:solidFill>
                  <a:schemeClr val="tx1"/>
                </a:solidFill>
                <a:effectLst/>
                <a:uLnTx/>
                <a:uFillTx/>
                <a:latin typeface="+mn-lt"/>
                <a:ea typeface="+mn-ea"/>
                <a:cs typeface="+mn-cs"/>
              </a:rPr>
              <a:t>tạo nhận biết sự khác biệt về SP </a:t>
            </a:r>
          </a:p>
          <a:p>
            <a:pPr marL="625475" marR="0" lvl="1" indent="-341313" algn="l" defTabSz="914400" rtl="0" eaLnBrk="1" fontAlgn="auto" latinLnBrk="0" hangingPunct="1">
              <a:lnSpc>
                <a:spcPct val="100000"/>
              </a:lnSpc>
              <a:spcBef>
                <a:spcPct val="20000"/>
              </a:spcBef>
              <a:spcAft>
                <a:spcPts val="0"/>
              </a:spcAft>
              <a:buClrTx/>
              <a:buSzPct val="75000"/>
              <a:buFont typeface="Arial" pitchFamily="34" charset="0"/>
              <a:buChar char="–"/>
              <a:tabLst/>
              <a:defRPr/>
            </a:pPr>
            <a:r>
              <a:rPr kumimoji="0" lang="en-US" sz="2800" b="0" i="0" u="none" strike="noStrike" kern="1200" cap="none" spc="0" normalizeH="0" baseline="0" noProof="0">
                <a:ln>
                  <a:noFill/>
                </a:ln>
                <a:solidFill>
                  <a:schemeClr val="tx1"/>
                </a:solidFill>
                <a:effectLst/>
                <a:uLnTx/>
                <a:uFillTx/>
                <a:latin typeface="+mn-lt"/>
                <a:ea typeface="+mn-ea"/>
                <a:cs typeface="+mn-cs"/>
              </a:rPr>
              <a:t>tạo điều kiện phát triển SP mới.</a:t>
            </a:r>
          </a:p>
        </p:txBody>
      </p:sp>
      <p:grpSp>
        <p:nvGrpSpPr>
          <p:cNvPr id="5" name="Group 7"/>
          <p:cNvGrpSpPr>
            <a:grpSpLocks/>
          </p:cNvGrpSpPr>
          <p:nvPr/>
        </p:nvGrpSpPr>
        <p:grpSpPr bwMode="auto">
          <a:xfrm>
            <a:off x="6019800" y="3657600"/>
            <a:ext cx="2971800" cy="2662238"/>
            <a:chOff x="3888" y="3120"/>
            <a:chExt cx="1872" cy="1677"/>
          </a:xfrm>
        </p:grpSpPr>
        <p:pic>
          <p:nvPicPr>
            <p:cNvPr id="6" name="Picture 8"/>
            <p:cNvPicPr>
              <a:picLocks noChangeAspect="1" noChangeArrowheads="1"/>
            </p:cNvPicPr>
            <p:nvPr/>
          </p:nvPicPr>
          <p:blipFill>
            <a:blip r:embed="rId2" cstate="print"/>
            <a:srcRect/>
            <a:stretch>
              <a:fillRect/>
            </a:stretch>
          </p:blipFill>
          <p:spPr bwMode="auto">
            <a:xfrm>
              <a:off x="3888" y="3120"/>
              <a:ext cx="1872" cy="1677"/>
            </a:xfrm>
            <a:prstGeom prst="rect">
              <a:avLst/>
            </a:prstGeom>
            <a:noFill/>
            <a:ln w="12700">
              <a:noFill/>
              <a:miter lim="800000"/>
              <a:headEnd/>
              <a:tailEnd/>
            </a:ln>
          </p:spPr>
        </p:pic>
        <p:sp>
          <p:nvSpPr>
            <p:cNvPr id="7" name="Text Box 9"/>
            <p:cNvSpPr txBox="1">
              <a:spLocks noChangeArrowheads="1"/>
            </p:cNvSpPr>
            <p:nvPr/>
          </p:nvSpPr>
          <p:spPr bwMode="auto">
            <a:xfrm>
              <a:off x="5169" y="4058"/>
              <a:ext cx="513" cy="256"/>
            </a:xfrm>
            <a:prstGeom prst="rect">
              <a:avLst/>
            </a:prstGeom>
            <a:noFill/>
            <a:ln w="9525">
              <a:solidFill>
                <a:schemeClr val="tx1"/>
              </a:solidFill>
              <a:miter lim="800000"/>
              <a:headEnd/>
              <a:tailEnd/>
            </a:ln>
          </p:spPr>
          <p:txBody>
            <a:bodyPr wrap="none">
              <a:spAutoFit/>
            </a:bodyPr>
            <a:lstStyle/>
            <a:p>
              <a:pPr eaLnBrk="0" hangingPunct="0"/>
              <a:r>
                <a:rPr lang="en-US" sz="2000"/>
                <a:t>BMW</a:t>
              </a:r>
              <a:endParaRPr lang="en-US" sz="2400">
                <a:solidFill>
                  <a:schemeClr val="tx2"/>
                </a:solidFill>
              </a:endParaRPr>
            </a:p>
          </p:txBody>
        </p:sp>
      </p:grpSp>
      <p:grpSp>
        <p:nvGrpSpPr>
          <p:cNvPr id="8" name="Group 10"/>
          <p:cNvGrpSpPr>
            <a:grpSpLocks/>
          </p:cNvGrpSpPr>
          <p:nvPr/>
        </p:nvGrpSpPr>
        <p:grpSpPr bwMode="auto">
          <a:xfrm>
            <a:off x="5943600" y="990600"/>
            <a:ext cx="3200400" cy="2438400"/>
            <a:chOff x="3888" y="1392"/>
            <a:chExt cx="1872" cy="1536"/>
          </a:xfrm>
        </p:grpSpPr>
        <p:pic>
          <p:nvPicPr>
            <p:cNvPr id="9" name="Picture 11"/>
            <p:cNvPicPr>
              <a:picLocks noChangeAspect="1" noChangeArrowheads="1"/>
            </p:cNvPicPr>
            <p:nvPr/>
          </p:nvPicPr>
          <p:blipFill>
            <a:blip r:embed="rId3" cstate="print">
              <a:clrChange>
                <a:clrFrom>
                  <a:srgbClr val="202000"/>
                </a:clrFrom>
                <a:clrTo>
                  <a:srgbClr val="202000">
                    <a:alpha val="0"/>
                  </a:srgbClr>
                </a:clrTo>
              </a:clrChange>
            </a:blip>
            <a:srcRect/>
            <a:stretch>
              <a:fillRect/>
            </a:stretch>
          </p:blipFill>
          <p:spPr bwMode="auto">
            <a:xfrm>
              <a:off x="3888" y="1392"/>
              <a:ext cx="1872" cy="1536"/>
            </a:xfrm>
            <a:prstGeom prst="rect">
              <a:avLst/>
            </a:prstGeom>
            <a:noFill/>
            <a:ln w="12700">
              <a:noFill/>
              <a:miter lim="800000"/>
              <a:headEnd/>
              <a:tailEnd/>
            </a:ln>
          </p:spPr>
        </p:pic>
        <p:sp>
          <p:nvSpPr>
            <p:cNvPr id="10" name="Text Box 12"/>
            <p:cNvSpPr txBox="1">
              <a:spLocks noChangeArrowheads="1"/>
            </p:cNvSpPr>
            <p:nvPr/>
          </p:nvSpPr>
          <p:spPr bwMode="auto">
            <a:xfrm>
              <a:off x="3888" y="1634"/>
              <a:ext cx="967" cy="256"/>
            </a:xfrm>
            <a:prstGeom prst="rect">
              <a:avLst/>
            </a:prstGeom>
            <a:noFill/>
            <a:ln w="9525">
              <a:solidFill>
                <a:srgbClr val="FF3300"/>
              </a:solidFill>
              <a:miter lim="800000"/>
              <a:headEnd/>
              <a:tailEnd/>
            </a:ln>
          </p:spPr>
          <p:txBody>
            <a:bodyPr wrap="none">
              <a:spAutoFit/>
            </a:bodyPr>
            <a:lstStyle/>
            <a:p>
              <a:pPr eaLnBrk="0" hangingPunct="0"/>
              <a:r>
                <a:rPr lang="en-US" sz="2000" b="1">
                  <a:solidFill>
                    <a:srgbClr val="FF3300"/>
                  </a:solidFill>
                </a:rPr>
                <a:t>MICHELIN</a:t>
              </a:r>
              <a:endParaRPr lang="en-US" sz="2400">
                <a:solidFill>
                  <a:schemeClr val="tx2"/>
                </a:solidFill>
              </a:endParaRPr>
            </a:p>
          </p:txBody>
        </p:sp>
      </p:grpSp>
    </p:spTree>
    <p:extLst>
      <p:ext uri="{BB962C8B-B14F-4D97-AF65-F5344CB8AC3E}">
        <p14:creationId xmlns:p14="http://schemas.microsoft.com/office/powerpoint/2010/main" val="244139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12"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0-#ppt_w/2"/>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 calcmode="lin" valueType="num">
                                      <p:cBhvr additive="base">
                                        <p:cTn id="21"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4">
                                            <p:txEl>
                                              <p:pRg st="0" end="0"/>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 calcmode="lin" valueType="num">
                                      <p:cBhvr additive="base">
                                        <p:cTn id="25"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
                                            <p:txEl>
                                              <p:pRg st="1" end="1"/>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anim calcmode="lin" valueType="num">
                                      <p:cBhvr additive="base">
                                        <p:cTn id="29"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 calcmode="lin" valueType="num">
                                      <p:cBhvr additive="base">
                                        <p:cTn id="35" dur="500" fill="hold"/>
                                        <p:tgtEl>
                                          <p:spTgt spid="4">
                                            <p:txEl>
                                              <p:pRg st="3" end="3"/>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4">
                                            <p:txEl>
                                              <p:pRg st="3" end="3"/>
                                            </p:txEl>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anim calcmode="lin" valueType="num">
                                      <p:cBhvr additive="base">
                                        <p:cTn id="39" dur="500" fill="hold"/>
                                        <p:tgtEl>
                                          <p:spTgt spid="4">
                                            <p:txEl>
                                              <p:pRg st="4" end="4"/>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4">
                                            <p:txEl>
                                              <p:pRg st="4" end="4"/>
                                            </p:txEl>
                                          </p:spTgt>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anim calcmode="lin" valueType="num">
                                      <p:cBhvr additive="base">
                                        <p:cTn id="43" dur="500" fill="hold"/>
                                        <p:tgtEl>
                                          <p:spTgt spid="4">
                                            <p:txEl>
                                              <p:pRg st="5" end="5"/>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
                                            <p:txEl>
                                              <p:pRg st="5" end="5"/>
                                            </p:txEl>
                                          </p:spTgt>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anim calcmode="lin" valueType="num">
                                      <p:cBhvr additive="base">
                                        <p:cTn id="47" dur="500" fill="hold"/>
                                        <p:tgtEl>
                                          <p:spTgt spid="4">
                                            <p:txEl>
                                              <p:pRg st="6" end="6"/>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4">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endParaRPr lang="en-US" dirty="0"/>
          </a:p>
        </p:txBody>
      </p:sp>
      <p:sp>
        <p:nvSpPr>
          <p:cNvPr id="5" name="Rectangle 4"/>
          <p:cNvSpPr/>
          <p:nvPr/>
        </p:nvSpPr>
        <p:spPr>
          <a:xfrm>
            <a:off x="762000" y="2057400"/>
            <a:ext cx="3200400" cy="3046988"/>
          </a:xfrm>
          <a:prstGeom prst="rect">
            <a:avLst/>
          </a:prstGeom>
        </p:spPr>
        <p:txBody>
          <a:bodyPr wrap="square">
            <a:spAutoFit/>
          </a:bodyPr>
          <a:lstStyle/>
          <a:p>
            <a:r>
              <a:rPr lang="vi-VN" sz="2400" b="1" u="sng" dirty="0"/>
              <a:t>Các thách thức </a:t>
            </a:r>
          </a:p>
          <a:p>
            <a:r>
              <a:rPr lang="vi-VN" sz="2400" b="1" u="sng" dirty="0"/>
              <a:t>quan trọng</a:t>
            </a:r>
          </a:p>
          <a:p>
            <a:pPr>
              <a:buFont typeface="Wingdings" pitchFamily="2" charset="2"/>
              <a:buChar char="Ø"/>
            </a:pPr>
            <a:r>
              <a:rPr lang="vi-VN" sz="2400" dirty="0">
                <a:solidFill>
                  <a:srgbClr val="FF0000"/>
                </a:solidFill>
              </a:rPr>
              <a:t>Đặt nhãn hiệu hay không</a:t>
            </a:r>
          </a:p>
          <a:p>
            <a:pPr>
              <a:buFont typeface="Wingdings" pitchFamily="2" charset="2"/>
              <a:buChar char="Ø"/>
            </a:pPr>
            <a:r>
              <a:rPr lang="vi-VN" sz="2400" dirty="0"/>
              <a:t>Người đứng tên nhãn hiệu</a:t>
            </a:r>
          </a:p>
          <a:p>
            <a:pPr>
              <a:buFont typeface="Wingdings" pitchFamily="2" charset="2"/>
              <a:buChar char="Ø"/>
            </a:pPr>
            <a:r>
              <a:rPr lang="vi-VN" sz="2400" dirty="0"/>
              <a:t>Tên nhãn hiệu</a:t>
            </a:r>
          </a:p>
          <a:p>
            <a:pPr>
              <a:buFont typeface="Wingdings" pitchFamily="2" charset="2"/>
              <a:buChar char="Ø"/>
            </a:pPr>
            <a:r>
              <a:rPr lang="vi-VN" sz="2400" dirty="0"/>
              <a:t>Định vị lại nhãn hiệu</a:t>
            </a:r>
            <a:endParaRPr lang="en-US" sz="2400" dirty="0"/>
          </a:p>
        </p:txBody>
      </p:sp>
      <p:cxnSp>
        <p:nvCxnSpPr>
          <p:cNvPr id="7" name="Straight Connector 6"/>
          <p:cNvCxnSpPr>
            <a:stCxn id="3" idx="0"/>
            <a:endCxn id="3" idx="2"/>
          </p:cNvCxnSpPr>
          <p:nvPr/>
        </p:nvCxnSpPr>
        <p:spPr>
          <a:xfrm rot="16200000" flipH="1">
            <a:off x="2309018" y="3863181"/>
            <a:ext cx="4525963" cy="158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4953000" y="1676400"/>
            <a:ext cx="4191000" cy="4154984"/>
          </a:xfrm>
          <a:prstGeom prst="rect">
            <a:avLst/>
          </a:prstGeom>
        </p:spPr>
        <p:txBody>
          <a:bodyPr wrap="square">
            <a:spAutoFit/>
          </a:bodyPr>
          <a:lstStyle/>
          <a:p>
            <a:r>
              <a:rPr lang="vi-VN" sz="2400"/>
              <a:t>Các lợi ích của việc đặt </a:t>
            </a:r>
          </a:p>
          <a:p>
            <a:r>
              <a:rPr lang="vi-VN" sz="2400"/>
              <a:t>nhãn hiệu:</a:t>
            </a:r>
          </a:p>
          <a:p>
            <a:pPr>
              <a:buFont typeface="Wingdings" pitchFamily="2" charset="2"/>
              <a:buChar char="ü"/>
            </a:pPr>
            <a:r>
              <a:rPr lang="vi-VN" sz="2400"/>
              <a:t> Hỗ trợ quá trình đặt hàng</a:t>
            </a:r>
          </a:p>
          <a:p>
            <a:pPr>
              <a:buFont typeface="Wingdings" pitchFamily="2" charset="2"/>
              <a:buChar char="ü"/>
            </a:pPr>
            <a:r>
              <a:rPr lang="vi-VN" sz="2400"/>
              <a:t> Bảo vệ nhãn hiệu</a:t>
            </a:r>
            <a:r>
              <a:rPr lang="en-US" sz="2400"/>
              <a:t> </a:t>
            </a:r>
            <a:r>
              <a:rPr lang="vi-VN" sz="2400"/>
              <a:t>thương mại</a:t>
            </a:r>
          </a:p>
          <a:p>
            <a:pPr>
              <a:buFont typeface="Wingdings" pitchFamily="2" charset="2"/>
              <a:buChar char="ü"/>
            </a:pPr>
            <a:r>
              <a:rPr lang="vi-VN" sz="2400"/>
              <a:t>Hỗ trợ việc phân đoạn</a:t>
            </a:r>
            <a:r>
              <a:rPr lang="en-US" sz="2400"/>
              <a:t> </a:t>
            </a:r>
            <a:r>
              <a:rPr lang="vi-VN" sz="2400"/>
              <a:t>thị trường</a:t>
            </a:r>
          </a:p>
          <a:p>
            <a:pPr>
              <a:buFont typeface="Wingdings" pitchFamily="2" charset="2"/>
              <a:buChar char="ü"/>
            </a:pPr>
            <a:r>
              <a:rPr lang="vi-VN" sz="2400"/>
              <a:t>Củng cố hình ảnh tổ chức</a:t>
            </a:r>
          </a:p>
          <a:p>
            <a:pPr>
              <a:buFont typeface="Wingdings" pitchFamily="2" charset="2"/>
              <a:buChar char="ü"/>
            </a:pPr>
            <a:r>
              <a:rPr lang="vi-VN" sz="2400"/>
              <a:t>Hàng hóa có nhãn hiệu</a:t>
            </a:r>
            <a:r>
              <a:rPr lang="en-US" sz="2400"/>
              <a:t> </a:t>
            </a:r>
            <a:r>
              <a:rPr lang="vi-VN" sz="2400"/>
              <a:t>được người bán lẻ và các nhà phân phối yêu thích hơn</a:t>
            </a:r>
            <a:endParaRPr lang="en-US" sz="2400"/>
          </a:p>
        </p:txBody>
      </p:sp>
      <p:sp>
        <p:nvSpPr>
          <p:cNvPr id="9" name="Title 1"/>
          <p:cNvSpPr txBox="1">
            <a:spLocks/>
          </p:cNvSpPr>
          <p:nvPr/>
        </p:nvSpPr>
        <p:spPr>
          <a:xfrm>
            <a:off x="228600" y="-1"/>
            <a:ext cx="8397818" cy="1370803"/>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err="1">
                <a:ln>
                  <a:noFill/>
                </a:ln>
                <a:solidFill>
                  <a:schemeClr val="lt1"/>
                </a:solidFill>
                <a:effectLst/>
                <a:uLnTx/>
                <a:uFillTx/>
                <a:latin typeface="+mn-lt"/>
                <a:ea typeface="+mn-ea"/>
                <a:cs typeface="+mn-cs"/>
              </a:rPr>
              <a:t>Các</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quyết</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định</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liên</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quan</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đến</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nhãn</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hiệu</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sản</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phẩm</a:t>
            </a: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cxnSp>
        <p:nvCxnSpPr>
          <p:cNvPr id="12" name="Straight Arrow Connector 11"/>
          <p:cNvCxnSpPr/>
          <p:nvPr/>
        </p:nvCxnSpPr>
        <p:spPr>
          <a:xfrm flipV="1">
            <a:off x="3505200" y="3048000"/>
            <a:ext cx="1066800" cy="304800"/>
          </a:xfrm>
          <a:prstGeom prst="straightConnector1">
            <a:avLst/>
          </a:prstGeom>
          <a:ln w="57150">
            <a:solidFill>
              <a:srgbClr val="00B0F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3" name="Object 4"/>
          <p:cNvGraphicFramePr>
            <a:graphicFrameLocks noChangeAspect="1"/>
          </p:cNvGraphicFramePr>
          <p:nvPr/>
        </p:nvGraphicFramePr>
        <p:xfrm>
          <a:off x="0" y="6248400"/>
          <a:ext cx="1822704" cy="609600"/>
        </p:xfrm>
        <a:graphic>
          <a:graphicData uri="http://schemas.openxmlformats.org/presentationml/2006/ole">
            <mc:AlternateContent xmlns:mc="http://schemas.openxmlformats.org/markup-compatibility/2006">
              <mc:Choice xmlns:v="urn:schemas-microsoft-com:vml" Requires="v">
                <p:oleObj name="Bitmap Image" r:id="rId2" imgW="3772427" imgH="743054" progId="PBrush">
                  <p:embed/>
                </p:oleObj>
              </mc:Choice>
              <mc:Fallback>
                <p:oleObj name="Bitmap Image" r:id="rId2" imgW="3772427" imgH="743054" progId="PBrush">
                  <p:embed/>
                  <p:pic>
                    <p:nvPicPr>
                      <p:cNvPr id="13"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8400"/>
                        <a:ext cx="1822704" cy="609600"/>
                      </a:xfrm>
                      <a:prstGeom prst="rect">
                        <a:avLst/>
                      </a:prstGeom>
                      <a:noFill/>
                      <a:ln w="9525">
                        <a:solidFill>
                          <a:srgbClr val="800000"/>
                        </a:solidFill>
                        <a:miter lim="800000"/>
                        <a:headEnd/>
                        <a:tailEnd/>
                      </a:ln>
                      <a:effectLst>
                        <a:outerShdw dist="71842" dir="2700000" algn="ctr" rotWithShape="0">
                          <a:srgbClr val="800000"/>
                        </a:outerShdw>
                      </a:effectLst>
                      <a:extLst>
                        <a:ext uri="{909E8E84-426E-40DD-AFC4-6F175D3DCCD1}">
                          <a14:hiddenFill xmlns:a14="http://schemas.microsoft.com/office/drawing/2010/main">
                            <a:solidFill>
                              <a:schemeClr val="accent1"/>
                            </a:solidFill>
                          </a14:hiddenFill>
                        </a:ext>
                      </a:extLst>
                    </p:spPr>
                  </p:pic>
                </p:oleObj>
              </mc:Fallback>
            </mc:AlternateContent>
          </a:graphicData>
        </a:graphic>
      </p:graphicFrame>
      <p:pic>
        <p:nvPicPr>
          <p:cNvPr id="14" name="Picture 7" descr="BMWlogo_B"/>
          <p:cNvPicPr>
            <a:picLocks noChangeAspect="1" noChangeArrowheads="1"/>
          </p:cNvPicPr>
          <p:nvPr/>
        </p:nvPicPr>
        <p:blipFill>
          <a:blip r:embed="rId4" cstate="print"/>
          <a:srcRect/>
          <a:stretch>
            <a:fillRect/>
          </a:stretch>
        </p:blipFill>
        <p:spPr bwMode="auto">
          <a:xfrm>
            <a:off x="8153400" y="5925671"/>
            <a:ext cx="990600" cy="932329"/>
          </a:xfrm>
          <a:prstGeom prst="rect">
            <a:avLst/>
          </a:prstGeom>
          <a:noFill/>
          <a:ln w="9525">
            <a:noFill/>
            <a:miter lim="800000"/>
            <a:headEnd/>
            <a:tailEnd/>
          </a:ln>
        </p:spPr>
      </p:pic>
    </p:spTree>
    <p:extLst>
      <p:ext uri="{BB962C8B-B14F-4D97-AF65-F5344CB8AC3E}">
        <p14:creationId xmlns:p14="http://schemas.microsoft.com/office/powerpoint/2010/main" val="23703708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endParaRPr lang="en-US"/>
          </a:p>
        </p:txBody>
      </p:sp>
      <p:sp>
        <p:nvSpPr>
          <p:cNvPr id="5" name="Rectangle 4"/>
          <p:cNvSpPr/>
          <p:nvPr/>
        </p:nvSpPr>
        <p:spPr>
          <a:xfrm>
            <a:off x="762000" y="2057400"/>
            <a:ext cx="3200400" cy="3046988"/>
          </a:xfrm>
          <a:prstGeom prst="rect">
            <a:avLst/>
          </a:prstGeom>
        </p:spPr>
        <p:txBody>
          <a:bodyPr wrap="square">
            <a:spAutoFit/>
          </a:bodyPr>
          <a:lstStyle/>
          <a:p>
            <a:r>
              <a:rPr lang="vi-VN" sz="2400" b="1" u="sng"/>
              <a:t>Các thách thức </a:t>
            </a:r>
          </a:p>
          <a:p>
            <a:r>
              <a:rPr lang="vi-VN" sz="2400" b="1" u="sng"/>
              <a:t>quan trọng</a:t>
            </a:r>
          </a:p>
          <a:p>
            <a:pPr>
              <a:buFont typeface="Wingdings" pitchFamily="2" charset="2"/>
              <a:buChar char="Ø"/>
            </a:pPr>
            <a:r>
              <a:rPr lang="vi-VN" sz="2400">
                <a:solidFill>
                  <a:srgbClr val="0070C0"/>
                </a:solidFill>
              </a:rPr>
              <a:t>Đặt nhãn hiệu hay không</a:t>
            </a:r>
          </a:p>
          <a:p>
            <a:pPr>
              <a:buFont typeface="Wingdings" pitchFamily="2" charset="2"/>
              <a:buChar char="Ø"/>
            </a:pPr>
            <a:r>
              <a:rPr lang="vi-VN" sz="2400">
                <a:solidFill>
                  <a:srgbClr val="FF0000"/>
                </a:solidFill>
              </a:rPr>
              <a:t>Người đứng tên nhãn hiệu</a:t>
            </a:r>
          </a:p>
          <a:p>
            <a:pPr>
              <a:buFont typeface="Wingdings" pitchFamily="2" charset="2"/>
              <a:buChar char="Ø"/>
            </a:pPr>
            <a:r>
              <a:rPr lang="vi-VN" sz="2400"/>
              <a:t>Tên nhãn hiệu</a:t>
            </a:r>
          </a:p>
          <a:p>
            <a:pPr>
              <a:buFont typeface="Wingdings" pitchFamily="2" charset="2"/>
              <a:buChar char="Ø"/>
            </a:pPr>
            <a:r>
              <a:rPr lang="vi-VN" sz="2400"/>
              <a:t>Định vị lại nhãn hiệu</a:t>
            </a:r>
            <a:endParaRPr lang="en-US" sz="2400"/>
          </a:p>
        </p:txBody>
      </p:sp>
      <p:cxnSp>
        <p:nvCxnSpPr>
          <p:cNvPr id="7" name="Straight Connector 6"/>
          <p:cNvCxnSpPr>
            <a:stCxn id="3" idx="0"/>
            <a:endCxn id="3" idx="2"/>
          </p:cNvCxnSpPr>
          <p:nvPr/>
        </p:nvCxnSpPr>
        <p:spPr>
          <a:xfrm rot="16200000" flipH="1">
            <a:off x="2309018" y="3863181"/>
            <a:ext cx="4525963" cy="158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4953000" y="3048000"/>
            <a:ext cx="4191000" cy="3046988"/>
          </a:xfrm>
          <a:prstGeom prst="rect">
            <a:avLst/>
          </a:prstGeom>
        </p:spPr>
        <p:txBody>
          <a:bodyPr wrap="square">
            <a:spAutoFit/>
          </a:bodyPr>
          <a:lstStyle/>
          <a:p>
            <a:r>
              <a:rPr lang="vi-VN" sz="2400"/>
              <a:t>Có các lựa chọn:</a:t>
            </a:r>
          </a:p>
          <a:p>
            <a:pPr>
              <a:buFont typeface="Wingdings" pitchFamily="2" charset="2"/>
              <a:buChar char="ü"/>
            </a:pPr>
            <a:r>
              <a:rPr lang="vi-VN" sz="2400"/>
              <a:t> Nhãn hiệu của nhà</a:t>
            </a:r>
          </a:p>
          <a:p>
            <a:pPr>
              <a:buFont typeface="Wingdings" pitchFamily="2" charset="2"/>
              <a:buChar char="ü"/>
            </a:pPr>
            <a:r>
              <a:rPr lang="vi-VN" sz="2400"/>
              <a:t>sản xuất</a:t>
            </a:r>
          </a:p>
          <a:p>
            <a:pPr>
              <a:buFont typeface="Wingdings" pitchFamily="2" charset="2"/>
              <a:buChar char="ü"/>
            </a:pPr>
            <a:r>
              <a:rPr lang="vi-VN" sz="2400"/>
              <a:t> Nhãn hiệu của nhà</a:t>
            </a:r>
          </a:p>
          <a:p>
            <a:pPr>
              <a:buFont typeface="Wingdings" pitchFamily="2" charset="2"/>
              <a:buChar char="ü"/>
            </a:pPr>
            <a:r>
              <a:rPr lang="vi-VN" sz="2400"/>
              <a:t>phân phối (người bán l</a:t>
            </a:r>
            <a:r>
              <a:rPr lang="en-US" sz="2400"/>
              <a:t>ẻ</a:t>
            </a:r>
            <a:r>
              <a:rPr lang="vi-VN" sz="2400"/>
              <a:t>, cửa hàng…</a:t>
            </a:r>
          </a:p>
          <a:p>
            <a:pPr>
              <a:buFont typeface="Wingdings" pitchFamily="2" charset="2"/>
              <a:buChar char="ü"/>
            </a:pPr>
            <a:r>
              <a:rPr lang="vi-VN" sz="2400"/>
              <a:t>Nhượng quyền sử</a:t>
            </a:r>
            <a:r>
              <a:rPr lang="en-US" sz="2400"/>
              <a:t> </a:t>
            </a:r>
            <a:r>
              <a:rPr lang="vi-VN" sz="2400"/>
              <a:t>dụng nhãn hiệu</a:t>
            </a:r>
            <a:endParaRPr lang="en-US" sz="2400"/>
          </a:p>
        </p:txBody>
      </p:sp>
      <p:sp>
        <p:nvSpPr>
          <p:cNvPr id="9" name="Title 1"/>
          <p:cNvSpPr txBox="1">
            <a:spLocks/>
          </p:cNvSpPr>
          <p:nvPr/>
        </p:nvSpPr>
        <p:spPr>
          <a:xfrm>
            <a:off x="228600" y="0"/>
            <a:ext cx="8339097" cy="132080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err="1">
                <a:ln>
                  <a:noFill/>
                </a:ln>
                <a:solidFill>
                  <a:schemeClr val="lt1"/>
                </a:solidFill>
                <a:effectLst/>
                <a:uLnTx/>
                <a:uFillTx/>
                <a:latin typeface="+mn-lt"/>
                <a:ea typeface="+mn-ea"/>
                <a:cs typeface="+mn-cs"/>
              </a:rPr>
              <a:t>Các</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quyết</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định</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liên</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quan</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đến</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nhãn</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hiệu</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sản</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phẩm</a:t>
            </a: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cxnSp>
        <p:nvCxnSpPr>
          <p:cNvPr id="12" name="Straight Arrow Connector 11"/>
          <p:cNvCxnSpPr/>
          <p:nvPr/>
        </p:nvCxnSpPr>
        <p:spPr>
          <a:xfrm flipV="1">
            <a:off x="3581400" y="3581400"/>
            <a:ext cx="1219200" cy="228600"/>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graphicFrame>
        <p:nvGraphicFramePr>
          <p:cNvPr id="14" name="Object 4"/>
          <p:cNvGraphicFramePr>
            <a:graphicFrameLocks noChangeAspect="1"/>
          </p:cNvGraphicFramePr>
          <p:nvPr/>
        </p:nvGraphicFramePr>
        <p:xfrm>
          <a:off x="0" y="6248400"/>
          <a:ext cx="1822704" cy="609600"/>
        </p:xfrm>
        <a:graphic>
          <a:graphicData uri="http://schemas.openxmlformats.org/presentationml/2006/ole">
            <mc:AlternateContent xmlns:mc="http://schemas.openxmlformats.org/markup-compatibility/2006">
              <mc:Choice xmlns:v="urn:schemas-microsoft-com:vml" Requires="v">
                <p:oleObj name="Bitmap Image" r:id="rId2" imgW="3772427" imgH="743054" progId="PBrush">
                  <p:embed/>
                </p:oleObj>
              </mc:Choice>
              <mc:Fallback>
                <p:oleObj name="Bitmap Image" r:id="rId2" imgW="3772427" imgH="743054" progId="PBrush">
                  <p:embed/>
                  <p:pic>
                    <p:nvPicPr>
                      <p:cNvPr id="1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8400"/>
                        <a:ext cx="1822704" cy="609600"/>
                      </a:xfrm>
                      <a:prstGeom prst="rect">
                        <a:avLst/>
                      </a:prstGeom>
                      <a:noFill/>
                      <a:ln w="9525">
                        <a:solidFill>
                          <a:srgbClr val="800000"/>
                        </a:solidFill>
                        <a:miter lim="800000"/>
                        <a:headEnd/>
                        <a:tailEnd/>
                      </a:ln>
                      <a:effectLst>
                        <a:outerShdw dist="71842" dir="2700000" algn="ctr" rotWithShape="0">
                          <a:srgbClr val="800000"/>
                        </a:outerShdw>
                      </a:effectLst>
                      <a:extLst>
                        <a:ext uri="{909E8E84-426E-40DD-AFC4-6F175D3DCCD1}">
                          <a14:hiddenFill xmlns:a14="http://schemas.microsoft.com/office/drawing/2010/main">
                            <a:solidFill>
                              <a:schemeClr val="accent1"/>
                            </a:solidFill>
                          </a14:hiddenFill>
                        </a:ext>
                      </a:extLst>
                    </p:spPr>
                  </p:pic>
                </p:oleObj>
              </mc:Fallback>
            </mc:AlternateContent>
          </a:graphicData>
        </a:graphic>
      </p:graphicFrame>
      <p:pic>
        <p:nvPicPr>
          <p:cNvPr id="15" name="Picture 7" descr="BMWlogo_B"/>
          <p:cNvPicPr>
            <a:picLocks noChangeAspect="1" noChangeArrowheads="1"/>
          </p:cNvPicPr>
          <p:nvPr/>
        </p:nvPicPr>
        <p:blipFill>
          <a:blip r:embed="rId4" cstate="print"/>
          <a:srcRect/>
          <a:stretch>
            <a:fillRect/>
          </a:stretch>
        </p:blipFill>
        <p:spPr bwMode="auto">
          <a:xfrm>
            <a:off x="8153400" y="5925671"/>
            <a:ext cx="990600" cy="932329"/>
          </a:xfrm>
          <a:prstGeom prst="rect">
            <a:avLst/>
          </a:prstGeom>
          <a:noFill/>
          <a:ln w="9525">
            <a:noFill/>
            <a:miter lim="800000"/>
            <a:headEnd/>
            <a:tailEnd/>
          </a:ln>
        </p:spPr>
      </p:pic>
    </p:spTree>
    <p:extLst>
      <p:ext uri="{BB962C8B-B14F-4D97-AF65-F5344CB8AC3E}">
        <p14:creationId xmlns:p14="http://schemas.microsoft.com/office/powerpoint/2010/main" val="18363872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endParaRPr lang="en-US"/>
          </a:p>
        </p:txBody>
      </p:sp>
      <p:sp>
        <p:nvSpPr>
          <p:cNvPr id="5" name="Rectangle 4"/>
          <p:cNvSpPr/>
          <p:nvPr/>
        </p:nvSpPr>
        <p:spPr>
          <a:xfrm>
            <a:off x="762000" y="2057400"/>
            <a:ext cx="3200400" cy="3046988"/>
          </a:xfrm>
          <a:prstGeom prst="rect">
            <a:avLst/>
          </a:prstGeom>
        </p:spPr>
        <p:txBody>
          <a:bodyPr wrap="square">
            <a:spAutoFit/>
          </a:bodyPr>
          <a:lstStyle/>
          <a:p>
            <a:r>
              <a:rPr lang="vi-VN" sz="2400" b="1" u="sng"/>
              <a:t>Các thách thức </a:t>
            </a:r>
          </a:p>
          <a:p>
            <a:r>
              <a:rPr lang="vi-VN" sz="2400" b="1" u="sng"/>
              <a:t>quan trọng</a:t>
            </a:r>
          </a:p>
          <a:p>
            <a:pPr>
              <a:buFont typeface="Wingdings" pitchFamily="2" charset="2"/>
              <a:buChar char="Ø"/>
            </a:pPr>
            <a:r>
              <a:rPr lang="vi-VN" sz="2400"/>
              <a:t>Đặt nhãn hiệu hay không</a:t>
            </a:r>
          </a:p>
          <a:p>
            <a:pPr>
              <a:buFont typeface="Wingdings" pitchFamily="2" charset="2"/>
              <a:buChar char="Ø"/>
            </a:pPr>
            <a:r>
              <a:rPr lang="vi-VN" sz="2400"/>
              <a:t>Người đứng tên nhãn hiệu</a:t>
            </a:r>
          </a:p>
          <a:p>
            <a:pPr>
              <a:buFont typeface="Wingdings" pitchFamily="2" charset="2"/>
              <a:buChar char="Ø"/>
            </a:pPr>
            <a:r>
              <a:rPr lang="vi-VN" sz="2400">
                <a:solidFill>
                  <a:srgbClr val="FF0000"/>
                </a:solidFill>
              </a:rPr>
              <a:t>Tên nhãn hiệu</a:t>
            </a:r>
          </a:p>
          <a:p>
            <a:pPr>
              <a:buFont typeface="Wingdings" pitchFamily="2" charset="2"/>
              <a:buChar char="Ø"/>
            </a:pPr>
            <a:r>
              <a:rPr lang="vi-VN" sz="2400"/>
              <a:t>Định vị lại nhãn hiệu</a:t>
            </a:r>
            <a:endParaRPr lang="en-US" sz="2400"/>
          </a:p>
        </p:txBody>
      </p:sp>
      <p:cxnSp>
        <p:nvCxnSpPr>
          <p:cNvPr id="7" name="Straight Connector 6"/>
          <p:cNvCxnSpPr>
            <a:stCxn id="3" idx="0"/>
            <a:endCxn id="3" idx="2"/>
          </p:cNvCxnSpPr>
          <p:nvPr/>
        </p:nvCxnSpPr>
        <p:spPr>
          <a:xfrm rot="16200000" flipH="1">
            <a:off x="2309018" y="3863181"/>
            <a:ext cx="4525963" cy="158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4953000" y="1676400"/>
            <a:ext cx="3505200" cy="4154984"/>
          </a:xfrm>
          <a:prstGeom prst="rect">
            <a:avLst/>
          </a:prstGeom>
        </p:spPr>
        <p:txBody>
          <a:bodyPr wrap="square">
            <a:spAutoFit/>
          </a:bodyPr>
          <a:lstStyle/>
          <a:p>
            <a:r>
              <a:rPr lang="vi-VN" sz="2400" dirty="0">
                <a:highlight>
                  <a:srgbClr val="FFFF00"/>
                </a:highlight>
              </a:rPr>
              <a:t>Nhãn hiệu mạnh:</a:t>
            </a:r>
          </a:p>
          <a:p>
            <a:pPr>
              <a:buFont typeface="Wingdings" pitchFamily="2" charset="2"/>
              <a:buChar char="ü"/>
            </a:pPr>
            <a:r>
              <a:rPr lang="vi-VN" sz="2400" dirty="0"/>
              <a:t>Gợi lên những  lợi ích</a:t>
            </a:r>
          </a:p>
          <a:p>
            <a:pPr>
              <a:buFont typeface="Wingdings" pitchFamily="2" charset="2"/>
              <a:buChar char="ü"/>
            </a:pPr>
            <a:r>
              <a:rPr lang="vi-VN" sz="2400" dirty="0"/>
              <a:t>Gợi lên chất lượng của sản phẩm</a:t>
            </a:r>
          </a:p>
          <a:p>
            <a:pPr>
              <a:buFont typeface="Wingdings" pitchFamily="2" charset="2"/>
              <a:buChar char="ü"/>
            </a:pPr>
            <a:r>
              <a:rPr lang="vi-VN" sz="2400" dirty="0"/>
              <a:t>Dễ phát âm, nhận biết</a:t>
            </a:r>
          </a:p>
          <a:p>
            <a:r>
              <a:rPr lang="en-US" sz="2400" dirty="0"/>
              <a:t>    </a:t>
            </a:r>
            <a:r>
              <a:rPr lang="vi-VN" sz="2400" dirty="0"/>
              <a:t>và nhớ</a:t>
            </a:r>
          </a:p>
          <a:p>
            <a:pPr>
              <a:buFont typeface="Wingdings" pitchFamily="2" charset="2"/>
              <a:buChar char="ü"/>
            </a:pPr>
            <a:r>
              <a:rPr lang="vi-VN" sz="2400" dirty="0"/>
              <a:t>Khác biệt</a:t>
            </a:r>
          </a:p>
          <a:p>
            <a:pPr>
              <a:buFont typeface="Wingdings" pitchFamily="2" charset="2"/>
              <a:buChar char="ü"/>
            </a:pPr>
            <a:r>
              <a:rPr lang="vi-VN" sz="2400" dirty="0"/>
              <a:t>Không gợi lên ý nghĩa </a:t>
            </a:r>
          </a:p>
          <a:p>
            <a:r>
              <a:rPr lang="en-US" sz="2400" dirty="0"/>
              <a:t>    </a:t>
            </a:r>
            <a:r>
              <a:rPr lang="vi-VN" sz="2400" dirty="0"/>
              <a:t>nghèo nàn hoặc xấu </a:t>
            </a:r>
            <a:r>
              <a:rPr lang="en-US" sz="2400" dirty="0"/>
              <a:t> </a:t>
            </a:r>
            <a:r>
              <a:rPr lang="vi-VN" sz="2400" dirty="0"/>
              <a:t>trong những ngôn ngữ khác</a:t>
            </a:r>
            <a:endParaRPr lang="en-US" sz="2400" dirty="0"/>
          </a:p>
        </p:txBody>
      </p:sp>
      <p:sp>
        <p:nvSpPr>
          <p:cNvPr id="9" name="Title 1"/>
          <p:cNvSpPr txBox="1">
            <a:spLocks/>
          </p:cNvSpPr>
          <p:nvPr/>
        </p:nvSpPr>
        <p:spPr>
          <a:xfrm>
            <a:off x="228600" y="0"/>
            <a:ext cx="8420064" cy="1296412"/>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err="1">
                <a:ln>
                  <a:noFill/>
                </a:ln>
                <a:solidFill>
                  <a:schemeClr val="lt1"/>
                </a:solidFill>
                <a:effectLst/>
                <a:uLnTx/>
                <a:uFillTx/>
                <a:latin typeface="+mn-lt"/>
                <a:ea typeface="+mn-ea"/>
                <a:cs typeface="+mn-cs"/>
              </a:rPr>
              <a:t>Các</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quyết</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định</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liên</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quan</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đến</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nhãn</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hiệu</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sản</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phẩm</a:t>
            </a: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cxnSp>
        <p:nvCxnSpPr>
          <p:cNvPr id="12" name="Straight Arrow Connector 11"/>
          <p:cNvCxnSpPr/>
          <p:nvPr/>
        </p:nvCxnSpPr>
        <p:spPr>
          <a:xfrm flipV="1">
            <a:off x="3200400" y="4038600"/>
            <a:ext cx="1524000" cy="304800"/>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graphicFrame>
        <p:nvGraphicFramePr>
          <p:cNvPr id="13" name="Object 4"/>
          <p:cNvGraphicFramePr>
            <a:graphicFrameLocks noChangeAspect="1"/>
          </p:cNvGraphicFramePr>
          <p:nvPr/>
        </p:nvGraphicFramePr>
        <p:xfrm>
          <a:off x="0" y="6248400"/>
          <a:ext cx="1822704" cy="609600"/>
        </p:xfrm>
        <a:graphic>
          <a:graphicData uri="http://schemas.openxmlformats.org/presentationml/2006/ole">
            <mc:AlternateContent xmlns:mc="http://schemas.openxmlformats.org/markup-compatibility/2006">
              <mc:Choice xmlns:v="urn:schemas-microsoft-com:vml" Requires="v">
                <p:oleObj name="Bitmap Image" r:id="rId2" imgW="3772427" imgH="743054" progId="PBrush">
                  <p:embed/>
                </p:oleObj>
              </mc:Choice>
              <mc:Fallback>
                <p:oleObj name="Bitmap Image" r:id="rId2" imgW="3772427" imgH="743054" progId="PBrush">
                  <p:embed/>
                  <p:pic>
                    <p:nvPicPr>
                      <p:cNvPr id="13"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8400"/>
                        <a:ext cx="1822704" cy="609600"/>
                      </a:xfrm>
                      <a:prstGeom prst="rect">
                        <a:avLst/>
                      </a:prstGeom>
                      <a:noFill/>
                      <a:ln w="9525">
                        <a:solidFill>
                          <a:srgbClr val="800000"/>
                        </a:solidFill>
                        <a:miter lim="800000"/>
                        <a:headEnd/>
                        <a:tailEnd/>
                      </a:ln>
                      <a:effectLst>
                        <a:outerShdw dist="71842" dir="2700000" algn="ctr" rotWithShape="0">
                          <a:srgbClr val="800000"/>
                        </a:outerShdw>
                      </a:effectLst>
                      <a:extLst>
                        <a:ext uri="{909E8E84-426E-40DD-AFC4-6F175D3DCCD1}">
                          <a14:hiddenFill xmlns:a14="http://schemas.microsoft.com/office/drawing/2010/main">
                            <a:solidFill>
                              <a:schemeClr val="accent1"/>
                            </a:solidFill>
                          </a14:hiddenFill>
                        </a:ext>
                      </a:extLst>
                    </p:spPr>
                  </p:pic>
                </p:oleObj>
              </mc:Fallback>
            </mc:AlternateContent>
          </a:graphicData>
        </a:graphic>
      </p:graphicFrame>
      <p:pic>
        <p:nvPicPr>
          <p:cNvPr id="14" name="Picture 7" descr="BMWlogo_B"/>
          <p:cNvPicPr>
            <a:picLocks noChangeAspect="1" noChangeArrowheads="1"/>
          </p:cNvPicPr>
          <p:nvPr/>
        </p:nvPicPr>
        <p:blipFill>
          <a:blip r:embed="rId4" cstate="print"/>
          <a:srcRect/>
          <a:stretch>
            <a:fillRect/>
          </a:stretch>
        </p:blipFill>
        <p:spPr bwMode="auto">
          <a:xfrm>
            <a:off x="8153400" y="5925671"/>
            <a:ext cx="990600" cy="932329"/>
          </a:xfrm>
          <a:prstGeom prst="rect">
            <a:avLst/>
          </a:prstGeom>
          <a:noFill/>
          <a:ln w="9525">
            <a:noFill/>
            <a:miter lim="800000"/>
            <a:headEnd/>
            <a:tailEnd/>
          </a:ln>
        </p:spPr>
      </p:pic>
    </p:spTree>
    <p:extLst>
      <p:ext uri="{BB962C8B-B14F-4D97-AF65-F5344CB8AC3E}">
        <p14:creationId xmlns:p14="http://schemas.microsoft.com/office/powerpoint/2010/main" val="42743167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endParaRPr lang="en-US"/>
          </a:p>
        </p:txBody>
      </p:sp>
      <p:sp>
        <p:nvSpPr>
          <p:cNvPr id="5" name="Rectangle 4"/>
          <p:cNvSpPr/>
          <p:nvPr/>
        </p:nvSpPr>
        <p:spPr>
          <a:xfrm>
            <a:off x="762000" y="2057400"/>
            <a:ext cx="3200400" cy="3046988"/>
          </a:xfrm>
          <a:prstGeom prst="rect">
            <a:avLst/>
          </a:prstGeom>
        </p:spPr>
        <p:txBody>
          <a:bodyPr wrap="square">
            <a:spAutoFit/>
          </a:bodyPr>
          <a:lstStyle/>
          <a:p>
            <a:r>
              <a:rPr lang="vi-VN" sz="2400" b="1" u="sng"/>
              <a:t>Các thách thức </a:t>
            </a:r>
          </a:p>
          <a:p>
            <a:r>
              <a:rPr lang="vi-VN" sz="2400" b="1" u="sng"/>
              <a:t>quan trọng</a:t>
            </a:r>
          </a:p>
          <a:p>
            <a:pPr>
              <a:buFont typeface="Wingdings" pitchFamily="2" charset="2"/>
              <a:buChar char="Ø"/>
            </a:pPr>
            <a:r>
              <a:rPr lang="vi-VN" sz="2400"/>
              <a:t>Đặt nhãn hiệu hay không</a:t>
            </a:r>
          </a:p>
          <a:p>
            <a:pPr>
              <a:buFont typeface="Wingdings" pitchFamily="2" charset="2"/>
              <a:buChar char="Ø"/>
            </a:pPr>
            <a:r>
              <a:rPr lang="vi-VN" sz="2400"/>
              <a:t>Người đứng tên nhãn hiệu</a:t>
            </a:r>
          </a:p>
          <a:p>
            <a:pPr>
              <a:buFont typeface="Wingdings" pitchFamily="2" charset="2"/>
              <a:buChar char="Ø"/>
            </a:pPr>
            <a:r>
              <a:rPr lang="vi-VN" sz="2400"/>
              <a:t>Tên nhãn hiệu</a:t>
            </a:r>
          </a:p>
          <a:p>
            <a:pPr>
              <a:buFont typeface="Wingdings" pitchFamily="2" charset="2"/>
              <a:buChar char="Ø"/>
            </a:pPr>
            <a:r>
              <a:rPr lang="vi-VN" sz="2400">
                <a:solidFill>
                  <a:srgbClr val="FF0000"/>
                </a:solidFill>
              </a:rPr>
              <a:t>Định vị lại nhãn hiệu</a:t>
            </a:r>
            <a:endParaRPr lang="en-US" sz="2400">
              <a:solidFill>
                <a:srgbClr val="FF0000"/>
              </a:solidFill>
            </a:endParaRPr>
          </a:p>
        </p:txBody>
      </p:sp>
      <p:cxnSp>
        <p:nvCxnSpPr>
          <p:cNvPr id="7" name="Straight Connector 6"/>
          <p:cNvCxnSpPr>
            <a:stCxn id="3" idx="0"/>
            <a:endCxn id="3" idx="2"/>
          </p:cNvCxnSpPr>
          <p:nvPr/>
        </p:nvCxnSpPr>
        <p:spPr>
          <a:xfrm rot="16200000" flipH="1">
            <a:off x="2309018" y="3863181"/>
            <a:ext cx="4525963" cy="158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4953000" y="3657600"/>
            <a:ext cx="3505200" cy="2123658"/>
          </a:xfrm>
          <a:prstGeom prst="rect">
            <a:avLst/>
          </a:prstGeom>
        </p:spPr>
        <p:txBody>
          <a:bodyPr wrap="square">
            <a:spAutoFit/>
          </a:bodyPr>
          <a:lstStyle/>
          <a:p>
            <a:pPr>
              <a:buFont typeface="Wingdings" pitchFamily="2" charset="2"/>
              <a:buChar char="ü"/>
            </a:pPr>
            <a:r>
              <a:rPr lang="vi-VN" sz="2200"/>
              <a:t>Những thay đổi về sở </a:t>
            </a:r>
          </a:p>
          <a:p>
            <a:r>
              <a:rPr lang="vi-VN" sz="2200"/>
              <a:t>thích hoặc sự có mặt </a:t>
            </a:r>
          </a:p>
          <a:p>
            <a:r>
              <a:rPr lang="vi-VN" sz="2200"/>
              <a:t>của những đối thủ cạnh </a:t>
            </a:r>
          </a:p>
          <a:p>
            <a:r>
              <a:rPr lang="vi-VN" sz="2200"/>
              <a:t>tranh mới có thể cho </a:t>
            </a:r>
          </a:p>
          <a:p>
            <a:r>
              <a:rPr lang="vi-VN" sz="2200"/>
              <a:t>biết nhu cầu đối với việc </a:t>
            </a:r>
          </a:p>
          <a:p>
            <a:r>
              <a:rPr lang="vi-VN" sz="2200"/>
              <a:t>định vị lại nhãn hiệu</a:t>
            </a:r>
            <a:endParaRPr lang="en-US" sz="2200"/>
          </a:p>
        </p:txBody>
      </p:sp>
      <p:sp>
        <p:nvSpPr>
          <p:cNvPr id="9" name="Title 1"/>
          <p:cNvSpPr txBox="1">
            <a:spLocks/>
          </p:cNvSpPr>
          <p:nvPr/>
        </p:nvSpPr>
        <p:spPr>
          <a:xfrm>
            <a:off x="228600" y="-1"/>
            <a:ext cx="8428009" cy="1197637"/>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err="1">
                <a:ln>
                  <a:noFill/>
                </a:ln>
                <a:solidFill>
                  <a:schemeClr val="lt1"/>
                </a:solidFill>
                <a:effectLst/>
                <a:uLnTx/>
                <a:uFillTx/>
                <a:latin typeface="+mn-lt"/>
                <a:ea typeface="+mn-ea"/>
                <a:cs typeface="+mn-cs"/>
              </a:rPr>
              <a:t>Các</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quyết</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định</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liên</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quan</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đến</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nhãn</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hiệu</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sản</a:t>
            </a:r>
            <a:r>
              <a:rPr kumimoji="0" lang="en-US" sz="2800" b="1" i="0" u="none" strike="noStrike" kern="1200" cap="none" spc="0" normalizeH="0" baseline="0" noProof="0" dirty="0">
                <a:ln>
                  <a:noFill/>
                </a:ln>
                <a:solidFill>
                  <a:schemeClr val="lt1"/>
                </a:solidFill>
                <a:effectLst/>
                <a:uLnTx/>
                <a:uFillTx/>
                <a:latin typeface="+mn-lt"/>
                <a:ea typeface="+mn-ea"/>
                <a:cs typeface="+mn-cs"/>
              </a:rPr>
              <a:t> </a:t>
            </a:r>
            <a:r>
              <a:rPr kumimoji="0" lang="en-US" sz="2800" b="1" i="0" u="none" strike="noStrike" kern="1200" cap="none" spc="0" normalizeH="0" baseline="0" noProof="0" dirty="0" err="1">
                <a:ln>
                  <a:noFill/>
                </a:ln>
                <a:solidFill>
                  <a:schemeClr val="lt1"/>
                </a:solidFill>
                <a:effectLst/>
                <a:uLnTx/>
                <a:uFillTx/>
                <a:latin typeface="+mn-lt"/>
                <a:ea typeface="+mn-ea"/>
                <a:cs typeface="+mn-cs"/>
              </a:rPr>
              <a:t>phẩm</a:t>
            </a:r>
            <a:endParaRPr kumimoji="0" lang="en-US" sz="2800" b="1" i="0" u="none" strike="noStrike" kern="1200" cap="none" spc="0" normalizeH="0" baseline="0" noProof="0" dirty="0">
              <a:ln>
                <a:noFill/>
              </a:ln>
              <a:solidFill>
                <a:schemeClr val="lt1"/>
              </a:solidFill>
              <a:effectLst/>
              <a:uLnTx/>
              <a:uFillTx/>
              <a:latin typeface="+mn-lt"/>
              <a:ea typeface="+mn-ea"/>
              <a:cs typeface="+mn-cs"/>
            </a:endParaRPr>
          </a:p>
        </p:txBody>
      </p:sp>
      <p:cxnSp>
        <p:nvCxnSpPr>
          <p:cNvPr id="12" name="Straight Arrow Connector 11"/>
          <p:cNvCxnSpPr/>
          <p:nvPr/>
        </p:nvCxnSpPr>
        <p:spPr>
          <a:xfrm>
            <a:off x="3352800" y="4953000"/>
            <a:ext cx="1676400" cy="228600"/>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graphicFrame>
        <p:nvGraphicFramePr>
          <p:cNvPr id="11" name="Object 4"/>
          <p:cNvGraphicFramePr>
            <a:graphicFrameLocks noChangeAspect="1"/>
          </p:cNvGraphicFramePr>
          <p:nvPr/>
        </p:nvGraphicFramePr>
        <p:xfrm>
          <a:off x="0" y="6248400"/>
          <a:ext cx="1822704" cy="609600"/>
        </p:xfrm>
        <a:graphic>
          <a:graphicData uri="http://schemas.openxmlformats.org/presentationml/2006/ole">
            <mc:AlternateContent xmlns:mc="http://schemas.openxmlformats.org/markup-compatibility/2006">
              <mc:Choice xmlns:v="urn:schemas-microsoft-com:vml" Requires="v">
                <p:oleObj name="Bitmap Image" r:id="rId2" imgW="3772427" imgH="743054" progId="PBrush">
                  <p:embed/>
                </p:oleObj>
              </mc:Choice>
              <mc:Fallback>
                <p:oleObj name="Bitmap Image" r:id="rId2" imgW="3772427" imgH="743054" progId="PBrush">
                  <p:embed/>
                  <p:pic>
                    <p:nvPicPr>
                      <p:cNvPr id="11"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8400"/>
                        <a:ext cx="1822704" cy="609600"/>
                      </a:xfrm>
                      <a:prstGeom prst="rect">
                        <a:avLst/>
                      </a:prstGeom>
                      <a:noFill/>
                      <a:ln w="9525">
                        <a:solidFill>
                          <a:srgbClr val="800000"/>
                        </a:solidFill>
                        <a:miter lim="800000"/>
                        <a:headEnd/>
                        <a:tailEnd/>
                      </a:ln>
                      <a:effectLst>
                        <a:outerShdw dist="71842" dir="2700000" algn="ctr" rotWithShape="0">
                          <a:srgbClr val="800000"/>
                        </a:outerShdw>
                      </a:effectLst>
                      <a:extLst>
                        <a:ext uri="{909E8E84-426E-40DD-AFC4-6F175D3DCCD1}">
                          <a14:hiddenFill xmlns:a14="http://schemas.microsoft.com/office/drawing/2010/main">
                            <a:solidFill>
                              <a:schemeClr val="accent1"/>
                            </a:solidFill>
                          </a14:hiddenFill>
                        </a:ext>
                      </a:extLst>
                    </p:spPr>
                  </p:pic>
                </p:oleObj>
              </mc:Fallback>
            </mc:AlternateContent>
          </a:graphicData>
        </a:graphic>
      </p:graphicFrame>
      <p:pic>
        <p:nvPicPr>
          <p:cNvPr id="13" name="Picture 7" descr="BMWlogo_B"/>
          <p:cNvPicPr>
            <a:picLocks noChangeAspect="1" noChangeArrowheads="1"/>
          </p:cNvPicPr>
          <p:nvPr/>
        </p:nvPicPr>
        <p:blipFill>
          <a:blip r:embed="rId4" cstate="print"/>
          <a:srcRect/>
          <a:stretch>
            <a:fillRect/>
          </a:stretch>
        </p:blipFill>
        <p:spPr bwMode="auto">
          <a:xfrm>
            <a:off x="8153400" y="5925671"/>
            <a:ext cx="990600" cy="932329"/>
          </a:xfrm>
          <a:prstGeom prst="rect">
            <a:avLst/>
          </a:prstGeom>
          <a:noFill/>
          <a:ln w="9525">
            <a:noFill/>
            <a:miter lim="800000"/>
            <a:headEnd/>
            <a:tailEnd/>
          </a:ln>
        </p:spPr>
      </p:pic>
    </p:spTree>
    <p:extLst>
      <p:ext uri="{BB962C8B-B14F-4D97-AF65-F5344CB8AC3E}">
        <p14:creationId xmlns:p14="http://schemas.microsoft.com/office/powerpoint/2010/main" val="21168082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F5B88-6F60-4069-ACC6-2726EA042D4D}"/>
              </a:ext>
            </a:extLst>
          </p:cNvPr>
          <p:cNvSpPr>
            <a:spLocks noGrp="1"/>
          </p:cNvSpPr>
          <p:nvPr>
            <p:ph type="title"/>
          </p:nvPr>
        </p:nvSpPr>
        <p:spPr>
          <a:xfrm>
            <a:off x="609599" y="228600"/>
            <a:ext cx="6477001" cy="990600"/>
          </a:xfrm>
        </p:spPr>
        <p:txBody>
          <a:bodyPr>
            <a:normAutofit/>
          </a:bodyPr>
          <a:lstStyle/>
          <a:p>
            <a:r>
              <a:rPr lang="en-US" sz="3200" b="1" dirty="0" err="1">
                <a:solidFill>
                  <a:srgbClr val="C00000"/>
                </a:solidFill>
                <a:latin typeface="Times New Roman" panose="02020603050405020304" pitchFamily="18" charset="0"/>
                <a:cs typeface="Times New Roman" panose="02020603050405020304" pitchFamily="18" charset="0"/>
              </a:rPr>
              <a:t>Phân</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biệt</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thương</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hiệu</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và</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nhãn</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hiệu</a:t>
            </a:r>
            <a:endParaRPr lang="en-US" sz="3200" b="1" dirty="0">
              <a:solidFill>
                <a:srgbClr val="C00000"/>
              </a:solidFill>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42947772-3F68-469E-818F-D9EB17964774}"/>
              </a:ext>
            </a:extLst>
          </p:cNvPr>
          <p:cNvSpPr>
            <a:spLocks noGrp="1"/>
          </p:cNvSpPr>
          <p:nvPr>
            <p:ph idx="1"/>
          </p:nvPr>
        </p:nvSpPr>
        <p:spPr>
          <a:xfrm>
            <a:off x="381000" y="1219200"/>
            <a:ext cx="6576313" cy="4822163"/>
          </a:xfrm>
        </p:spPr>
        <p:txBody>
          <a:bodyPr>
            <a:normAutofit lnSpcReduction="10000"/>
          </a:bodyPr>
          <a:lstStyle/>
          <a:p>
            <a:pPr algn="just"/>
            <a:r>
              <a:rPr lang="vi-VN" sz="2800" b="0" i="0" dirty="0">
                <a:solidFill>
                  <a:srgbClr val="0070C0"/>
                </a:solidFill>
                <a:effectLst/>
                <a:latin typeface="Times New Roman" panose="02020603050405020304" pitchFamily="18" charset="0"/>
                <a:cs typeface="Times New Roman" panose="02020603050405020304" pitchFamily="18" charset="0"/>
              </a:rPr>
              <a:t>Thương hiệu (brands) </a:t>
            </a:r>
            <a:r>
              <a:rPr lang="vi-VN" sz="2800" b="0" i="0" dirty="0">
                <a:solidFill>
                  <a:srgbClr val="333333"/>
                </a:solidFill>
                <a:effectLst/>
                <a:latin typeface="Times New Roman" panose="02020603050405020304" pitchFamily="18" charset="0"/>
                <a:cs typeface="Times New Roman" panose="02020603050405020304" pitchFamily="18" charset="0"/>
              </a:rPr>
              <a:t>theo định nghĩa của Tổ chức sở hữu trí tuệ thế giới (WIPO): là một dấu hiệu (hữu hình và vô hình) đặc biệt để nhận biết một sản phẩm hàng hoá hay một dịch vụ nào đó được sản xuất hay được cung cấp bởi một cá nhân hay một tổ chức.</a:t>
            </a:r>
          </a:p>
          <a:p>
            <a:pPr algn="just"/>
            <a:r>
              <a:rPr lang="vi-VN" sz="2800" b="0" i="0" dirty="0">
                <a:solidFill>
                  <a:srgbClr val="0070C0"/>
                </a:solidFill>
                <a:effectLst/>
                <a:latin typeface="Times New Roman" panose="02020603050405020304" pitchFamily="18" charset="0"/>
                <a:cs typeface="Times New Roman" panose="02020603050405020304" pitchFamily="18" charset="0"/>
              </a:rPr>
              <a:t>Nhãn hiệu (marks) </a:t>
            </a:r>
            <a:r>
              <a:rPr lang="vi-VN" sz="2800" b="0" i="0" dirty="0">
                <a:solidFill>
                  <a:srgbClr val="333333"/>
                </a:solidFill>
                <a:effectLst/>
                <a:latin typeface="Times New Roman" panose="02020603050405020304" pitchFamily="18" charset="0"/>
                <a:cs typeface="Times New Roman" panose="02020603050405020304" pitchFamily="18" charset="0"/>
              </a:rPr>
              <a:t>theo định nghĩa tại Khoản 16 Điều 4 Luật Sở hữu trí tuệ là dấu hiệu dùng để phân biệt hàng hoá, dịch vụ của các tổ chức, cá nhân khác nhau.</a:t>
            </a:r>
          </a:p>
          <a:p>
            <a:endParaRPr lang="en-US" dirty="0"/>
          </a:p>
        </p:txBody>
      </p:sp>
    </p:spTree>
    <p:extLst>
      <p:ext uri="{BB962C8B-B14F-4D97-AF65-F5344CB8AC3E}">
        <p14:creationId xmlns:p14="http://schemas.microsoft.com/office/powerpoint/2010/main" val="2128944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F5B88-6F60-4069-ACC6-2726EA042D4D}"/>
              </a:ext>
            </a:extLst>
          </p:cNvPr>
          <p:cNvSpPr>
            <a:spLocks noGrp="1"/>
          </p:cNvSpPr>
          <p:nvPr>
            <p:ph type="title"/>
          </p:nvPr>
        </p:nvSpPr>
        <p:spPr>
          <a:xfrm>
            <a:off x="609599" y="228600"/>
            <a:ext cx="6477001" cy="990600"/>
          </a:xfrm>
        </p:spPr>
        <p:txBody>
          <a:bodyPr>
            <a:normAutofit fontScale="90000"/>
          </a:bodyPr>
          <a:lstStyle/>
          <a:p>
            <a:r>
              <a:rPr lang="en-US" b="1" dirty="0" err="1">
                <a:solidFill>
                  <a:srgbClr val="C00000"/>
                </a:solidFill>
                <a:latin typeface="Times New Roman" panose="02020603050405020304" pitchFamily="18" charset="0"/>
                <a:cs typeface="Times New Roman" panose="02020603050405020304" pitchFamily="18" charset="0"/>
              </a:rPr>
              <a:t>Phân</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biệt</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thương</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hiệu</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và</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nhãn</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hiệu</a:t>
            </a:r>
            <a:endParaRPr lang="en-US" b="1" dirty="0">
              <a:solidFill>
                <a:srgbClr val="C00000"/>
              </a:solidFill>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B340A6DD-5E12-4004-ABE3-F1C32CE7B155}"/>
              </a:ext>
            </a:extLst>
          </p:cNvPr>
          <p:cNvGraphicFramePr>
            <a:graphicFrameLocks noGrp="1"/>
          </p:cNvGraphicFramePr>
          <p:nvPr>
            <p:ph idx="1"/>
          </p:nvPr>
        </p:nvGraphicFramePr>
        <p:xfrm>
          <a:off x="762000" y="1219200"/>
          <a:ext cx="6400799" cy="5543649"/>
        </p:xfrm>
        <a:graphic>
          <a:graphicData uri="http://schemas.openxmlformats.org/drawingml/2006/table">
            <a:tbl>
              <a:tblPr/>
              <a:tblGrid>
                <a:gridCol w="1272019">
                  <a:extLst>
                    <a:ext uri="{9D8B030D-6E8A-4147-A177-3AD203B41FA5}">
                      <a16:colId xmlns:a16="http://schemas.microsoft.com/office/drawing/2014/main" val="4274203462"/>
                    </a:ext>
                  </a:extLst>
                </a:gridCol>
                <a:gridCol w="2564390">
                  <a:extLst>
                    <a:ext uri="{9D8B030D-6E8A-4147-A177-3AD203B41FA5}">
                      <a16:colId xmlns:a16="http://schemas.microsoft.com/office/drawing/2014/main" val="428014288"/>
                    </a:ext>
                  </a:extLst>
                </a:gridCol>
                <a:gridCol w="2564390">
                  <a:extLst>
                    <a:ext uri="{9D8B030D-6E8A-4147-A177-3AD203B41FA5}">
                      <a16:colId xmlns:a16="http://schemas.microsoft.com/office/drawing/2014/main" val="1469922240"/>
                    </a:ext>
                  </a:extLst>
                </a:gridCol>
              </a:tblGrid>
              <a:tr h="515072">
                <a:tc>
                  <a:txBody>
                    <a:bodyPr/>
                    <a:lstStyle/>
                    <a:p>
                      <a:pPr algn="ctr"/>
                      <a:r>
                        <a:rPr lang="en-US" sz="2400" b="1" dirty="0" err="1">
                          <a:solidFill>
                            <a:srgbClr val="0070C0"/>
                          </a:solidFill>
                          <a:effectLst/>
                          <a:latin typeface="Times New Roman" panose="02020603050405020304" pitchFamily="18" charset="0"/>
                          <a:cs typeface="Times New Roman" panose="02020603050405020304" pitchFamily="18" charset="0"/>
                        </a:rPr>
                        <a:t>Tiêu</a:t>
                      </a:r>
                      <a:r>
                        <a:rPr lang="en-US" sz="2400" b="1" dirty="0">
                          <a:solidFill>
                            <a:srgbClr val="0070C0"/>
                          </a:solidFill>
                          <a:effectLst/>
                          <a:latin typeface="Times New Roman" panose="02020603050405020304" pitchFamily="18" charset="0"/>
                          <a:cs typeface="Times New Roman" panose="02020603050405020304" pitchFamily="18" charset="0"/>
                        </a:rPr>
                        <a:t> </a:t>
                      </a:r>
                      <a:r>
                        <a:rPr lang="en-US" sz="2400" b="1" dirty="0" err="1">
                          <a:solidFill>
                            <a:srgbClr val="0070C0"/>
                          </a:solidFill>
                          <a:effectLst/>
                          <a:latin typeface="Times New Roman" panose="02020603050405020304" pitchFamily="18" charset="0"/>
                          <a:cs typeface="Times New Roman" panose="02020603050405020304" pitchFamily="18" charset="0"/>
                        </a:rPr>
                        <a:t>chí</a:t>
                      </a:r>
                      <a:endParaRPr lang="en-US" sz="2400" b="1" dirty="0">
                        <a:solidFill>
                          <a:srgbClr val="0070C0"/>
                        </a:solidFill>
                        <a:effectLst/>
                        <a:latin typeface="Times New Roman" panose="02020603050405020304" pitchFamily="18" charset="0"/>
                        <a:cs typeface="Times New Roman" panose="02020603050405020304" pitchFamily="18" charset="0"/>
                      </a:endParaRPr>
                    </a:p>
                  </a:txBody>
                  <a:tcPr marL="60496" marR="60496" marT="60496" marB="60496" anchor="ct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chemeClr val="accent1">
                        <a:lumMod val="60000"/>
                        <a:lumOff val="40000"/>
                      </a:schemeClr>
                    </a:solidFill>
                  </a:tcPr>
                </a:tc>
                <a:tc>
                  <a:txBody>
                    <a:bodyPr/>
                    <a:lstStyle/>
                    <a:p>
                      <a:pPr algn="ctr"/>
                      <a:r>
                        <a:rPr lang="vi-VN" sz="2400" b="1" dirty="0">
                          <a:solidFill>
                            <a:srgbClr val="0070C0"/>
                          </a:solidFill>
                          <a:effectLst/>
                          <a:latin typeface="Times New Roman" panose="02020603050405020304" pitchFamily="18" charset="0"/>
                          <a:cs typeface="Times New Roman" panose="02020603050405020304" pitchFamily="18" charset="0"/>
                        </a:rPr>
                        <a:t>Thương hiệu</a:t>
                      </a:r>
                    </a:p>
                  </a:txBody>
                  <a:tcPr marL="60496" marR="60496" marT="60496" marB="60496" anchor="ct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chemeClr val="accent1">
                        <a:lumMod val="60000"/>
                        <a:lumOff val="40000"/>
                      </a:schemeClr>
                    </a:solidFill>
                  </a:tcPr>
                </a:tc>
                <a:tc>
                  <a:txBody>
                    <a:bodyPr/>
                    <a:lstStyle/>
                    <a:p>
                      <a:pPr algn="ctr"/>
                      <a:r>
                        <a:rPr lang="en-US" sz="2400" b="1" dirty="0" err="1">
                          <a:solidFill>
                            <a:srgbClr val="0070C0"/>
                          </a:solidFill>
                          <a:effectLst/>
                          <a:latin typeface="Times New Roman" panose="02020603050405020304" pitchFamily="18" charset="0"/>
                          <a:cs typeface="Times New Roman" panose="02020603050405020304" pitchFamily="18" charset="0"/>
                        </a:rPr>
                        <a:t>Nhãn</a:t>
                      </a:r>
                      <a:r>
                        <a:rPr lang="en-US" sz="2400" b="1" dirty="0">
                          <a:solidFill>
                            <a:srgbClr val="0070C0"/>
                          </a:solidFill>
                          <a:effectLst/>
                          <a:latin typeface="Times New Roman" panose="02020603050405020304" pitchFamily="18" charset="0"/>
                          <a:cs typeface="Times New Roman" panose="02020603050405020304" pitchFamily="18" charset="0"/>
                        </a:rPr>
                        <a:t> </a:t>
                      </a:r>
                      <a:r>
                        <a:rPr lang="en-US" sz="2400" b="1" dirty="0" err="1">
                          <a:solidFill>
                            <a:srgbClr val="0070C0"/>
                          </a:solidFill>
                          <a:effectLst/>
                          <a:latin typeface="Times New Roman" panose="02020603050405020304" pitchFamily="18" charset="0"/>
                          <a:cs typeface="Times New Roman" panose="02020603050405020304" pitchFamily="18" charset="0"/>
                        </a:rPr>
                        <a:t>hiệu</a:t>
                      </a:r>
                      <a:endParaRPr lang="en-US" sz="2400" b="1" dirty="0">
                        <a:solidFill>
                          <a:srgbClr val="0070C0"/>
                        </a:solidFill>
                        <a:effectLst/>
                        <a:latin typeface="Times New Roman" panose="02020603050405020304" pitchFamily="18" charset="0"/>
                        <a:cs typeface="Times New Roman" panose="02020603050405020304" pitchFamily="18" charset="0"/>
                      </a:endParaRPr>
                    </a:p>
                  </a:txBody>
                  <a:tcPr marL="60496" marR="60496" marT="60496" marB="60496" anchor="ct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284287432"/>
                  </a:ext>
                </a:extLst>
              </a:tr>
              <a:tr h="2063233">
                <a:tc>
                  <a:txBody>
                    <a:bodyPr/>
                    <a:lstStyle/>
                    <a:p>
                      <a:r>
                        <a:rPr lang="en-US" sz="2400" dirty="0" err="1">
                          <a:effectLst/>
                          <a:latin typeface="Times New Roman" panose="02020603050405020304" pitchFamily="18" charset="0"/>
                          <a:cs typeface="Times New Roman" panose="02020603050405020304" pitchFamily="18" charset="0"/>
                        </a:rPr>
                        <a:t>Về</a:t>
                      </a:r>
                      <a:r>
                        <a:rPr lang="en-US" sz="2400" dirty="0">
                          <a:effectLst/>
                          <a:latin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cs typeface="Times New Roman" panose="02020603050405020304" pitchFamily="18" charset="0"/>
                        </a:rPr>
                        <a:t>mặt</a:t>
                      </a:r>
                      <a:r>
                        <a:rPr lang="en-US" sz="2400" dirty="0">
                          <a:effectLst/>
                          <a:latin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cs typeface="Times New Roman" panose="02020603050405020304" pitchFamily="18" charset="0"/>
                        </a:rPr>
                        <a:t>pháp</a:t>
                      </a:r>
                      <a:r>
                        <a:rPr lang="en-US" sz="2400" dirty="0">
                          <a:effectLst/>
                          <a:latin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cs typeface="Times New Roman" panose="02020603050405020304" pitchFamily="18" charset="0"/>
                        </a:rPr>
                        <a:t>lý</a:t>
                      </a:r>
                      <a:endParaRPr lang="en-US" sz="2400" dirty="0">
                        <a:effectLst/>
                        <a:latin typeface="Times New Roman" panose="02020603050405020304" pitchFamily="18" charset="0"/>
                        <a:cs typeface="Times New Roman" panose="02020603050405020304" pitchFamily="18" charset="0"/>
                      </a:endParaRPr>
                    </a:p>
                  </a:txBody>
                  <a:tcPr marL="60496" marR="60496" marT="60496" marB="60496" anchor="ct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r>
                        <a:rPr lang="vi-VN" sz="2400" dirty="0">
                          <a:effectLst/>
                          <a:latin typeface="Times New Roman" panose="02020603050405020304" pitchFamily="18" charset="0"/>
                          <a:cs typeface="Times New Roman" panose="02020603050405020304" pitchFamily="18" charset="0"/>
                        </a:rPr>
                        <a:t>Thương hiệu không là đối tượng được bảo hộ quyền sở hữu trí tuệ tại Việt Nam</a:t>
                      </a:r>
                    </a:p>
                  </a:txBody>
                  <a:tcPr marL="60496" marR="60496" marT="60496" marB="60496" anchor="ct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r>
                        <a:rPr lang="vi-VN" sz="2400">
                          <a:effectLst/>
                          <a:latin typeface="Times New Roman" panose="02020603050405020304" pitchFamily="18" charset="0"/>
                          <a:cs typeface="Times New Roman" panose="02020603050405020304" pitchFamily="18" charset="0"/>
                        </a:rPr>
                        <a:t>Nhãn hiệu là đối tượng được bảo hộ quyền sở hữu trí tuệ tại Việt Nam</a:t>
                      </a:r>
                    </a:p>
                  </a:txBody>
                  <a:tcPr marL="60496" marR="60496" marT="60496" marB="60496" anchor="ct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3261930621"/>
                  </a:ext>
                </a:extLst>
              </a:tr>
              <a:tr h="1676192">
                <a:tc>
                  <a:txBody>
                    <a:bodyPr/>
                    <a:lstStyle/>
                    <a:p>
                      <a:r>
                        <a:rPr lang="en-US" sz="2400">
                          <a:effectLst/>
                          <a:latin typeface="Times New Roman" panose="02020603050405020304" pitchFamily="18" charset="0"/>
                          <a:cs typeface="Times New Roman" panose="02020603050405020304" pitchFamily="18" charset="0"/>
                        </a:rPr>
                        <a:t>Về khía cạnh vật chất</a:t>
                      </a:r>
                    </a:p>
                  </a:txBody>
                  <a:tcPr marL="60496" marR="60496" marT="60496" marB="60496" anchor="ct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r>
                        <a:rPr lang="vi-VN" sz="2400">
                          <a:effectLst/>
                          <a:latin typeface="Times New Roman" panose="02020603050405020304" pitchFamily="18" charset="0"/>
                          <a:cs typeface="Times New Roman" panose="02020603050405020304" pitchFamily="18" charset="0"/>
                        </a:rPr>
                        <a:t>Tồn tại trong tâm trí người tiêu dùng</a:t>
                      </a:r>
                    </a:p>
                  </a:txBody>
                  <a:tcPr marL="60496" marR="60496" marT="60496" marB="60496" anchor="ct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r>
                        <a:rPr lang="vi-VN" sz="2400" dirty="0">
                          <a:effectLst/>
                          <a:latin typeface="Times New Roman" panose="02020603050405020304" pitchFamily="18" charset="0"/>
                          <a:cs typeface="Times New Roman" panose="02020603050405020304" pitchFamily="18" charset="0"/>
                        </a:rPr>
                        <a:t>Người tiêu dùng nhận diện qua hình ảnh, từ ngữ, biểu tượng,…</a:t>
                      </a:r>
                    </a:p>
                  </a:txBody>
                  <a:tcPr marL="60496" marR="60496" marT="60496" marB="60496" anchor="ct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2623456828"/>
                  </a:ext>
                </a:extLst>
              </a:tr>
              <a:tr h="1289152">
                <a:tc>
                  <a:txBody>
                    <a:bodyPr/>
                    <a:lstStyle/>
                    <a:p>
                      <a:r>
                        <a:rPr lang="en-US" sz="2400">
                          <a:effectLst/>
                          <a:latin typeface="Times New Roman" panose="02020603050405020304" pitchFamily="18" charset="0"/>
                          <a:cs typeface="Times New Roman" panose="02020603050405020304" pitchFamily="18" charset="0"/>
                        </a:rPr>
                        <a:t>Về thời gian tồn tại</a:t>
                      </a:r>
                    </a:p>
                  </a:txBody>
                  <a:tcPr marL="60496" marR="60496" marT="60496" marB="60496" anchor="ct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r>
                        <a:rPr lang="en-US" sz="2400">
                          <a:effectLst/>
                          <a:latin typeface="Times New Roman" panose="02020603050405020304" pitchFamily="18" charset="0"/>
                          <a:cs typeface="Times New Roman" panose="02020603050405020304" pitchFamily="18" charset="0"/>
                        </a:rPr>
                        <a:t>Lâu dài</a:t>
                      </a:r>
                    </a:p>
                  </a:txBody>
                  <a:tcPr marL="60496" marR="60496" marT="60496" marB="60496" anchor="ct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r>
                        <a:rPr lang="en-US" sz="2400" dirty="0" err="1">
                          <a:effectLst/>
                          <a:latin typeface="Times New Roman" panose="02020603050405020304" pitchFamily="18" charset="0"/>
                          <a:cs typeface="Times New Roman" panose="02020603050405020304" pitchFamily="18" charset="0"/>
                        </a:rPr>
                        <a:t>Có</a:t>
                      </a:r>
                      <a:r>
                        <a:rPr lang="en-US" sz="2400" dirty="0">
                          <a:effectLst/>
                          <a:latin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cs typeface="Times New Roman" panose="02020603050405020304" pitchFamily="18" charset="0"/>
                        </a:rPr>
                        <a:t>thời</a:t>
                      </a:r>
                      <a:r>
                        <a:rPr lang="en-US" sz="2400" dirty="0">
                          <a:effectLst/>
                          <a:latin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cs typeface="Times New Roman" panose="02020603050405020304" pitchFamily="18" charset="0"/>
                        </a:rPr>
                        <a:t>hạn</a:t>
                      </a:r>
                      <a:endParaRPr lang="en-US" sz="2400" dirty="0">
                        <a:effectLst/>
                        <a:latin typeface="Times New Roman" panose="02020603050405020304" pitchFamily="18" charset="0"/>
                        <a:cs typeface="Times New Roman" panose="02020603050405020304" pitchFamily="18" charset="0"/>
                      </a:endParaRPr>
                    </a:p>
                  </a:txBody>
                  <a:tcPr marL="60496" marR="60496" marT="60496" marB="60496" anchor="ct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655870704"/>
                  </a:ext>
                </a:extLst>
              </a:tr>
            </a:tbl>
          </a:graphicData>
        </a:graphic>
      </p:graphicFrame>
    </p:spTree>
    <p:extLst>
      <p:ext uri="{BB962C8B-B14F-4D97-AF65-F5344CB8AC3E}">
        <p14:creationId xmlns:p14="http://schemas.microsoft.com/office/powerpoint/2010/main" val="1358606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nvPr>
        </p:nvGraphicFramePr>
        <p:xfrm>
          <a:off x="609600" y="1447802"/>
          <a:ext cx="8077199" cy="4495796"/>
        </p:xfrm>
        <a:graphic>
          <a:graphicData uri="http://schemas.openxmlformats.org/drawingml/2006/table">
            <a:tbl>
              <a:tblPr/>
              <a:tblGrid>
                <a:gridCol w="1664487">
                  <a:extLst>
                    <a:ext uri="{9D8B030D-6E8A-4147-A177-3AD203B41FA5}">
                      <a16:colId xmlns:a16="http://schemas.microsoft.com/office/drawing/2014/main" val="20000"/>
                    </a:ext>
                  </a:extLst>
                </a:gridCol>
                <a:gridCol w="3432462">
                  <a:extLst>
                    <a:ext uri="{9D8B030D-6E8A-4147-A177-3AD203B41FA5}">
                      <a16:colId xmlns:a16="http://schemas.microsoft.com/office/drawing/2014/main" val="20001"/>
                    </a:ext>
                  </a:extLst>
                </a:gridCol>
                <a:gridCol w="2980250">
                  <a:extLst>
                    <a:ext uri="{9D8B030D-6E8A-4147-A177-3AD203B41FA5}">
                      <a16:colId xmlns:a16="http://schemas.microsoft.com/office/drawing/2014/main" val="20002"/>
                    </a:ext>
                  </a:extLst>
                </a:gridCol>
              </a:tblGrid>
              <a:tr h="345830">
                <a:tc>
                  <a:txBody>
                    <a:bodyPr/>
                    <a:lstStyle/>
                    <a:p>
                      <a:pPr marL="0" marR="2540" algn="just">
                        <a:lnSpc>
                          <a:spcPct val="150000"/>
                        </a:lnSpc>
                        <a:spcBef>
                          <a:spcPts val="0"/>
                        </a:spcBef>
                        <a:spcAft>
                          <a:spcPts val="0"/>
                        </a:spcAft>
                      </a:pPr>
                      <a:r>
                        <a:rPr lang="en-US" sz="1200" b="1" dirty="0">
                          <a:latin typeface="Times New Roman"/>
                          <a:ea typeface="Calibri"/>
                          <a:cs typeface="Times New Roman"/>
                        </a:rPr>
                        <a:t>Đặc trưng</a:t>
                      </a:r>
                      <a:endParaRPr lang="en-US" sz="1200" dirty="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540" algn="just">
                        <a:lnSpc>
                          <a:spcPct val="150000"/>
                        </a:lnSpc>
                        <a:spcBef>
                          <a:spcPts val="0"/>
                        </a:spcBef>
                        <a:spcAft>
                          <a:spcPts val="0"/>
                        </a:spcAft>
                      </a:pPr>
                      <a:r>
                        <a:rPr lang="en-US" sz="1200" b="1">
                          <a:latin typeface="Times New Roman"/>
                          <a:ea typeface="Calibri"/>
                          <a:cs typeface="Times New Roman"/>
                        </a:rPr>
                        <a:t>Nhãn hiệu</a:t>
                      </a:r>
                      <a:endParaRPr lang="en-US" sz="12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540" algn="just">
                        <a:lnSpc>
                          <a:spcPct val="150000"/>
                        </a:lnSpc>
                        <a:spcBef>
                          <a:spcPts val="0"/>
                        </a:spcBef>
                        <a:spcAft>
                          <a:spcPts val="0"/>
                        </a:spcAft>
                      </a:pPr>
                      <a:r>
                        <a:rPr lang="en-US" sz="1200" b="1">
                          <a:latin typeface="Times New Roman"/>
                          <a:ea typeface="Calibri"/>
                          <a:cs typeface="Times New Roman"/>
                        </a:rPr>
                        <a:t>Thương hiệu</a:t>
                      </a:r>
                      <a:endParaRPr lang="en-US" sz="1200">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45830">
                <a:tc>
                  <a:txBody>
                    <a:bodyPr/>
                    <a:lstStyle/>
                    <a:p>
                      <a:pPr marL="0" marR="2540" algn="just">
                        <a:lnSpc>
                          <a:spcPct val="150000"/>
                        </a:lnSpc>
                        <a:spcBef>
                          <a:spcPts val="0"/>
                        </a:spcBef>
                        <a:spcAft>
                          <a:spcPts val="0"/>
                        </a:spcAft>
                      </a:pPr>
                      <a:r>
                        <a:rPr lang="en-US" sz="1200">
                          <a:latin typeface="Times New Roman"/>
                          <a:ea typeface="Calibri"/>
                          <a:cs typeface="Times New Roman"/>
                        </a:rPr>
                        <a:t>Thuật ngữ</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540" algn="just">
                        <a:lnSpc>
                          <a:spcPct val="150000"/>
                        </a:lnSpc>
                        <a:spcBef>
                          <a:spcPts val="0"/>
                        </a:spcBef>
                        <a:spcAft>
                          <a:spcPts val="0"/>
                        </a:spcAft>
                      </a:pPr>
                      <a:r>
                        <a:rPr lang="en-US" sz="1200" dirty="0">
                          <a:latin typeface="Times New Roman"/>
                          <a:ea typeface="Calibri"/>
                          <a:cs typeface="Times New Roman"/>
                        </a:rPr>
                        <a:t>Trademark</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540" algn="just">
                        <a:lnSpc>
                          <a:spcPct val="150000"/>
                        </a:lnSpc>
                        <a:spcBef>
                          <a:spcPts val="0"/>
                        </a:spcBef>
                        <a:spcAft>
                          <a:spcPts val="0"/>
                        </a:spcAft>
                      </a:pPr>
                      <a:r>
                        <a:rPr lang="en-US" sz="1200">
                          <a:latin typeface="Times New Roman"/>
                          <a:ea typeface="Calibri"/>
                          <a:cs typeface="Times New Roman"/>
                        </a:rPr>
                        <a:t>Brand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37493">
                <a:tc>
                  <a:txBody>
                    <a:bodyPr/>
                    <a:lstStyle/>
                    <a:p>
                      <a:pPr marL="0" marR="2540" algn="just">
                        <a:lnSpc>
                          <a:spcPct val="150000"/>
                        </a:lnSpc>
                        <a:spcBef>
                          <a:spcPts val="0"/>
                        </a:spcBef>
                        <a:spcAft>
                          <a:spcPts val="0"/>
                        </a:spcAft>
                      </a:pPr>
                      <a:r>
                        <a:rPr lang="en-US" sz="1200" dirty="0">
                          <a:latin typeface="Times New Roman"/>
                          <a:ea typeface="Calibri"/>
                          <a:cs typeface="Times New Roman"/>
                        </a:rPr>
                        <a:t>Tính hữu hình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540" algn="just">
                        <a:lnSpc>
                          <a:spcPct val="150000"/>
                        </a:lnSpc>
                        <a:spcBef>
                          <a:spcPts val="0"/>
                        </a:spcBef>
                        <a:spcAft>
                          <a:spcPts val="0"/>
                        </a:spcAft>
                      </a:pPr>
                      <a:r>
                        <a:rPr lang="en-US" sz="1200">
                          <a:latin typeface="Times New Roman"/>
                          <a:ea typeface="Calibri"/>
                          <a:cs typeface="Times New Roman"/>
                        </a:rPr>
                        <a:t>Nhìn thấy, sờ mó, nghe… -&gt; xác nhận bên ngoài</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540" algn="just">
                        <a:lnSpc>
                          <a:spcPct val="150000"/>
                        </a:lnSpc>
                        <a:spcBef>
                          <a:spcPts val="0"/>
                        </a:spcBef>
                        <a:spcAft>
                          <a:spcPts val="0"/>
                        </a:spcAft>
                      </a:pPr>
                      <a:r>
                        <a:rPr lang="en-US" sz="1200">
                          <a:latin typeface="Times New Roman"/>
                          <a:ea typeface="Calibri"/>
                          <a:cs typeface="Times New Roman"/>
                        </a:rPr>
                        <a:t>Bao gồm cả hữu hình và vô hình: cảm nhận, nhận thức, hình tượng…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91661">
                <a:tc>
                  <a:txBody>
                    <a:bodyPr/>
                    <a:lstStyle/>
                    <a:p>
                      <a:pPr marL="0" marR="2540" algn="just">
                        <a:lnSpc>
                          <a:spcPct val="150000"/>
                        </a:lnSpc>
                        <a:spcBef>
                          <a:spcPts val="0"/>
                        </a:spcBef>
                        <a:spcAft>
                          <a:spcPts val="0"/>
                        </a:spcAft>
                      </a:pPr>
                      <a:r>
                        <a:rPr lang="en-US" sz="1200">
                          <a:latin typeface="Times New Roman"/>
                          <a:ea typeface="Calibri"/>
                          <a:cs typeface="Times New Roman"/>
                        </a:rPr>
                        <a:t>Giá trị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540" algn="just">
                        <a:lnSpc>
                          <a:spcPct val="150000"/>
                        </a:lnSpc>
                        <a:spcBef>
                          <a:spcPts val="0"/>
                        </a:spcBef>
                        <a:spcAft>
                          <a:spcPts val="0"/>
                        </a:spcAft>
                      </a:pPr>
                      <a:r>
                        <a:rPr lang="en-US" sz="1200">
                          <a:latin typeface="Times New Roman"/>
                          <a:ea typeface="Calibri"/>
                          <a:cs typeface="Times New Roman"/>
                        </a:rPr>
                        <a:t>Được thể hiện qua sổ sách kế toán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540" algn="just">
                        <a:lnSpc>
                          <a:spcPct val="150000"/>
                        </a:lnSpc>
                        <a:spcBef>
                          <a:spcPts val="0"/>
                        </a:spcBef>
                        <a:spcAft>
                          <a:spcPts val="0"/>
                        </a:spcAft>
                      </a:pPr>
                      <a:r>
                        <a:rPr lang="en-US" sz="1200">
                          <a:latin typeface="Times New Roman"/>
                          <a:ea typeface="Calibri"/>
                          <a:cs typeface="Times New Roman"/>
                        </a:rPr>
                        <a:t>Không được thể hiện qua sổ sách kế toán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45830">
                <a:tc>
                  <a:txBody>
                    <a:bodyPr/>
                    <a:lstStyle/>
                    <a:p>
                      <a:pPr marL="0" marR="2540" algn="just">
                        <a:lnSpc>
                          <a:spcPct val="150000"/>
                        </a:lnSpc>
                        <a:spcBef>
                          <a:spcPts val="0"/>
                        </a:spcBef>
                        <a:spcAft>
                          <a:spcPts val="0"/>
                        </a:spcAft>
                      </a:pPr>
                      <a:r>
                        <a:rPr lang="en-US" sz="1200">
                          <a:latin typeface="Times New Roman"/>
                          <a:ea typeface="Calibri"/>
                          <a:cs typeface="Times New Roman"/>
                        </a:rPr>
                        <a:t>Tiếp cận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540" algn="just">
                        <a:lnSpc>
                          <a:spcPct val="150000"/>
                        </a:lnSpc>
                        <a:spcBef>
                          <a:spcPts val="0"/>
                        </a:spcBef>
                        <a:spcAft>
                          <a:spcPts val="0"/>
                        </a:spcAft>
                      </a:pPr>
                      <a:r>
                        <a:rPr lang="en-US" sz="1200" dirty="0" err="1">
                          <a:latin typeface="Times New Roman"/>
                          <a:ea typeface="Calibri"/>
                          <a:cs typeface="Times New Roman"/>
                        </a:rPr>
                        <a:t>Dưới</a:t>
                      </a:r>
                      <a:r>
                        <a:rPr lang="en-US" sz="1200" dirty="0">
                          <a:latin typeface="Times New Roman"/>
                          <a:ea typeface="Calibri"/>
                          <a:cs typeface="Times New Roman"/>
                        </a:rPr>
                        <a:t> </a:t>
                      </a:r>
                      <a:r>
                        <a:rPr lang="en-US" sz="1200" dirty="0" err="1">
                          <a:latin typeface="Times New Roman"/>
                          <a:ea typeface="Calibri"/>
                          <a:cs typeface="Times New Roman"/>
                        </a:rPr>
                        <a:t>góc</a:t>
                      </a:r>
                      <a:r>
                        <a:rPr lang="en-US" sz="1200" dirty="0">
                          <a:latin typeface="Times New Roman"/>
                          <a:ea typeface="Calibri"/>
                          <a:cs typeface="Times New Roman"/>
                        </a:rPr>
                        <a:t> </a:t>
                      </a:r>
                      <a:r>
                        <a:rPr lang="en-US" sz="1200" dirty="0" err="1">
                          <a:latin typeface="Times New Roman"/>
                          <a:ea typeface="Calibri"/>
                          <a:cs typeface="Times New Roman"/>
                        </a:rPr>
                        <a:t>độ</a:t>
                      </a:r>
                      <a:r>
                        <a:rPr lang="en-US" sz="1200" dirty="0">
                          <a:latin typeface="Times New Roman"/>
                          <a:ea typeface="Calibri"/>
                          <a:cs typeface="Times New Roman"/>
                        </a:rPr>
                        <a:t> </a:t>
                      </a:r>
                      <a:r>
                        <a:rPr lang="en-US" sz="1200" dirty="0" err="1">
                          <a:latin typeface="Times New Roman"/>
                          <a:ea typeface="Calibri"/>
                          <a:cs typeface="Times New Roman"/>
                        </a:rPr>
                        <a:t>luật</a:t>
                      </a:r>
                      <a:r>
                        <a:rPr lang="en-US" sz="1200" dirty="0">
                          <a:latin typeface="Times New Roman"/>
                          <a:ea typeface="Calibri"/>
                          <a:cs typeface="Times New Roman"/>
                        </a:rPr>
                        <a:t> </a:t>
                      </a:r>
                      <a:r>
                        <a:rPr lang="en-US" sz="1200" dirty="0" err="1">
                          <a:latin typeface="Times New Roman"/>
                          <a:ea typeface="Calibri"/>
                          <a:cs typeface="Times New Roman"/>
                        </a:rPr>
                        <a:t>pháp</a:t>
                      </a:r>
                      <a:r>
                        <a:rPr lang="en-US" sz="1200" dirty="0">
                          <a:latin typeface="Times New Roman"/>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540" algn="just">
                        <a:lnSpc>
                          <a:spcPct val="150000"/>
                        </a:lnSpc>
                        <a:spcBef>
                          <a:spcPts val="0"/>
                        </a:spcBef>
                        <a:spcAft>
                          <a:spcPts val="0"/>
                        </a:spcAft>
                      </a:pPr>
                      <a:r>
                        <a:rPr lang="en-US" sz="1200">
                          <a:latin typeface="Times New Roman"/>
                          <a:ea typeface="Calibri"/>
                          <a:cs typeface="Times New Roman"/>
                        </a:rPr>
                        <a:t>Dưới góc độ người sử dụng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91661">
                <a:tc>
                  <a:txBody>
                    <a:bodyPr/>
                    <a:lstStyle/>
                    <a:p>
                      <a:pPr marL="0" marR="2540" algn="just">
                        <a:lnSpc>
                          <a:spcPct val="150000"/>
                        </a:lnSpc>
                        <a:spcBef>
                          <a:spcPts val="0"/>
                        </a:spcBef>
                        <a:spcAft>
                          <a:spcPts val="0"/>
                        </a:spcAft>
                      </a:pPr>
                      <a:r>
                        <a:rPr lang="en-US" sz="1200">
                          <a:latin typeface="Times New Roman"/>
                          <a:ea typeface="Calibri"/>
                          <a:cs typeface="Times New Roman"/>
                        </a:rPr>
                        <a:t>Bảo hộ</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540" algn="just">
                        <a:lnSpc>
                          <a:spcPct val="150000"/>
                        </a:lnSpc>
                        <a:spcBef>
                          <a:spcPts val="0"/>
                        </a:spcBef>
                        <a:spcAft>
                          <a:spcPts val="0"/>
                        </a:spcAft>
                      </a:pPr>
                      <a:r>
                        <a:rPr lang="en-US" sz="1200">
                          <a:latin typeface="Times New Roman"/>
                          <a:ea typeface="Calibri"/>
                          <a:cs typeface="Times New Roman"/>
                        </a:rPr>
                        <a:t>Luật pháp thừa nhận và bảo hộ</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540" algn="just">
                        <a:lnSpc>
                          <a:spcPct val="150000"/>
                        </a:lnSpc>
                        <a:spcBef>
                          <a:spcPts val="0"/>
                        </a:spcBef>
                        <a:spcAft>
                          <a:spcPts val="0"/>
                        </a:spcAft>
                      </a:pPr>
                      <a:r>
                        <a:rPr lang="en-US" sz="1200">
                          <a:latin typeface="Times New Roman"/>
                          <a:ea typeface="Calibri"/>
                          <a:cs typeface="Times New Roman"/>
                        </a:rPr>
                        <a:t>Người tiêu dùng thừa nhận, tin cậy, và trung thành gắn bó</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45830">
                <a:tc>
                  <a:txBody>
                    <a:bodyPr/>
                    <a:lstStyle/>
                    <a:p>
                      <a:pPr marL="0" marR="2540" algn="just">
                        <a:lnSpc>
                          <a:spcPct val="150000"/>
                        </a:lnSpc>
                        <a:spcBef>
                          <a:spcPts val="0"/>
                        </a:spcBef>
                        <a:spcAft>
                          <a:spcPts val="0"/>
                        </a:spcAft>
                      </a:pPr>
                      <a:r>
                        <a:rPr lang="en-US" sz="1200">
                          <a:latin typeface="Times New Roman"/>
                          <a:ea typeface="Calibri"/>
                          <a:cs typeface="Times New Roman"/>
                        </a:rPr>
                        <a:t>Làm giả</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540" algn="just">
                        <a:lnSpc>
                          <a:spcPct val="150000"/>
                        </a:lnSpc>
                        <a:spcBef>
                          <a:spcPts val="0"/>
                        </a:spcBef>
                        <a:spcAft>
                          <a:spcPts val="0"/>
                        </a:spcAft>
                      </a:pPr>
                      <a:r>
                        <a:rPr lang="en-US" sz="1200">
                          <a:latin typeface="Times New Roman"/>
                          <a:ea typeface="Calibri"/>
                          <a:cs typeface="Times New Roman"/>
                        </a:rPr>
                        <a:t>Có hàng giả</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540" algn="just">
                        <a:lnSpc>
                          <a:spcPct val="150000"/>
                        </a:lnSpc>
                        <a:spcBef>
                          <a:spcPts val="0"/>
                        </a:spcBef>
                        <a:spcAft>
                          <a:spcPts val="0"/>
                        </a:spcAft>
                      </a:pPr>
                      <a:r>
                        <a:rPr lang="en-US" sz="1200">
                          <a:latin typeface="Times New Roman"/>
                          <a:ea typeface="Calibri"/>
                          <a:cs typeface="Times New Roman"/>
                        </a:rPr>
                        <a:t>Không có thương hiệu giả</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91661">
                <a:tc>
                  <a:txBody>
                    <a:bodyPr/>
                    <a:lstStyle/>
                    <a:p>
                      <a:pPr marL="0" marR="2540" algn="just">
                        <a:lnSpc>
                          <a:spcPct val="150000"/>
                        </a:lnSpc>
                        <a:spcBef>
                          <a:spcPts val="0"/>
                        </a:spcBef>
                        <a:spcAft>
                          <a:spcPts val="0"/>
                        </a:spcAft>
                      </a:pPr>
                      <a:r>
                        <a:rPr lang="en-US" sz="1200">
                          <a:latin typeface="Times New Roman"/>
                          <a:ea typeface="Calibri"/>
                          <a:cs typeface="Times New Roman"/>
                        </a:rPr>
                        <a:t>Phụ trách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540" algn="just">
                        <a:lnSpc>
                          <a:spcPct val="150000"/>
                        </a:lnSpc>
                        <a:spcBef>
                          <a:spcPts val="0"/>
                        </a:spcBef>
                        <a:spcAft>
                          <a:spcPts val="0"/>
                        </a:spcAft>
                      </a:pPr>
                      <a:r>
                        <a:rPr lang="en-US" sz="1200">
                          <a:latin typeface="Times New Roman"/>
                          <a:ea typeface="Calibri"/>
                          <a:cs typeface="Times New Roman"/>
                        </a:rPr>
                        <a:t>Luật sư, nhân viên pháp lý</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540" algn="just">
                        <a:lnSpc>
                          <a:spcPct val="150000"/>
                        </a:lnSpc>
                        <a:spcBef>
                          <a:spcPts val="0"/>
                        </a:spcBef>
                        <a:spcAft>
                          <a:spcPts val="0"/>
                        </a:spcAft>
                      </a:pPr>
                      <a:r>
                        <a:rPr lang="en-US" sz="1200" dirty="0">
                          <a:latin typeface="Times New Roman"/>
                          <a:ea typeface="Calibri"/>
                          <a:cs typeface="Times New Roman"/>
                        </a:rPr>
                        <a:t>Chuyên viên quản trị thương hiệu, chuyên viên marketing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Rectangle 1"/>
          <p:cNvSpPr>
            <a:spLocks noChangeArrowheads="1"/>
          </p:cNvSpPr>
          <p:nvPr/>
        </p:nvSpPr>
        <p:spPr bwMode="auto">
          <a:xfrm>
            <a:off x="228600" y="152400"/>
            <a:ext cx="7467600" cy="989974"/>
          </a:xfrm>
          <a:prstGeom prst="rect">
            <a:avLst/>
          </a:prstGeom>
          <a:ln>
            <a:headEnd/>
            <a:tailEnd/>
          </a:ln>
        </p:spPr>
        <p:style>
          <a:lnRef idx="3">
            <a:schemeClr val="lt1"/>
          </a:lnRef>
          <a:fillRef idx="1">
            <a:schemeClr val="accent3"/>
          </a:fillRef>
          <a:effectRef idx="1">
            <a:schemeClr val="accent3"/>
          </a:effectRef>
          <a:fontRef idx="minor">
            <a:schemeClr val="lt1"/>
          </a:fontRef>
        </p:style>
        <p:txBody>
          <a:bodyPr vert="horz" wrap="square" lIns="-228528" tIns="126960" rIns="-282486"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So </a:t>
            </a:r>
            <a:r>
              <a:rPr kumimoji="0" lang="en-US" sz="2800" b="1"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s</a:t>
            </a:r>
            <a:r>
              <a:rPr kumimoji="0" lang="en-US" sz="2800" b="1" i="0" u="none" strike="noStrike" cap="none" normalizeH="0" baseline="0" dirty="0" err="1">
                <a:ln>
                  <a:noFill/>
                </a:ln>
                <a:solidFill>
                  <a:schemeClr val="tx1"/>
                </a:solidFill>
                <a:effectLst/>
                <a:latin typeface="Cambria"/>
                <a:ea typeface="Times New Roman" pitchFamily="18" charset="0"/>
                <a:cs typeface="Times New Roman" pitchFamily="18" charset="0"/>
              </a:rPr>
              <a:t>á</a:t>
            </a:r>
            <a:r>
              <a:rPr kumimoji="0" lang="en-US" sz="2800" b="1"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nh</a:t>
            </a:r>
            <a:r>
              <a:rPr kumimoji="0" lang="en-US" sz="28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kumimoji="0" lang="en-US" sz="2800" b="1"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giữa</a:t>
            </a:r>
            <a:r>
              <a:rPr kumimoji="0" lang="en-US" sz="28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kumimoji="0" lang="en-US" sz="2800" b="1"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thương</a:t>
            </a:r>
            <a:r>
              <a:rPr kumimoji="0" lang="en-US" sz="28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kumimoji="0" lang="en-US" sz="2800" b="1"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hiệu</a:t>
            </a:r>
            <a:r>
              <a:rPr kumimoji="0" lang="en-US" sz="28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kumimoji="0" lang="en-US" sz="2800" b="1"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v</a:t>
            </a:r>
            <a:r>
              <a:rPr kumimoji="0" lang="en-US" sz="2800" b="1" i="0" u="none" strike="noStrike" cap="none" normalizeH="0" baseline="0" dirty="0" err="1">
                <a:ln>
                  <a:noFill/>
                </a:ln>
                <a:solidFill>
                  <a:schemeClr val="tx1"/>
                </a:solidFill>
                <a:effectLst/>
                <a:latin typeface="Cambria"/>
                <a:ea typeface="Times New Roman" pitchFamily="18" charset="0"/>
                <a:cs typeface="Times New Roman" pitchFamily="18" charset="0"/>
              </a:rPr>
              <a:t>à</a:t>
            </a:r>
            <a:r>
              <a:rPr kumimoji="0" lang="en-US" sz="28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kumimoji="0" lang="en-US" sz="2800" b="1"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nhãn</a:t>
            </a:r>
            <a:r>
              <a:rPr kumimoji="0" lang="en-US" sz="28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kumimoji="0" lang="en-US" sz="2800" b="1"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hiệu</a:t>
            </a:r>
            <a:endParaRPr kumimoji="0" lang="en-US" sz="2800" b="1" i="0" u="none" strike="noStrike" cap="none" normalizeH="0" baseline="0" dirty="0">
              <a:ln>
                <a:noFill/>
              </a:ln>
              <a:solidFill>
                <a:srgbClr val="4F81BD"/>
              </a:solidFill>
              <a:effectLst/>
              <a:latin typeface="Cambria" pitchFamily="18" charset="0"/>
              <a:ea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chemeClr val="tx1"/>
              </a:solidFill>
              <a:effectLst/>
              <a:latin typeface="Arial" pitchFamily="34" charset="0"/>
              <a:cs typeface="Arial" pitchFamily="34" charset="0"/>
            </a:endParaRPr>
          </a:p>
        </p:txBody>
      </p:sp>
      <p:sp>
        <p:nvSpPr>
          <p:cNvPr id="6" name="Rectangle 5"/>
          <p:cNvSpPr/>
          <p:nvPr/>
        </p:nvSpPr>
        <p:spPr>
          <a:xfrm>
            <a:off x="533400" y="5921514"/>
            <a:ext cx="8229600" cy="707886"/>
          </a:xfrm>
          <a:prstGeom prst="rect">
            <a:avLst/>
          </a:prstGeom>
        </p:spPr>
        <p:txBody>
          <a:bodyPr wrap="square">
            <a:spAutoFit/>
          </a:bodyPr>
          <a:lstStyle/>
          <a:p>
            <a:r>
              <a:rPr lang="en-US" sz="2000" b="1" i="1" dirty="0">
                <a:solidFill>
                  <a:srgbClr val="FF0000"/>
                </a:solidFill>
                <a:latin typeface="Times New Roman" pitchFamily="18" charset="0"/>
                <a:cs typeface="Times New Roman" pitchFamily="18" charset="0"/>
              </a:rPr>
              <a:t>“...chỉ khi có nhiều thực khách có cảm giác gần gũi, thân quen với cái tên của một quán phở nào đó thì coi như quán phở đó đã có thương hiệu”</a:t>
            </a:r>
          </a:p>
        </p:txBody>
      </p:sp>
    </p:spTree>
    <p:extLst>
      <p:ext uri="{BB962C8B-B14F-4D97-AF65-F5344CB8AC3E}">
        <p14:creationId xmlns:p14="http://schemas.microsoft.com/office/powerpoint/2010/main" val="18571928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E77C2-036E-413D-9330-52397E101BD4}"/>
              </a:ext>
            </a:extLst>
          </p:cNvPr>
          <p:cNvSpPr>
            <a:spLocks noGrp="1"/>
          </p:cNvSpPr>
          <p:nvPr>
            <p:ph type="title"/>
          </p:nvPr>
        </p:nvSpPr>
        <p:spPr>
          <a:xfrm>
            <a:off x="609599" y="609600"/>
            <a:ext cx="7239001" cy="1295400"/>
          </a:xfrm>
        </p:spPr>
        <p:txBody>
          <a:bodyPr>
            <a:normAutofit/>
          </a:bodyPr>
          <a:lstStyle/>
          <a:p>
            <a:r>
              <a:rPr lang="en-US" b="1" dirty="0" err="1">
                <a:solidFill>
                  <a:srgbClr val="C00000"/>
                </a:solidFill>
                <a:latin typeface="Times New Roman" panose="02020603050405020304" pitchFamily="18" charset="0"/>
                <a:cs typeface="Times New Roman" panose="02020603050405020304" pitchFamily="18" charset="0"/>
              </a:rPr>
              <a:t>Quyết</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định</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về</a:t>
            </a:r>
            <a:r>
              <a:rPr lang="en-US" b="1" dirty="0">
                <a:solidFill>
                  <a:srgbClr val="C00000"/>
                </a:solidFill>
                <a:latin typeface="Times New Roman" panose="02020603050405020304" pitchFamily="18" charset="0"/>
                <a:cs typeface="Times New Roman" panose="02020603050405020304" pitchFamily="18" charset="0"/>
              </a:rPr>
              <a:t> bao </a:t>
            </a:r>
            <a:r>
              <a:rPr lang="en-US" b="1" dirty="0" err="1">
                <a:solidFill>
                  <a:srgbClr val="C00000"/>
                </a:solidFill>
                <a:latin typeface="Times New Roman" panose="02020603050405020304" pitchFamily="18" charset="0"/>
                <a:cs typeface="Times New Roman" panose="02020603050405020304" pitchFamily="18" charset="0"/>
              </a:rPr>
              <a:t>bì</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sản</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phẩm</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4DB90771-9D58-4B9F-9FDA-9DEAB3569497}"/>
              </a:ext>
            </a:extLst>
          </p:cNvPr>
          <p:cNvSpPr>
            <a:spLocks noGrp="1"/>
          </p:cNvSpPr>
          <p:nvPr>
            <p:ph idx="1"/>
          </p:nvPr>
        </p:nvSpPr>
        <p:spPr>
          <a:xfrm>
            <a:off x="609599" y="1371600"/>
            <a:ext cx="7162801" cy="5410200"/>
          </a:xfrm>
        </p:spPr>
        <p:txBody>
          <a:bodyPr>
            <a:noAutofit/>
          </a:bodyPr>
          <a:lstStyle/>
          <a:p>
            <a:pPr>
              <a:lnSpc>
                <a:spcPct val="150000"/>
              </a:lnSpc>
            </a:pPr>
            <a:r>
              <a:rPr lang="en-US" sz="3200" dirty="0">
                <a:solidFill>
                  <a:srgbClr val="0070C0"/>
                </a:solidFill>
                <a:latin typeface="Times New Roman" panose="02020603050405020304" pitchFamily="18" charset="0"/>
                <a:cs typeface="Times New Roman" panose="02020603050405020304" pitchFamily="18" charset="0"/>
              </a:rPr>
              <a:t>Bao </a:t>
            </a:r>
            <a:r>
              <a:rPr lang="en-US" sz="3200" dirty="0" err="1">
                <a:solidFill>
                  <a:srgbClr val="0070C0"/>
                </a:solidFill>
                <a:latin typeface="Times New Roman" panose="02020603050405020304" pitchFamily="18" charset="0"/>
                <a:cs typeface="Times New Roman" panose="02020603050405020304" pitchFamily="18" charset="0"/>
              </a:rPr>
              <a:t>bì</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tiếp</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xúc</a:t>
            </a:r>
            <a:r>
              <a:rPr lang="en-US" sz="3200" dirty="0">
                <a:solidFill>
                  <a:srgbClr val="0070C0"/>
                </a:solidFill>
                <a:latin typeface="Times New Roman" panose="02020603050405020304" pitchFamily="18" charset="0"/>
                <a:cs typeface="Times New Roman" panose="02020603050405020304" pitchFamily="18" charset="0"/>
              </a:rPr>
              <a:t>: bao </a:t>
            </a:r>
            <a:r>
              <a:rPr lang="en-US" sz="3200" dirty="0" err="1">
                <a:solidFill>
                  <a:srgbClr val="0070C0"/>
                </a:solidFill>
                <a:latin typeface="Times New Roman" panose="02020603050405020304" pitchFamily="18" charset="0"/>
                <a:cs typeface="Times New Roman" panose="02020603050405020304" pitchFamily="18" charset="0"/>
              </a:rPr>
              <a:t>bì</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trực</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tiếp</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chứa</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hoặc</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gói</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sản</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phẩm</a:t>
            </a:r>
            <a:endParaRPr lang="en-US" sz="3200" dirty="0">
              <a:solidFill>
                <a:srgbClr val="0070C0"/>
              </a:solidFill>
              <a:latin typeface="Times New Roman" panose="02020603050405020304" pitchFamily="18" charset="0"/>
              <a:cs typeface="Times New Roman" panose="02020603050405020304" pitchFamily="18" charset="0"/>
            </a:endParaRPr>
          </a:p>
          <a:p>
            <a:pPr>
              <a:lnSpc>
                <a:spcPct val="150000"/>
              </a:lnSpc>
            </a:pPr>
            <a:r>
              <a:rPr lang="en-US" sz="3200" dirty="0">
                <a:solidFill>
                  <a:srgbClr val="0070C0"/>
                </a:solidFill>
                <a:latin typeface="Times New Roman" panose="02020603050405020304" pitchFamily="18" charset="0"/>
                <a:cs typeface="Times New Roman" panose="02020603050405020304" pitchFamily="18" charset="0"/>
              </a:rPr>
              <a:t>Bao </a:t>
            </a:r>
            <a:r>
              <a:rPr lang="en-US" sz="3200" dirty="0" err="1">
                <a:solidFill>
                  <a:srgbClr val="0070C0"/>
                </a:solidFill>
                <a:latin typeface="Times New Roman" panose="02020603050405020304" pitchFamily="18" charset="0"/>
                <a:cs typeface="Times New Roman" panose="02020603050405020304" pitchFamily="18" charset="0"/>
              </a:rPr>
              <a:t>bì</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lớp</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ngoài</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lớp</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bảo</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vệ</a:t>
            </a:r>
            <a:r>
              <a:rPr lang="en-US" sz="3200" dirty="0">
                <a:solidFill>
                  <a:srgbClr val="0070C0"/>
                </a:solidFill>
                <a:latin typeface="Times New Roman" panose="02020603050405020304" pitchFamily="18" charset="0"/>
                <a:cs typeface="Times New Roman" panose="02020603050405020304" pitchFamily="18" charset="0"/>
              </a:rPr>
              <a:t> bao </a:t>
            </a:r>
            <a:r>
              <a:rPr lang="en-US" sz="3200" dirty="0" err="1">
                <a:solidFill>
                  <a:srgbClr val="0070C0"/>
                </a:solidFill>
                <a:latin typeface="Times New Roman" panose="02020603050405020304" pitchFamily="18" charset="0"/>
                <a:cs typeface="Times New Roman" panose="02020603050405020304" pitchFamily="18" charset="0"/>
              </a:rPr>
              <a:t>bì</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tiếp</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xúc</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đảm</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bảo</a:t>
            </a:r>
            <a:r>
              <a:rPr lang="en-US" sz="3200" dirty="0">
                <a:solidFill>
                  <a:srgbClr val="0070C0"/>
                </a:solidFill>
                <a:latin typeface="Times New Roman" panose="02020603050405020304" pitchFamily="18" charset="0"/>
                <a:cs typeface="Times New Roman" panose="02020603050405020304" pitchFamily="18" charset="0"/>
              </a:rPr>
              <a:t> an </a:t>
            </a:r>
            <a:r>
              <a:rPr lang="en-US" sz="3200" dirty="0" err="1">
                <a:solidFill>
                  <a:srgbClr val="0070C0"/>
                </a:solidFill>
                <a:latin typeface="Times New Roman" panose="02020603050405020304" pitchFamily="18" charset="0"/>
                <a:cs typeface="Times New Roman" panose="02020603050405020304" pitchFamily="18" charset="0"/>
              </a:rPr>
              <a:t>toàn</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cho</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sản</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phẩm</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gia</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tăng</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tính</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thẩm</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mĩ</a:t>
            </a:r>
            <a:endParaRPr lang="en-US" sz="3200" dirty="0">
              <a:solidFill>
                <a:srgbClr val="0070C0"/>
              </a:solidFill>
              <a:latin typeface="Times New Roman" panose="02020603050405020304" pitchFamily="18" charset="0"/>
              <a:cs typeface="Times New Roman" panose="02020603050405020304" pitchFamily="18" charset="0"/>
            </a:endParaRPr>
          </a:p>
          <a:p>
            <a:pPr>
              <a:lnSpc>
                <a:spcPct val="150000"/>
              </a:lnSpc>
            </a:pPr>
            <a:r>
              <a:rPr lang="en-US" sz="3200" dirty="0">
                <a:solidFill>
                  <a:srgbClr val="0070C0"/>
                </a:solidFill>
                <a:latin typeface="Times New Roman" panose="02020603050405020304" pitchFamily="18" charset="0"/>
                <a:cs typeface="Times New Roman" panose="02020603050405020304" pitchFamily="18" charset="0"/>
              </a:rPr>
              <a:t>Bao </a:t>
            </a:r>
            <a:r>
              <a:rPr lang="en-US" sz="3200" dirty="0" err="1">
                <a:solidFill>
                  <a:srgbClr val="0070C0"/>
                </a:solidFill>
                <a:latin typeface="Times New Roman" panose="02020603050405020304" pitchFamily="18" charset="0"/>
                <a:cs typeface="Times New Roman" panose="02020603050405020304" pitchFamily="18" charset="0"/>
              </a:rPr>
              <a:t>bì</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vận</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chuyển</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lớp</a:t>
            </a:r>
            <a:r>
              <a:rPr lang="en-US" sz="3200" dirty="0">
                <a:solidFill>
                  <a:srgbClr val="0070C0"/>
                </a:solidFill>
                <a:latin typeface="Times New Roman" panose="02020603050405020304" pitchFamily="18" charset="0"/>
                <a:cs typeface="Times New Roman" panose="02020603050405020304" pitchFamily="18" charset="0"/>
              </a:rPr>
              <a:t> bao </a:t>
            </a:r>
            <a:r>
              <a:rPr lang="en-US" sz="3200" dirty="0" err="1">
                <a:solidFill>
                  <a:srgbClr val="0070C0"/>
                </a:solidFill>
                <a:latin typeface="Times New Roman" panose="02020603050405020304" pitchFamily="18" charset="0"/>
                <a:cs typeface="Times New Roman" panose="02020603050405020304" pitchFamily="18" charset="0"/>
              </a:rPr>
              <a:t>bì</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cần</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thiết</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cho</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việc</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lưu</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kho</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vận</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chuyển</a:t>
            </a:r>
            <a:endParaRPr lang="en-US" sz="32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9509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E77C2-036E-413D-9330-52397E101BD4}"/>
              </a:ext>
            </a:extLst>
          </p:cNvPr>
          <p:cNvSpPr>
            <a:spLocks noGrp="1"/>
          </p:cNvSpPr>
          <p:nvPr>
            <p:ph type="title"/>
          </p:nvPr>
        </p:nvSpPr>
        <p:spPr>
          <a:xfrm>
            <a:off x="609599" y="609600"/>
            <a:ext cx="7239001" cy="1295400"/>
          </a:xfrm>
        </p:spPr>
        <p:txBody>
          <a:bodyPr>
            <a:normAutofit/>
          </a:bodyPr>
          <a:lstStyle/>
          <a:p>
            <a:r>
              <a:rPr lang="en-US" b="1" dirty="0" err="1">
                <a:solidFill>
                  <a:srgbClr val="C00000"/>
                </a:solidFill>
                <a:latin typeface="Times New Roman" panose="02020603050405020304" pitchFamily="18" charset="0"/>
                <a:cs typeface="Times New Roman" panose="02020603050405020304" pitchFamily="18" charset="0"/>
              </a:rPr>
              <a:t>Quyết</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định</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về</a:t>
            </a:r>
            <a:r>
              <a:rPr lang="en-US" b="1" dirty="0">
                <a:solidFill>
                  <a:srgbClr val="C00000"/>
                </a:solidFill>
                <a:latin typeface="Times New Roman" panose="02020603050405020304" pitchFamily="18" charset="0"/>
                <a:cs typeface="Times New Roman" panose="02020603050405020304" pitchFamily="18" charset="0"/>
              </a:rPr>
              <a:t> bao </a:t>
            </a:r>
            <a:r>
              <a:rPr lang="en-US" b="1" dirty="0" err="1">
                <a:solidFill>
                  <a:srgbClr val="C00000"/>
                </a:solidFill>
                <a:latin typeface="Times New Roman" panose="02020603050405020304" pitchFamily="18" charset="0"/>
                <a:cs typeface="Times New Roman" panose="02020603050405020304" pitchFamily="18" charset="0"/>
              </a:rPr>
              <a:t>bì</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sản</a:t>
            </a:r>
            <a:r>
              <a:rPr lang="en-US" b="1" dirty="0">
                <a:solidFill>
                  <a:srgbClr val="C00000"/>
                </a:solidFill>
                <a:latin typeface="Times New Roman" panose="02020603050405020304" pitchFamily="18" charset="0"/>
                <a:cs typeface="Times New Roman" panose="02020603050405020304" pitchFamily="18" charset="0"/>
              </a:rPr>
              <a:t> </a:t>
            </a:r>
            <a:r>
              <a:rPr lang="en-US" b="1" dirty="0" err="1">
                <a:solidFill>
                  <a:srgbClr val="C00000"/>
                </a:solidFill>
                <a:latin typeface="Times New Roman" panose="02020603050405020304" pitchFamily="18" charset="0"/>
                <a:cs typeface="Times New Roman" panose="02020603050405020304" pitchFamily="18" charset="0"/>
              </a:rPr>
              <a:t>phẩm</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4DB90771-9D58-4B9F-9FDA-9DEAB3569497}"/>
              </a:ext>
            </a:extLst>
          </p:cNvPr>
          <p:cNvSpPr>
            <a:spLocks noGrp="1"/>
          </p:cNvSpPr>
          <p:nvPr>
            <p:ph idx="1"/>
          </p:nvPr>
        </p:nvSpPr>
        <p:spPr>
          <a:xfrm>
            <a:off x="609599" y="1371600"/>
            <a:ext cx="7543801" cy="5410200"/>
          </a:xfrm>
        </p:spPr>
        <p:txBody>
          <a:bodyPr>
            <a:noAutofit/>
          </a:bodyPr>
          <a:lstStyle/>
          <a:p>
            <a:pPr marL="0" indent="0">
              <a:lnSpc>
                <a:spcPct val="150000"/>
              </a:lnSpc>
              <a:buNone/>
            </a:pPr>
            <a:r>
              <a:rPr lang="en-US" sz="3200" b="1" dirty="0" err="1">
                <a:solidFill>
                  <a:srgbClr val="0070C0"/>
                </a:solidFill>
                <a:latin typeface="Times New Roman" panose="02020603050405020304" pitchFamily="18" charset="0"/>
                <a:cs typeface="Times New Roman" panose="02020603050405020304" pitchFamily="18" charset="0"/>
              </a:rPr>
              <a:t>Chức</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dirty="0" err="1">
                <a:solidFill>
                  <a:srgbClr val="0070C0"/>
                </a:solidFill>
                <a:latin typeface="Times New Roman" panose="02020603050405020304" pitchFamily="18" charset="0"/>
                <a:cs typeface="Times New Roman" panose="02020603050405020304" pitchFamily="18" charset="0"/>
              </a:rPr>
              <a:t>năng</a:t>
            </a:r>
            <a:r>
              <a:rPr lang="en-US" sz="3200" b="1" dirty="0">
                <a:solidFill>
                  <a:srgbClr val="0070C0"/>
                </a:solidFill>
                <a:latin typeface="Times New Roman" panose="02020603050405020304" pitchFamily="18" charset="0"/>
                <a:cs typeface="Times New Roman" panose="02020603050405020304" pitchFamily="18" charset="0"/>
              </a:rPr>
              <a:t>:</a:t>
            </a:r>
          </a:p>
          <a:p>
            <a:pPr>
              <a:lnSpc>
                <a:spcPct val="150000"/>
              </a:lnSpc>
            </a:pPr>
            <a:r>
              <a:rPr lang="en-US" sz="3200" dirty="0" err="1">
                <a:solidFill>
                  <a:srgbClr val="0070C0"/>
                </a:solidFill>
                <a:latin typeface="Times New Roman" panose="02020603050405020304" pitchFamily="18" charset="0"/>
                <a:cs typeface="Times New Roman" panose="02020603050405020304" pitchFamily="18" charset="0"/>
              </a:rPr>
              <a:t>Bảo</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vệ</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sản</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phẩm</a:t>
            </a:r>
            <a:endParaRPr lang="en-US" sz="3200" dirty="0">
              <a:solidFill>
                <a:srgbClr val="0070C0"/>
              </a:solidFill>
              <a:latin typeface="Times New Roman" panose="02020603050405020304" pitchFamily="18" charset="0"/>
              <a:cs typeface="Times New Roman" panose="02020603050405020304" pitchFamily="18" charset="0"/>
            </a:endParaRPr>
          </a:p>
          <a:p>
            <a:pPr>
              <a:lnSpc>
                <a:spcPct val="150000"/>
              </a:lnSpc>
            </a:pPr>
            <a:r>
              <a:rPr lang="en-US" sz="3200" dirty="0" err="1">
                <a:solidFill>
                  <a:srgbClr val="0070C0"/>
                </a:solidFill>
                <a:latin typeface="Times New Roman" panose="02020603050405020304" pitchFamily="18" charset="0"/>
                <a:cs typeface="Times New Roman" panose="02020603050405020304" pitchFamily="18" charset="0"/>
              </a:rPr>
              <a:t>Chức</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năng</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thẩm</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mĩ</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và</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kích</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thích</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tiêu</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thụ</a:t>
            </a:r>
            <a:endParaRPr lang="en-US" sz="3200" dirty="0">
              <a:solidFill>
                <a:srgbClr val="0070C0"/>
              </a:solidFill>
              <a:latin typeface="Times New Roman" panose="02020603050405020304" pitchFamily="18" charset="0"/>
              <a:cs typeface="Times New Roman" panose="02020603050405020304" pitchFamily="18" charset="0"/>
            </a:endParaRPr>
          </a:p>
          <a:p>
            <a:pPr>
              <a:lnSpc>
                <a:spcPct val="150000"/>
              </a:lnSpc>
            </a:pPr>
            <a:r>
              <a:rPr lang="en-US" sz="3200" dirty="0" err="1">
                <a:solidFill>
                  <a:srgbClr val="0070C0"/>
                </a:solidFill>
                <a:latin typeface="Times New Roman" panose="02020603050405020304" pitchFamily="18" charset="0"/>
                <a:cs typeface="Times New Roman" panose="02020603050405020304" pitchFamily="18" charset="0"/>
              </a:rPr>
              <a:t>Chức</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năng</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quảng</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cáo</a:t>
            </a:r>
            <a:endParaRPr lang="en-US" sz="3200" dirty="0">
              <a:solidFill>
                <a:srgbClr val="0070C0"/>
              </a:solidFill>
              <a:latin typeface="Times New Roman" panose="02020603050405020304" pitchFamily="18" charset="0"/>
              <a:cs typeface="Times New Roman" panose="02020603050405020304" pitchFamily="18" charset="0"/>
            </a:endParaRPr>
          </a:p>
          <a:p>
            <a:pPr>
              <a:lnSpc>
                <a:spcPct val="150000"/>
              </a:lnSpc>
            </a:pPr>
            <a:r>
              <a:rPr lang="en-US" sz="3200" dirty="0" err="1">
                <a:solidFill>
                  <a:srgbClr val="0070C0"/>
                </a:solidFill>
                <a:latin typeface="Times New Roman" panose="02020603050405020304" pitchFamily="18" charset="0"/>
                <a:cs typeface="Times New Roman" panose="02020603050405020304" pitchFamily="18" charset="0"/>
              </a:rPr>
              <a:t>Cung</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cấp</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thông</a:t>
            </a:r>
            <a:r>
              <a:rPr lang="en-US" sz="3200" dirty="0">
                <a:solidFill>
                  <a:srgbClr val="0070C0"/>
                </a:solidFill>
                <a:latin typeface="Times New Roman" panose="02020603050405020304" pitchFamily="18" charset="0"/>
                <a:cs typeface="Times New Roman" panose="02020603050405020304" pitchFamily="18" charset="0"/>
              </a:rPr>
              <a:t> tin </a:t>
            </a:r>
            <a:r>
              <a:rPr lang="en-US" sz="3200" dirty="0" err="1">
                <a:solidFill>
                  <a:srgbClr val="0070C0"/>
                </a:solidFill>
                <a:latin typeface="Times New Roman" panose="02020603050405020304" pitchFamily="18" charset="0"/>
                <a:cs typeface="Times New Roman" panose="02020603050405020304" pitchFamily="18" charset="0"/>
              </a:rPr>
              <a:t>cho</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khách</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err="1">
                <a:solidFill>
                  <a:srgbClr val="0070C0"/>
                </a:solidFill>
                <a:latin typeface="Times New Roman" panose="02020603050405020304" pitchFamily="18" charset="0"/>
                <a:cs typeface="Times New Roman" panose="02020603050405020304" pitchFamily="18" charset="0"/>
              </a:rPr>
              <a:t>hàng</a:t>
            </a:r>
            <a:endParaRPr lang="en-US" sz="32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761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B9E74-9C50-41BC-B1AB-09A3BA02A488}"/>
              </a:ext>
            </a:extLst>
          </p:cNvPr>
          <p:cNvSpPr>
            <a:spLocks noGrp="1"/>
          </p:cNvSpPr>
          <p:nvPr>
            <p:ph type="title"/>
          </p:nvPr>
        </p:nvSpPr>
        <p:spPr>
          <a:xfrm>
            <a:off x="838199" y="152400"/>
            <a:ext cx="6119113" cy="1143000"/>
          </a:xfrm>
        </p:spPr>
        <p:txBody>
          <a:bodyPr>
            <a:normAutofit fontScale="90000"/>
          </a:bodyPr>
          <a:lstStyle/>
          <a:p>
            <a:r>
              <a:rPr lang="en-US" b="1" dirty="0" err="1">
                <a:solidFill>
                  <a:srgbClr val="0070C0"/>
                </a:solidFill>
                <a:latin typeface="Times New Roman" panose="02020603050405020304" pitchFamily="18" charset="0"/>
                <a:cs typeface="Times New Roman" panose="02020603050405020304" pitchFamily="18" charset="0"/>
              </a:rPr>
              <a:t>Quyết</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định</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phát</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triển</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sản</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phẩm</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mới</a:t>
            </a: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32971A7E-FFD4-46C5-B620-7C1EE999376B}"/>
              </a:ext>
            </a:extLst>
          </p:cNvPr>
          <p:cNvSpPr>
            <a:spLocks noGrp="1"/>
          </p:cNvSpPr>
          <p:nvPr>
            <p:ph idx="1"/>
          </p:nvPr>
        </p:nvSpPr>
        <p:spPr>
          <a:xfrm>
            <a:off x="457200" y="1295400"/>
            <a:ext cx="6500113" cy="4745963"/>
          </a:xfrm>
        </p:spPr>
        <p:txBody>
          <a:bodyPr>
            <a:noAutofit/>
          </a:bodyPr>
          <a:lstStyle/>
          <a:p>
            <a:pPr>
              <a:spcBef>
                <a:spcPts val="0"/>
              </a:spcBef>
            </a:pPr>
            <a:r>
              <a:rPr lang="en-US" sz="2800" dirty="0" err="1">
                <a:latin typeface="Times New Roman" panose="02020603050405020304" pitchFamily="18" charset="0"/>
                <a:cs typeface="Times New Roman" panose="02020603050405020304" pitchFamily="18" charset="0"/>
              </a:rPr>
              <a:t>Những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rào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trong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phát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triển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phẩm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mới</a:t>
            </a:r>
            <a:endParaRPr lang="en-US" sz="2800" dirty="0">
              <a:latin typeface="Times New Roman" panose="02020603050405020304" pitchFamily="18" charset="0"/>
              <a:cs typeface="Times New Roman" panose="02020603050405020304" pitchFamily="18" charset="0"/>
            </a:endParaRPr>
          </a:p>
          <a:p>
            <a:pPr>
              <a:spcBef>
                <a:spcPts val="0"/>
              </a:spcBef>
              <a:buFontTx/>
              <a:buChar char="-"/>
            </a:pPr>
            <a:r>
              <a:rPr lang="en-US" sz="2800" dirty="0" err="1">
                <a:latin typeface="Times New Roman" panose="02020603050405020304" pitchFamily="18" charset="0"/>
                <a:cs typeface="Times New Roman" panose="02020603050405020304" pitchFamily="18" charset="0"/>
              </a:rPr>
              <a:t>Thiếu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những</a:t>
            </a:r>
            <a:r>
              <a:rPr lang="en-US" sz="2800" dirty="0">
                <a:latin typeface="Times New Roman" panose="02020603050405020304" pitchFamily="18" charset="0"/>
                <a:cs typeface="Times New Roman" panose="02020603050405020304" pitchFamily="18" charset="0"/>
              </a:rPr>
              <a:t> ý </a:t>
            </a:r>
            <a:r>
              <a:rPr lang="en-US" sz="2800" dirty="0" err="1">
                <a:latin typeface="Times New Roman" panose="02020603050405020304" pitchFamily="18" charset="0"/>
                <a:cs typeface="Times New Roman" panose="02020603050405020304" pitchFamily="18" charset="0"/>
              </a:rPr>
              <a:t>tưởng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quan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trọng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về</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phẩm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mới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trong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những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lĩnh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vực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nhất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định</a:t>
            </a:r>
            <a:endParaRPr lang="en-US" sz="2800" dirty="0">
              <a:latin typeface="Times New Roman" panose="02020603050405020304" pitchFamily="18" charset="0"/>
              <a:cs typeface="Times New Roman" panose="02020603050405020304" pitchFamily="18" charset="0"/>
            </a:endParaRPr>
          </a:p>
          <a:p>
            <a:pPr>
              <a:spcBef>
                <a:spcPts val="0"/>
              </a:spcBef>
              <a:buFontTx/>
              <a:buChar char="-"/>
            </a:pPr>
            <a:r>
              <a:rPr lang="en-US" sz="2800" dirty="0" err="1">
                <a:latin typeface="Times New Roman" panose="02020603050405020304" pitchFamily="18" charset="0"/>
                <a:cs typeface="Times New Roman" panose="02020603050405020304" pitchFamily="18" charset="0"/>
              </a:rPr>
              <a:t>Thị</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trường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vụn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vặt</a:t>
            </a:r>
            <a:endParaRPr lang="en-US" sz="2800" dirty="0">
              <a:latin typeface="Times New Roman" panose="02020603050405020304" pitchFamily="18" charset="0"/>
              <a:cs typeface="Times New Roman" panose="02020603050405020304" pitchFamily="18" charset="0"/>
            </a:endParaRPr>
          </a:p>
          <a:p>
            <a:pPr>
              <a:spcBef>
                <a:spcPts val="0"/>
              </a:spcBef>
              <a:buFontTx/>
              <a:buChar char="-"/>
            </a:pPr>
            <a:r>
              <a:rPr lang="en-US" sz="2800" dirty="0" err="1">
                <a:latin typeface="Times New Roman" panose="02020603050405020304" pitchFamily="18" charset="0"/>
                <a:cs typeface="Times New Roman" panose="02020603050405020304" pitchFamily="18" charset="0"/>
              </a:rPr>
              <a:t>Những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hạn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chế</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về</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chính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sách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nước</a:t>
            </a:r>
            <a:endParaRPr lang="en-US" sz="2800" dirty="0">
              <a:latin typeface="Times New Roman" panose="02020603050405020304" pitchFamily="18" charset="0"/>
              <a:cs typeface="Times New Roman" panose="02020603050405020304" pitchFamily="18" charset="0"/>
            </a:endParaRPr>
          </a:p>
          <a:p>
            <a:pPr>
              <a:spcBef>
                <a:spcPts val="0"/>
              </a:spcBef>
              <a:buFontTx/>
              <a:buChar char="-"/>
            </a:pPr>
            <a:r>
              <a:rPr lang="en-US" sz="2800" dirty="0" err="1">
                <a:latin typeface="Times New Roman" panose="02020603050405020304" pitchFamily="18" charset="0"/>
                <a:cs typeface="Times New Roman" panose="02020603050405020304" pitchFamily="18" charset="0"/>
              </a:rPr>
              <a:t>Quá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trình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phát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triển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phẩm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mới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tốn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kém</a:t>
            </a:r>
            <a:endParaRPr lang="en-US" sz="2800" dirty="0">
              <a:latin typeface="Times New Roman" panose="02020603050405020304" pitchFamily="18" charset="0"/>
              <a:cs typeface="Times New Roman" panose="02020603050405020304" pitchFamily="18" charset="0"/>
            </a:endParaRPr>
          </a:p>
          <a:p>
            <a:pPr>
              <a:spcBef>
                <a:spcPts val="0"/>
              </a:spcBef>
              <a:buFontTx/>
              <a:buChar char="-"/>
            </a:pPr>
            <a:r>
              <a:rPr lang="en-US" sz="2800" dirty="0" err="1">
                <a:latin typeface="Times New Roman" panose="02020603050405020304" pitchFamily="18" charset="0"/>
                <a:cs typeface="Times New Roman" panose="02020603050405020304" pitchFamily="18" charset="0"/>
              </a:rPr>
              <a:t>Thiếu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vốn</a:t>
            </a:r>
            <a:endParaRPr lang="en-US" sz="2800" dirty="0">
              <a:latin typeface="Times New Roman" panose="02020603050405020304" pitchFamily="18" charset="0"/>
              <a:cs typeface="Times New Roman" panose="02020603050405020304" pitchFamily="18" charset="0"/>
            </a:endParaRPr>
          </a:p>
          <a:p>
            <a:pPr>
              <a:spcBef>
                <a:spcPts val="0"/>
              </a:spcBef>
              <a:buFontTx/>
              <a:buChar char="-"/>
            </a:pPr>
            <a:r>
              <a:rPr lang="en-US" sz="2800" dirty="0">
                <a:latin typeface="Times New Roman" panose="02020603050405020304" pitchFamily="18" charset="0"/>
                <a:cs typeface="Times New Roman" panose="02020603050405020304" pitchFamily="18" charset="0"/>
              </a:rPr>
              <a:t>Chu </a:t>
            </a:r>
            <a:r>
              <a:rPr lang="en-US" sz="2800" dirty="0" err="1">
                <a:latin typeface="Times New Roman" panose="02020603050405020304" pitchFamily="18" charset="0"/>
                <a:cs typeface="Times New Roman" panose="02020603050405020304" pitchFamily="18" charset="0"/>
              </a:rPr>
              <a:t>kỳ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sống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phẩm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ngắn</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80139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8229600" cy="1143000"/>
          </a:xfrm>
        </p:spPr>
        <p:txBody>
          <a:bodyPr>
            <a:normAutofit/>
          </a:bodyPr>
          <a:lstStyle/>
          <a:p>
            <a:pPr algn="l"/>
            <a:r>
              <a:rPr lang="en-US" sz="3600" b="1" dirty="0" err="1">
                <a:solidFill>
                  <a:schemeClr val="accent2"/>
                </a:solidFill>
                <a:latin typeface="Times New Roman" panose="02020603050405020304" pitchFamily="18" charset="0"/>
                <a:cs typeface="Times New Roman" panose="02020603050405020304" pitchFamily="18" charset="0"/>
              </a:rPr>
              <a:t>Quyết</a:t>
            </a:r>
            <a:r>
              <a:rPr lang="en-US" sz="3600" b="1" dirty="0">
                <a:solidFill>
                  <a:schemeClr val="accent2"/>
                </a:solidFill>
                <a:latin typeface="Times New Roman" panose="02020603050405020304" pitchFamily="18" charset="0"/>
                <a:cs typeface="Times New Roman" panose="02020603050405020304" pitchFamily="18" charset="0"/>
              </a:rPr>
              <a:t> </a:t>
            </a:r>
            <a:r>
              <a:rPr lang="en-US" sz="3600" b="1" dirty="0" err="1">
                <a:solidFill>
                  <a:schemeClr val="accent2"/>
                </a:solidFill>
                <a:latin typeface="Times New Roman" panose="02020603050405020304" pitchFamily="18" charset="0"/>
                <a:cs typeface="Times New Roman" panose="02020603050405020304" pitchFamily="18" charset="0"/>
              </a:rPr>
              <a:t>định</a:t>
            </a:r>
            <a:r>
              <a:rPr lang="en-US" sz="3600" b="1" dirty="0">
                <a:solidFill>
                  <a:schemeClr val="accent2"/>
                </a:solidFill>
                <a:latin typeface="Times New Roman" panose="02020603050405020304" pitchFamily="18" charset="0"/>
                <a:cs typeface="Times New Roman" panose="02020603050405020304" pitchFamily="18" charset="0"/>
              </a:rPr>
              <a:t> </a:t>
            </a:r>
            <a:r>
              <a:rPr lang="en-US" sz="3600" b="1" dirty="0" err="1">
                <a:solidFill>
                  <a:schemeClr val="accent2"/>
                </a:solidFill>
                <a:latin typeface="Times New Roman" panose="02020603050405020304" pitchFamily="18" charset="0"/>
                <a:cs typeface="Times New Roman" panose="02020603050405020304" pitchFamily="18" charset="0"/>
              </a:rPr>
              <a:t>về</a:t>
            </a:r>
            <a:r>
              <a:rPr lang="en-US" sz="3600" b="1" dirty="0">
                <a:solidFill>
                  <a:schemeClr val="accent2"/>
                </a:solidFill>
                <a:latin typeface="Times New Roman" panose="02020603050405020304" pitchFamily="18" charset="0"/>
                <a:cs typeface="Times New Roman" panose="02020603050405020304" pitchFamily="18" charset="0"/>
              </a:rPr>
              <a:t> </a:t>
            </a:r>
            <a:r>
              <a:rPr lang="en-US" sz="3600" b="1" dirty="0" err="1">
                <a:solidFill>
                  <a:schemeClr val="accent2"/>
                </a:solidFill>
                <a:latin typeface="Times New Roman" panose="02020603050405020304" pitchFamily="18" charset="0"/>
                <a:cs typeface="Times New Roman" panose="02020603050405020304" pitchFamily="18" charset="0"/>
              </a:rPr>
              <a:t>danh</a:t>
            </a:r>
            <a:r>
              <a:rPr lang="en-US" sz="3600" b="1" dirty="0">
                <a:solidFill>
                  <a:schemeClr val="accent2"/>
                </a:solidFill>
                <a:latin typeface="Times New Roman" panose="02020603050405020304" pitchFamily="18" charset="0"/>
                <a:cs typeface="Times New Roman" panose="02020603050405020304" pitchFamily="18" charset="0"/>
              </a:rPr>
              <a:t> </a:t>
            </a:r>
            <a:r>
              <a:rPr lang="en-US" sz="3600" b="1" dirty="0" err="1">
                <a:solidFill>
                  <a:schemeClr val="accent2"/>
                </a:solidFill>
                <a:latin typeface="Times New Roman" panose="02020603050405020304" pitchFamily="18" charset="0"/>
                <a:cs typeface="Times New Roman" panose="02020603050405020304" pitchFamily="18" charset="0"/>
              </a:rPr>
              <a:t>mục</a:t>
            </a:r>
            <a:r>
              <a:rPr lang="en-US" sz="3600" b="1" dirty="0">
                <a:solidFill>
                  <a:schemeClr val="accent2"/>
                </a:solidFill>
                <a:latin typeface="Times New Roman" panose="02020603050405020304" pitchFamily="18" charset="0"/>
                <a:cs typeface="Times New Roman" panose="02020603050405020304" pitchFamily="18" charset="0"/>
              </a:rPr>
              <a:t> </a:t>
            </a:r>
            <a:r>
              <a:rPr lang="en-US" sz="3600" b="1" dirty="0" err="1">
                <a:solidFill>
                  <a:schemeClr val="accent2"/>
                </a:solidFill>
                <a:latin typeface="Times New Roman" panose="02020603050405020304" pitchFamily="18" charset="0"/>
                <a:cs typeface="Times New Roman" panose="02020603050405020304" pitchFamily="18" charset="0"/>
              </a:rPr>
              <a:t>sản</a:t>
            </a:r>
            <a:r>
              <a:rPr lang="en-US" sz="3600" b="1" dirty="0">
                <a:solidFill>
                  <a:schemeClr val="accent2"/>
                </a:solidFill>
                <a:latin typeface="Times New Roman" panose="02020603050405020304" pitchFamily="18" charset="0"/>
                <a:cs typeface="Times New Roman" panose="02020603050405020304" pitchFamily="18" charset="0"/>
              </a:rPr>
              <a:t> </a:t>
            </a:r>
            <a:r>
              <a:rPr lang="en-US" sz="3600" b="1" dirty="0" err="1">
                <a:solidFill>
                  <a:schemeClr val="accent2"/>
                </a:solidFill>
                <a:latin typeface="Times New Roman" panose="02020603050405020304" pitchFamily="18" charset="0"/>
                <a:cs typeface="Times New Roman" panose="02020603050405020304" pitchFamily="18" charset="0"/>
              </a:rPr>
              <a:t>phẩm</a:t>
            </a:r>
            <a:br>
              <a:rPr lang="en-US" sz="3200" b="1" dirty="0">
                <a:solidFill>
                  <a:srgbClr val="FF0000"/>
                </a:solidFill>
              </a:rPr>
            </a:br>
            <a:endParaRPr lang="en-US" sz="3200" dirty="0">
              <a:solidFill>
                <a:srgbClr val="FF0000"/>
              </a:solidFill>
            </a:endParaRPr>
          </a:p>
        </p:txBody>
      </p:sp>
      <p:sp>
        <p:nvSpPr>
          <p:cNvPr id="4" name="Rectangle 4"/>
          <p:cNvSpPr txBox="1">
            <a:spLocks noChangeArrowheads="1"/>
          </p:cNvSpPr>
          <p:nvPr/>
        </p:nvSpPr>
        <p:spPr>
          <a:xfrm>
            <a:off x="990600" y="1371600"/>
            <a:ext cx="7391400" cy="2133600"/>
          </a:xfrm>
          <a:prstGeom prst="rect">
            <a:avLst/>
          </a:prstGeom>
        </p:spPr>
        <p:style>
          <a:lnRef idx="2">
            <a:schemeClr val="accent5"/>
          </a:lnRef>
          <a:fillRef idx="1">
            <a:schemeClr val="lt1"/>
          </a:fillRef>
          <a:effectRef idx="0">
            <a:schemeClr val="accent5"/>
          </a:effectRef>
          <a:fontRef idx="minor">
            <a:schemeClr val="dk1"/>
          </a:fontRef>
        </p:style>
        <p:txBody>
          <a:bodyPr vert="horz" lIns="92075" tIns="46038" rIns="92075" bIns="46038" rtlCol="0">
            <a:normAutofit fontScale="92500"/>
          </a:bodyPr>
          <a:lstStyle/>
          <a:p>
            <a:pPr marL="342900" marR="0" lvl="0" indent="-342900" algn="l" defTabSz="914400" rtl="0" eaLnBrk="1" fontAlgn="auto" latinLnBrk="0" hangingPunct="1">
              <a:lnSpc>
                <a:spcPct val="105000"/>
              </a:lnSpc>
              <a:spcBef>
                <a:spcPct val="40000"/>
              </a:spcBef>
              <a:spcAft>
                <a:spcPts val="0"/>
              </a:spcAft>
              <a:buClrTx/>
              <a:buSzTx/>
              <a:tabLst/>
              <a:defRPr/>
            </a:pPr>
            <a:r>
              <a:rPr kumimoji="0" lang="en-US" sz="2400" b="0" i="0" u="none" strike="noStrike" kern="1200" cap="none" spc="0" normalizeH="0" baseline="0" noProof="0">
                <a:ln>
                  <a:noFill/>
                </a:ln>
                <a:solidFill>
                  <a:schemeClr val="tx1"/>
                </a:solidFill>
                <a:effectLst/>
                <a:uLnTx/>
                <a:uFillTx/>
                <a:latin typeface="+mn-lt"/>
                <a:ea typeface="+mn-ea"/>
                <a:cs typeface="+mn-cs"/>
              </a:rPr>
              <a:t>     Chủng</a:t>
            </a:r>
            <a:r>
              <a:rPr kumimoji="0" lang="en-US" sz="2400" b="0" i="0" u="none" strike="noStrike" kern="1200" cap="none" spc="0" normalizeH="0" noProof="0">
                <a:ln>
                  <a:noFill/>
                </a:ln>
                <a:solidFill>
                  <a:schemeClr val="tx1"/>
                </a:solidFill>
                <a:effectLst/>
                <a:uLnTx/>
                <a:uFillTx/>
                <a:latin typeface="+mn-lt"/>
                <a:ea typeface="+mn-ea"/>
                <a:cs typeface="+mn-cs"/>
              </a:rPr>
              <a:t> loại  (loại) </a:t>
            </a:r>
            <a:r>
              <a:rPr kumimoji="0" lang="en-US" sz="2400" b="0" i="0" u="none" strike="noStrike" kern="1200" cap="none" spc="0" normalizeH="0" baseline="0" noProof="0">
                <a:ln>
                  <a:noFill/>
                </a:ln>
                <a:solidFill>
                  <a:schemeClr val="tx1"/>
                </a:solidFill>
                <a:effectLst/>
                <a:uLnTx/>
                <a:uFillTx/>
                <a:latin typeface="+mn-lt"/>
                <a:ea typeface="+mn-ea"/>
                <a:cs typeface="+mn-cs"/>
              </a:rPr>
              <a:t> SP</a:t>
            </a:r>
            <a:r>
              <a:rPr kumimoji="0" lang="en-US" sz="2400" b="1" i="1" u="none" strike="noStrike" kern="1200" cap="none" spc="0" normalizeH="0" baseline="0" noProof="0">
                <a:ln>
                  <a:noFill/>
                </a:ln>
                <a:solidFill>
                  <a:schemeClr val="tx1"/>
                </a:solidFill>
                <a:effectLst/>
                <a:uLnTx/>
                <a:uFillTx/>
                <a:latin typeface="+mn-lt"/>
                <a:ea typeface="+mn-ea"/>
                <a:cs typeface="+mn-cs"/>
              </a:rPr>
              <a:t> </a:t>
            </a:r>
            <a:r>
              <a:rPr kumimoji="0" lang="en-US" sz="2400" b="0" i="0" u="none" strike="noStrike" kern="1200" cap="none" spc="0" normalizeH="0" baseline="0" noProof="0">
                <a:ln>
                  <a:noFill/>
                </a:ln>
                <a:solidFill>
                  <a:schemeClr val="tx1"/>
                </a:solidFill>
                <a:effectLst/>
                <a:uLnTx/>
                <a:uFillTx/>
                <a:latin typeface="+mn-lt"/>
                <a:ea typeface="+mn-ea"/>
                <a:cs typeface="+mn-cs"/>
              </a:rPr>
              <a:t>là một nhóm các SP có mối quan hệ mật thiết với nhau vì chức năng của chúng tương tự nhau và cùng được bán đến một số nhóm khách hàng và được tiếp thị qua cùng một kênh hoặc nằm trong cùng một mức giá nào đó. </a:t>
            </a:r>
          </a:p>
        </p:txBody>
      </p:sp>
      <p:sp>
        <p:nvSpPr>
          <p:cNvPr id="5" name="Rectangle 4"/>
          <p:cNvSpPr/>
          <p:nvPr/>
        </p:nvSpPr>
        <p:spPr>
          <a:xfrm>
            <a:off x="990600" y="4114800"/>
            <a:ext cx="7315200" cy="83099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sz="2400"/>
              <a:t>Danh mục sản phẩm: Tập hợp các loại SP mà DN cung cấp cho thị trường.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AutoShape 2"/>
          <p:cNvSpPr>
            <a:spLocks noChangeArrowheads="1"/>
          </p:cNvSpPr>
          <p:nvPr/>
        </p:nvSpPr>
        <p:spPr bwMode="auto">
          <a:xfrm>
            <a:off x="3429000" y="3352800"/>
            <a:ext cx="2438400" cy="3048000"/>
          </a:xfrm>
          <a:prstGeom prst="roundRect">
            <a:avLst>
              <a:gd name="adj" fmla="val 13745"/>
            </a:avLst>
          </a:prstGeom>
          <a:ln>
            <a:headEnd/>
            <a:tailEnd/>
          </a:ln>
        </p:spPr>
        <p:style>
          <a:lnRef idx="2">
            <a:schemeClr val="accent3"/>
          </a:lnRef>
          <a:fillRef idx="1">
            <a:schemeClr val="lt1"/>
          </a:fillRef>
          <a:effectRef idx="0">
            <a:schemeClr val="accent3"/>
          </a:effectRef>
          <a:fontRef idx="minor">
            <a:schemeClr val="dk1"/>
          </a:fontRef>
        </p:style>
        <p:txBody>
          <a:bodyPr anchor="ctr"/>
          <a:lstStyle/>
          <a:p>
            <a:r>
              <a:rPr lang="en-US" sz="2000" b="1" dirty="0">
                <a:solidFill>
                  <a:srgbClr val="0033CC"/>
                </a:solidFill>
              </a:rPr>
              <a:t>1. </a:t>
            </a:r>
            <a:r>
              <a:rPr lang="en-US" sz="2000" b="1" dirty="0" err="1">
                <a:solidFill>
                  <a:srgbClr val="0033CC"/>
                </a:solidFill>
              </a:rPr>
              <a:t>Dầu</a:t>
            </a:r>
            <a:r>
              <a:rPr lang="en-US" sz="2000" b="1" dirty="0">
                <a:solidFill>
                  <a:srgbClr val="0033CC"/>
                </a:solidFill>
              </a:rPr>
              <a:t> </a:t>
            </a:r>
            <a:r>
              <a:rPr lang="en-US" sz="2000" b="1" dirty="0" err="1">
                <a:solidFill>
                  <a:srgbClr val="0033CC"/>
                </a:solidFill>
              </a:rPr>
              <a:t>gội</a:t>
            </a:r>
            <a:r>
              <a:rPr lang="en-US" sz="2000" b="1" dirty="0">
                <a:solidFill>
                  <a:srgbClr val="0033CC"/>
                </a:solidFill>
              </a:rPr>
              <a:t> &amp; </a:t>
            </a:r>
            <a:r>
              <a:rPr lang="en-US" sz="2000" b="1" dirty="0" err="1">
                <a:solidFill>
                  <a:srgbClr val="0033CC"/>
                </a:solidFill>
              </a:rPr>
              <a:t>Dầu</a:t>
            </a:r>
            <a:r>
              <a:rPr lang="en-US" sz="2000" b="1" dirty="0">
                <a:solidFill>
                  <a:srgbClr val="0033CC"/>
                </a:solidFill>
              </a:rPr>
              <a:t> </a:t>
            </a:r>
            <a:r>
              <a:rPr lang="en-US" sz="2000" b="1" dirty="0" err="1">
                <a:solidFill>
                  <a:srgbClr val="0033CC"/>
                </a:solidFill>
              </a:rPr>
              <a:t>xả</a:t>
            </a:r>
            <a:endParaRPr lang="en-US" sz="2000" b="1" dirty="0">
              <a:solidFill>
                <a:srgbClr val="0033CC"/>
              </a:solidFill>
            </a:endParaRPr>
          </a:p>
          <a:p>
            <a:r>
              <a:rPr lang="en-US" sz="2000" b="1" dirty="0">
                <a:solidFill>
                  <a:srgbClr val="0033CC"/>
                </a:solidFill>
              </a:rPr>
              <a:t>2. </a:t>
            </a:r>
            <a:r>
              <a:rPr lang="en-US" sz="2000" b="1" dirty="0" err="1">
                <a:solidFill>
                  <a:srgbClr val="0033CC"/>
                </a:solidFill>
              </a:rPr>
              <a:t>Kem</a:t>
            </a:r>
            <a:r>
              <a:rPr lang="en-US" sz="2000" b="1" dirty="0">
                <a:solidFill>
                  <a:srgbClr val="0033CC"/>
                </a:solidFill>
              </a:rPr>
              <a:t> </a:t>
            </a:r>
            <a:r>
              <a:rPr lang="en-US" sz="2000" b="1" dirty="0" err="1">
                <a:solidFill>
                  <a:srgbClr val="0033CC"/>
                </a:solidFill>
              </a:rPr>
              <a:t>dưỡng</a:t>
            </a:r>
            <a:r>
              <a:rPr lang="en-US" sz="2000" b="1" dirty="0">
                <a:solidFill>
                  <a:srgbClr val="0033CC"/>
                </a:solidFill>
              </a:rPr>
              <a:t> </a:t>
            </a:r>
            <a:r>
              <a:rPr lang="en-US" sz="2000" b="1" dirty="0" err="1">
                <a:solidFill>
                  <a:srgbClr val="0033CC"/>
                </a:solidFill>
              </a:rPr>
              <a:t>da</a:t>
            </a:r>
            <a:r>
              <a:rPr lang="en-US" sz="2000" b="1" dirty="0">
                <a:solidFill>
                  <a:srgbClr val="0033CC"/>
                </a:solidFill>
              </a:rPr>
              <a:t>)</a:t>
            </a:r>
          </a:p>
          <a:p>
            <a:r>
              <a:rPr lang="en-US" sz="2000" b="1" dirty="0">
                <a:solidFill>
                  <a:srgbClr val="0033CC"/>
                </a:solidFill>
              </a:rPr>
              <a:t>4. </a:t>
            </a:r>
            <a:r>
              <a:rPr lang="en-US" sz="2000" b="1" dirty="0" err="1">
                <a:solidFill>
                  <a:srgbClr val="0033CC"/>
                </a:solidFill>
              </a:rPr>
              <a:t>Bàn</a:t>
            </a:r>
            <a:r>
              <a:rPr lang="en-US" sz="2000" b="1" dirty="0">
                <a:solidFill>
                  <a:srgbClr val="0033CC"/>
                </a:solidFill>
              </a:rPr>
              <a:t> </a:t>
            </a:r>
            <a:r>
              <a:rPr lang="en-US" sz="2000" b="1" dirty="0" err="1">
                <a:solidFill>
                  <a:srgbClr val="0033CC"/>
                </a:solidFill>
              </a:rPr>
              <a:t>chải</a:t>
            </a:r>
            <a:r>
              <a:rPr lang="en-US" sz="2000" b="1" dirty="0">
                <a:solidFill>
                  <a:srgbClr val="0033CC"/>
                </a:solidFill>
              </a:rPr>
              <a:t> </a:t>
            </a:r>
            <a:r>
              <a:rPr lang="en-US" sz="2000" b="1" dirty="0" err="1">
                <a:solidFill>
                  <a:srgbClr val="0033CC"/>
                </a:solidFill>
              </a:rPr>
              <a:t>và</a:t>
            </a:r>
            <a:r>
              <a:rPr lang="en-US" sz="2000" b="1" dirty="0">
                <a:solidFill>
                  <a:srgbClr val="0033CC"/>
                </a:solidFill>
              </a:rPr>
              <a:t> </a:t>
            </a:r>
            <a:r>
              <a:rPr lang="en-US" sz="2000" b="1" dirty="0" err="1">
                <a:solidFill>
                  <a:srgbClr val="0033CC"/>
                </a:solidFill>
              </a:rPr>
              <a:t>kem</a:t>
            </a:r>
            <a:r>
              <a:rPr lang="en-US" sz="2000" b="1" dirty="0">
                <a:solidFill>
                  <a:srgbClr val="0033CC"/>
                </a:solidFill>
              </a:rPr>
              <a:t> </a:t>
            </a:r>
            <a:r>
              <a:rPr lang="en-US" sz="2000" b="1" dirty="0" err="1">
                <a:solidFill>
                  <a:srgbClr val="0033CC"/>
                </a:solidFill>
              </a:rPr>
              <a:t>đánh</a:t>
            </a:r>
            <a:endParaRPr lang="en-US" sz="2000" b="1" dirty="0">
              <a:solidFill>
                <a:srgbClr val="0033CC"/>
              </a:solidFill>
            </a:endParaRPr>
          </a:p>
          <a:p>
            <a:r>
              <a:rPr lang="en-US" sz="2000" b="1" dirty="0">
                <a:solidFill>
                  <a:srgbClr val="0033CC"/>
                </a:solidFill>
              </a:rPr>
              <a:t>5. </a:t>
            </a:r>
            <a:r>
              <a:rPr lang="en-US" sz="2000" b="1" dirty="0" err="1">
                <a:solidFill>
                  <a:srgbClr val="0033CC"/>
                </a:solidFill>
              </a:rPr>
              <a:t>Xà</a:t>
            </a:r>
            <a:r>
              <a:rPr lang="en-US" sz="2000" b="1" dirty="0">
                <a:solidFill>
                  <a:srgbClr val="0033CC"/>
                </a:solidFill>
              </a:rPr>
              <a:t> </a:t>
            </a:r>
            <a:r>
              <a:rPr lang="en-US" sz="2000" b="1" dirty="0" err="1">
                <a:solidFill>
                  <a:srgbClr val="0033CC"/>
                </a:solidFill>
              </a:rPr>
              <a:t>phòng</a:t>
            </a:r>
            <a:r>
              <a:rPr lang="en-US" sz="2000" b="1" dirty="0">
                <a:solidFill>
                  <a:srgbClr val="0033CC"/>
                </a:solidFill>
              </a:rPr>
              <a:t> </a:t>
            </a:r>
            <a:r>
              <a:rPr lang="en-US" sz="2000" b="1" dirty="0" err="1">
                <a:solidFill>
                  <a:srgbClr val="0033CC"/>
                </a:solidFill>
              </a:rPr>
              <a:t>tắm</a:t>
            </a:r>
            <a:r>
              <a:rPr lang="en-US" sz="2000" b="1" dirty="0">
                <a:solidFill>
                  <a:srgbClr val="0033CC"/>
                </a:solidFill>
              </a:rPr>
              <a:t> </a:t>
            </a:r>
            <a:r>
              <a:rPr lang="en-US" sz="2000" b="1" dirty="0" err="1">
                <a:solidFill>
                  <a:srgbClr val="0033CC"/>
                </a:solidFill>
              </a:rPr>
              <a:t>và</a:t>
            </a:r>
            <a:r>
              <a:rPr lang="en-US" sz="2000" b="1" dirty="0">
                <a:solidFill>
                  <a:srgbClr val="0033CC"/>
                </a:solidFill>
              </a:rPr>
              <a:t> </a:t>
            </a:r>
            <a:r>
              <a:rPr lang="en-US" sz="2000" b="1" dirty="0" err="1">
                <a:solidFill>
                  <a:srgbClr val="0033CC"/>
                </a:solidFill>
              </a:rPr>
              <a:t>sữa</a:t>
            </a:r>
            <a:r>
              <a:rPr lang="en-US" sz="2000" b="1" dirty="0">
                <a:solidFill>
                  <a:srgbClr val="0033CC"/>
                </a:solidFill>
              </a:rPr>
              <a:t> </a:t>
            </a:r>
            <a:r>
              <a:rPr lang="en-US" sz="2000" b="1" dirty="0" err="1">
                <a:solidFill>
                  <a:srgbClr val="0033CC"/>
                </a:solidFill>
              </a:rPr>
              <a:t>tắm</a:t>
            </a:r>
            <a:endParaRPr lang="en-US" sz="2000" b="1" dirty="0">
              <a:solidFill>
                <a:srgbClr val="0033CC"/>
              </a:solidFill>
            </a:endParaRPr>
          </a:p>
        </p:txBody>
      </p:sp>
      <p:sp>
        <p:nvSpPr>
          <p:cNvPr id="13315" name="AutoShape 3"/>
          <p:cNvSpPr>
            <a:spLocks noChangeArrowheads="1"/>
          </p:cNvSpPr>
          <p:nvPr/>
        </p:nvSpPr>
        <p:spPr bwMode="auto">
          <a:xfrm>
            <a:off x="838200" y="3352800"/>
            <a:ext cx="2438400" cy="3048000"/>
          </a:xfrm>
          <a:prstGeom prst="roundRect">
            <a:avLst>
              <a:gd name="adj" fmla="val 13745"/>
            </a:avLst>
          </a:prstGeom>
          <a:ln>
            <a:headEnd/>
            <a:tailEnd/>
          </a:ln>
        </p:spPr>
        <p:style>
          <a:lnRef idx="2">
            <a:schemeClr val="accent6"/>
          </a:lnRef>
          <a:fillRef idx="1">
            <a:schemeClr val="lt1"/>
          </a:fillRef>
          <a:effectRef idx="0">
            <a:schemeClr val="accent6"/>
          </a:effectRef>
          <a:fontRef idx="minor">
            <a:schemeClr val="dk1"/>
          </a:fontRef>
        </p:style>
        <p:txBody>
          <a:bodyPr anchor="ctr"/>
          <a:lstStyle/>
          <a:p>
            <a:pPr eaLnBrk="0" hangingPunct="0"/>
            <a:r>
              <a:rPr lang="en-US" sz="2000" b="1" dirty="0">
                <a:solidFill>
                  <a:srgbClr val="0033CC"/>
                </a:solidFill>
                <a:latin typeface="+mj-lt"/>
              </a:rPr>
              <a:t>1. </a:t>
            </a:r>
            <a:r>
              <a:rPr lang="en-US" sz="2000" b="1" dirty="0" err="1">
                <a:solidFill>
                  <a:srgbClr val="0033CC"/>
                </a:solidFill>
                <a:latin typeface="+mj-lt"/>
              </a:rPr>
              <a:t>Nước</a:t>
            </a:r>
            <a:r>
              <a:rPr lang="en-US" sz="2000" b="1" dirty="0">
                <a:solidFill>
                  <a:srgbClr val="0033CC"/>
                </a:solidFill>
                <a:latin typeface="+mj-lt"/>
              </a:rPr>
              <a:t> </a:t>
            </a:r>
            <a:r>
              <a:rPr lang="en-US" sz="2000" b="1" dirty="0" err="1">
                <a:solidFill>
                  <a:srgbClr val="0033CC"/>
                </a:solidFill>
                <a:latin typeface="+mj-lt"/>
              </a:rPr>
              <a:t>xả</a:t>
            </a:r>
            <a:r>
              <a:rPr lang="en-US" sz="2000" b="1" dirty="0">
                <a:solidFill>
                  <a:srgbClr val="0033CC"/>
                </a:solidFill>
                <a:latin typeface="+mj-lt"/>
              </a:rPr>
              <a:t> </a:t>
            </a:r>
            <a:r>
              <a:rPr lang="en-US" sz="2000" b="1" dirty="0" err="1">
                <a:solidFill>
                  <a:srgbClr val="0033CC"/>
                </a:solidFill>
                <a:latin typeface="+mj-lt"/>
              </a:rPr>
              <a:t>mềm</a:t>
            </a:r>
            <a:r>
              <a:rPr lang="en-US" sz="2000" b="1" dirty="0">
                <a:solidFill>
                  <a:srgbClr val="0033CC"/>
                </a:solidFill>
                <a:latin typeface="+mj-lt"/>
              </a:rPr>
              <a:t> </a:t>
            </a:r>
            <a:r>
              <a:rPr lang="en-US" sz="2000" b="1" dirty="0" err="1">
                <a:solidFill>
                  <a:srgbClr val="0033CC"/>
                </a:solidFill>
                <a:latin typeface="+mj-lt"/>
              </a:rPr>
              <a:t>vải</a:t>
            </a:r>
            <a:endParaRPr lang="en-US" sz="2000" b="1" dirty="0">
              <a:solidFill>
                <a:srgbClr val="0033CC"/>
              </a:solidFill>
              <a:latin typeface="+mj-lt"/>
            </a:endParaRPr>
          </a:p>
          <a:p>
            <a:pPr eaLnBrk="0" hangingPunct="0"/>
            <a:r>
              <a:rPr lang="en-US" sz="2000" b="1" dirty="0">
                <a:solidFill>
                  <a:srgbClr val="0033CC"/>
                </a:solidFill>
                <a:latin typeface="+mj-lt"/>
              </a:rPr>
              <a:t>2. </a:t>
            </a:r>
            <a:r>
              <a:rPr lang="en-US" sz="2000" b="1" dirty="0" err="1">
                <a:solidFill>
                  <a:srgbClr val="0033CC"/>
                </a:solidFill>
                <a:latin typeface="+mj-lt"/>
              </a:rPr>
              <a:t>Bột</a:t>
            </a:r>
            <a:r>
              <a:rPr lang="en-US" sz="2000" b="1" dirty="0">
                <a:solidFill>
                  <a:srgbClr val="0033CC"/>
                </a:solidFill>
                <a:latin typeface="+mj-lt"/>
              </a:rPr>
              <a:t> </a:t>
            </a:r>
            <a:r>
              <a:rPr lang="en-US" sz="2000" b="1" dirty="0" err="1">
                <a:solidFill>
                  <a:srgbClr val="0033CC"/>
                </a:solidFill>
                <a:latin typeface="+mj-lt"/>
              </a:rPr>
              <a:t>giặt</a:t>
            </a:r>
            <a:endParaRPr lang="en-US" sz="2000" b="1" dirty="0">
              <a:solidFill>
                <a:srgbClr val="0033CC"/>
              </a:solidFill>
              <a:latin typeface="+mj-lt"/>
            </a:endParaRPr>
          </a:p>
          <a:p>
            <a:pPr eaLnBrk="0" hangingPunct="0"/>
            <a:r>
              <a:rPr lang="en-US" sz="2000" b="1" dirty="0">
                <a:solidFill>
                  <a:srgbClr val="0033CC"/>
                </a:solidFill>
                <a:latin typeface="+mj-lt"/>
              </a:rPr>
              <a:t>3. </a:t>
            </a:r>
            <a:r>
              <a:rPr lang="en-US" sz="2000" b="1" dirty="0" err="1">
                <a:solidFill>
                  <a:srgbClr val="0033CC"/>
                </a:solidFill>
                <a:latin typeface="+mj-lt"/>
              </a:rPr>
              <a:t>Tẩy</a:t>
            </a:r>
            <a:r>
              <a:rPr lang="en-US" sz="2000" b="1" dirty="0">
                <a:solidFill>
                  <a:srgbClr val="0033CC"/>
                </a:solidFill>
                <a:latin typeface="+mj-lt"/>
              </a:rPr>
              <a:t> </a:t>
            </a:r>
            <a:r>
              <a:rPr lang="en-US" sz="2000" b="1" dirty="0" err="1">
                <a:solidFill>
                  <a:srgbClr val="0033CC"/>
                </a:solidFill>
                <a:latin typeface="+mj-lt"/>
              </a:rPr>
              <a:t>rửa</a:t>
            </a:r>
            <a:endParaRPr lang="en-US" sz="2000" b="1" dirty="0">
              <a:solidFill>
                <a:srgbClr val="0033CC"/>
              </a:solidFill>
              <a:latin typeface="+mj-lt"/>
            </a:endParaRPr>
          </a:p>
        </p:txBody>
      </p:sp>
      <p:sp>
        <p:nvSpPr>
          <p:cNvPr id="13316" name="AutoShape 4"/>
          <p:cNvSpPr>
            <a:spLocks noChangeArrowheads="1"/>
          </p:cNvSpPr>
          <p:nvPr/>
        </p:nvSpPr>
        <p:spPr bwMode="auto">
          <a:xfrm>
            <a:off x="6019800" y="3352800"/>
            <a:ext cx="2438400" cy="3048000"/>
          </a:xfrm>
          <a:prstGeom prst="roundRect">
            <a:avLst>
              <a:gd name="adj" fmla="val 13745"/>
            </a:avLst>
          </a:prstGeom>
          <a:ln>
            <a:headEnd/>
            <a:tailEnd/>
          </a:ln>
        </p:spPr>
        <p:style>
          <a:lnRef idx="2">
            <a:schemeClr val="accent2"/>
          </a:lnRef>
          <a:fillRef idx="1">
            <a:schemeClr val="lt1"/>
          </a:fillRef>
          <a:effectRef idx="0">
            <a:schemeClr val="accent2"/>
          </a:effectRef>
          <a:fontRef idx="minor">
            <a:schemeClr val="dk1"/>
          </a:fontRef>
        </p:style>
        <p:txBody>
          <a:bodyPr anchor="ctr"/>
          <a:lstStyle/>
          <a:p>
            <a:r>
              <a:rPr lang="en-US" sz="2000" b="1" dirty="0">
                <a:solidFill>
                  <a:srgbClr val="0033CC"/>
                </a:solidFill>
              </a:rPr>
              <a:t>1. </a:t>
            </a:r>
            <a:r>
              <a:rPr lang="en-US" sz="2000" b="1" dirty="0" err="1">
                <a:solidFill>
                  <a:srgbClr val="0033CC"/>
                </a:solidFill>
              </a:rPr>
              <a:t>Trà</a:t>
            </a:r>
            <a:endParaRPr lang="en-US" sz="2000" b="1" dirty="0">
              <a:solidFill>
                <a:srgbClr val="0033CC"/>
              </a:solidFill>
            </a:endParaRPr>
          </a:p>
          <a:p>
            <a:r>
              <a:rPr lang="en-US" sz="2000" b="1" dirty="0">
                <a:solidFill>
                  <a:srgbClr val="0033CC"/>
                </a:solidFill>
              </a:rPr>
              <a:t>2. </a:t>
            </a:r>
            <a:r>
              <a:rPr lang="en-US" sz="2000" b="1" dirty="0" err="1">
                <a:solidFill>
                  <a:srgbClr val="0033CC"/>
                </a:solidFill>
              </a:rPr>
              <a:t>Thực</a:t>
            </a:r>
            <a:r>
              <a:rPr lang="en-US" sz="2000" b="1" dirty="0">
                <a:solidFill>
                  <a:srgbClr val="0033CC"/>
                </a:solidFill>
              </a:rPr>
              <a:t> </a:t>
            </a:r>
            <a:r>
              <a:rPr lang="en-US" sz="2000" b="1" dirty="0" err="1">
                <a:solidFill>
                  <a:srgbClr val="0033CC"/>
                </a:solidFill>
              </a:rPr>
              <a:t>phẩm</a:t>
            </a:r>
            <a:endParaRPr lang="en-US" sz="2000" b="1" dirty="0">
              <a:solidFill>
                <a:srgbClr val="0033CC"/>
              </a:solidFill>
            </a:endParaRPr>
          </a:p>
        </p:txBody>
      </p:sp>
      <p:sp>
        <p:nvSpPr>
          <p:cNvPr id="13318" name="Oval 6"/>
          <p:cNvSpPr>
            <a:spLocks noChangeArrowheads="1"/>
          </p:cNvSpPr>
          <p:nvPr/>
        </p:nvSpPr>
        <p:spPr bwMode="gray">
          <a:xfrm>
            <a:off x="6221413" y="1528763"/>
            <a:ext cx="1703387" cy="1687512"/>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endParaRPr lang="en-US"/>
          </a:p>
        </p:txBody>
      </p:sp>
      <p:sp>
        <p:nvSpPr>
          <p:cNvPr id="13319" name="Oval 7"/>
          <p:cNvSpPr>
            <a:spLocks noChangeArrowheads="1"/>
          </p:cNvSpPr>
          <p:nvPr/>
        </p:nvSpPr>
        <p:spPr bwMode="gray">
          <a:xfrm>
            <a:off x="6221413" y="1528763"/>
            <a:ext cx="1703387" cy="1687512"/>
          </a:xfrm>
          <a:prstGeom prst="ellipse">
            <a:avLst/>
          </a:prstGeom>
          <a:gradFill rotWithShape="1">
            <a:gsLst>
              <a:gs pos="0">
                <a:schemeClr val="hlink">
                  <a:alpha val="32001"/>
                </a:schemeClr>
              </a:gs>
              <a:gs pos="100000">
                <a:schemeClr val="hlink">
                  <a:gamma/>
                  <a:shade val="0"/>
                  <a:invGamma/>
                  <a:alpha val="89999"/>
                </a:schemeClr>
              </a:gs>
            </a:gsLst>
            <a:lin ang="2700000" scaled="1"/>
          </a:gradFill>
          <a:ln w="38100" algn="ctr">
            <a:noFill/>
            <a:round/>
            <a:headEnd/>
            <a:tailEnd/>
          </a:ln>
          <a:effectLst/>
        </p:spPr>
        <p:txBody>
          <a:bodyPr anchor="ctr">
            <a:spAutoFit/>
          </a:bodyPr>
          <a:lstStyle/>
          <a:p>
            <a:endParaRPr lang="en-US"/>
          </a:p>
        </p:txBody>
      </p:sp>
      <p:sp>
        <p:nvSpPr>
          <p:cNvPr id="13320" name="Oval 8"/>
          <p:cNvSpPr>
            <a:spLocks noChangeArrowheads="1"/>
          </p:cNvSpPr>
          <p:nvPr/>
        </p:nvSpPr>
        <p:spPr bwMode="gray">
          <a:xfrm>
            <a:off x="6332538" y="1639888"/>
            <a:ext cx="1481137" cy="1466850"/>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endParaRPr lang="en-US"/>
          </a:p>
        </p:txBody>
      </p:sp>
      <p:sp>
        <p:nvSpPr>
          <p:cNvPr id="13321" name="Oval 9"/>
          <p:cNvSpPr>
            <a:spLocks noChangeArrowheads="1"/>
          </p:cNvSpPr>
          <p:nvPr/>
        </p:nvSpPr>
        <p:spPr bwMode="gray">
          <a:xfrm>
            <a:off x="6357938" y="1647825"/>
            <a:ext cx="1481137" cy="1466850"/>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headEnd/>
            <a:tailEnd/>
          </a:ln>
          <a:effectLst/>
        </p:spPr>
        <p:txBody>
          <a:bodyPr anchor="ctr">
            <a:spAutoFit/>
          </a:bodyPr>
          <a:lstStyle/>
          <a:p>
            <a:endParaRPr lang="en-US"/>
          </a:p>
        </p:txBody>
      </p:sp>
      <p:sp>
        <p:nvSpPr>
          <p:cNvPr id="13322" name="Oval 10"/>
          <p:cNvSpPr>
            <a:spLocks noChangeArrowheads="1"/>
          </p:cNvSpPr>
          <p:nvPr/>
        </p:nvSpPr>
        <p:spPr bwMode="gray">
          <a:xfrm>
            <a:off x="6411913" y="1711325"/>
            <a:ext cx="1335087" cy="1320800"/>
          </a:xfrm>
          <a:prstGeom prst="ellipse">
            <a:avLst/>
          </a:prstGeom>
          <a:solidFill>
            <a:srgbClr val="333333"/>
          </a:solidFill>
          <a:ln w="38100" algn="ctr">
            <a:noFill/>
            <a:round/>
            <a:headEnd/>
            <a:tailEnd/>
          </a:ln>
          <a:effectLst/>
        </p:spPr>
        <p:txBody>
          <a:bodyPr anchor="ctr">
            <a:spAutoFit/>
          </a:bodyPr>
          <a:lstStyle/>
          <a:p>
            <a:endParaRPr lang="en-US"/>
          </a:p>
        </p:txBody>
      </p:sp>
      <p:sp>
        <p:nvSpPr>
          <p:cNvPr id="13323" name="Oval 11"/>
          <p:cNvSpPr>
            <a:spLocks noChangeArrowheads="1"/>
          </p:cNvSpPr>
          <p:nvPr/>
        </p:nvSpPr>
        <p:spPr bwMode="gray">
          <a:xfrm>
            <a:off x="1295400" y="1524000"/>
            <a:ext cx="1703388" cy="1687513"/>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headEnd/>
            <a:tailEnd/>
          </a:ln>
          <a:effectLst/>
        </p:spPr>
        <p:txBody>
          <a:bodyPr wrap="none" anchor="ctr">
            <a:spAutoFit/>
          </a:bodyPr>
          <a:lstStyle/>
          <a:p>
            <a:endParaRPr lang="en-US"/>
          </a:p>
        </p:txBody>
      </p:sp>
      <p:sp>
        <p:nvSpPr>
          <p:cNvPr id="13324" name="Oval 12"/>
          <p:cNvSpPr>
            <a:spLocks noChangeArrowheads="1"/>
          </p:cNvSpPr>
          <p:nvPr/>
        </p:nvSpPr>
        <p:spPr bwMode="gray">
          <a:xfrm>
            <a:off x="1295400" y="1524000"/>
            <a:ext cx="1703388" cy="1687513"/>
          </a:xfrm>
          <a:prstGeom prst="ellipse">
            <a:avLst/>
          </a:prstGeom>
          <a:gradFill rotWithShape="1">
            <a:gsLst>
              <a:gs pos="0">
                <a:schemeClr val="folHlink">
                  <a:alpha val="32001"/>
                </a:schemeClr>
              </a:gs>
              <a:gs pos="100000">
                <a:schemeClr val="folHlink">
                  <a:gamma/>
                  <a:shade val="0"/>
                  <a:invGamma/>
                  <a:alpha val="89999"/>
                </a:schemeClr>
              </a:gs>
            </a:gsLst>
            <a:lin ang="2700000" scaled="1"/>
          </a:gradFill>
          <a:ln w="38100" algn="ctr">
            <a:noFill/>
            <a:round/>
            <a:headEnd/>
            <a:tailEnd/>
          </a:ln>
          <a:effectLst/>
        </p:spPr>
        <p:txBody>
          <a:bodyPr wrap="none" anchor="ctr">
            <a:spAutoFit/>
          </a:bodyPr>
          <a:lstStyle/>
          <a:p>
            <a:endParaRPr lang="en-US"/>
          </a:p>
        </p:txBody>
      </p:sp>
      <p:sp>
        <p:nvSpPr>
          <p:cNvPr id="13325" name="Oval 13"/>
          <p:cNvSpPr>
            <a:spLocks noChangeArrowheads="1"/>
          </p:cNvSpPr>
          <p:nvPr/>
        </p:nvSpPr>
        <p:spPr bwMode="gray">
          <a:xfrm>
            <a:off x="1406525" y="1633538"/>
            <a:ext cx="1481138" cy="1466850"/>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headEnd/>
            <a:tailEnd/>
          </a:ln>
          <a:effectLst/>
        </p:spPr>
        <p:txBody>
          <a:bodyPr anchor="ctr">
            <a:spAutoFit/>
          </a:bodyPr>
          <a:lstStyle/>
          <a:p>
            <a:endParaRPr lang="en-US"/>
          </a:p>
        </p:txBody>
      </p:sp>
      <p:sp>
        <p:nvSpPr>
          <p:cNvPr id="13326" name="Oval 14"/>
          <p:cNvSpPr>
            <a:spLocks noChangeArrowheads="1"/>
          </p:cNvSpPr>
          <p:nvPr/>
        </p:nvSpPr>
        <p:spPr bwMode="gray">
          <a:xfrm>
            <a:off x="1408113" y="1636713"/>
            <a:ext cx="1481137" cy="1466850"/>
          </a:xfrm>
          <a:prstGeom prst="ellipse">
            <a:avLst/>
          </a:prstGeom>
          <a:gradFill rotWithShape="1">
            <a:gsLst>
              <a:gs pos="0">
                <a:schemeClr val="folHlink">
                  <a:gamma/>
                  <a:shade val="63529"/>
                  <a:invGamma/>
                </a:schemeClr>
              </a:gs>
              <a:gs pos="100000">
                <a:schemeClr val="folHlink">
                  <a:alpha val="0"/>
                </a:schemeClr>
              </a:gs>
            </a:gsLst>
            <a:lin ang="2700000" scaled="1"/>
          </a:gradFill>
          <a:ln w="38100" algn="ctr">
            <a:noFill/>
            <a:round/>
            <a:headEnd/>
            <a:tailEnd/>
          </a:ln>
          <a:effectLst/>
        </p:spPr>
        <p:txBody>
          <a:bodyPr anchor="ctr">
            <a:spAutoFit/>
          </a:bodyPr>
          <a:lstStyle/>
          <a:p>
            <a:endParaRPr lang="en-US"/>
          </a:p>
        </p:txBody>
      </p:sp>
      <p:sp>
        <p:nvSpPr>
          <p:cNvPr id="13327" name="Oval 15"/>
          <p:cNvSpPr>
            <a:spLocks noChangeArrowheads="1"/>
          </p:cNvSpPr>
          <p:nvPr/>
        </p:nvSpPr>
        <p:spPr bwMode="gray">
          <a:xfrm>
            <a:off x="1481138" y="1708150"/>
            <a:ext cx="1333500" cy="1320800"/>
          </a:xfrm>
          <a:prstGeom prst="ellipse">
            <a:avLst/>
          </a:prstGeom>
          <a:solidFill>
            <a:srgbClr val="333333"/>
          </a:solidFill>
          <a:ln w="38100" algn="ctr">
            <a:noFill/>
            <a:round/>
            <a:headEnd/>
            <a:tailEnd/>
          </a:ln>
          <a:effectLst/>
        </p:spPr>
        <p:txBody>
          <a:bodyPr anchor="ctr">
            <a:spAutoFit/>
          </a:bodyPr>
          <a:lstStyle/>
          <a:p>
            <a:endParaRPr lang="en-US"/>
          </a:p>
        </p:txBody>
      </p:sp>
      <p:grpSp>
        <p:nvGrpSpPr>
          <p:cNvPr id="2" name="Group 16"/>
          <p:cNvGrpSpPr>
            <a:grpSpLocks/>
          </p:cNvGrpSpPr>
          <p:nvPr/>
        </p:nvGrpSpPr>
        <p:grpSpPr bwMode="auto">
          <a:xfrm>
            <a:off x="1524000" y="1752600"/>
            <a:ext cx="1290638" cy="1277938"/>
            <a:chOff x="4166" y="1706"/>
            <a:chExt cx="1252" cy="1252"/>
          </a:xfrm>
        </p:grpSpPr>
        <p:sp>
          <p:nvSpPr>
            <p:cNvPr id="13329" name="Oval 17"/>
            <p:cNvSpPr>
              <a:spLocks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en-US"/>
            </a:p>
          </p:txBody>
        </p:sp>
        <p:sp>
          <p:nvSpPr>
            <p:cNvPr id="13330" name="Oval 18"/>
            <p:cNvSpPr>
              <a:spLocks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en-US"/>
            </a:p>
          </p:txBody>
        </p:sp>
        <p:sp>
          <p:nvSpPr>
            <p:cNvPr id="13331" name="Oval 19"/>
            <p:cNvSpPr>
              <a:spLocks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en-US"/>
            </a:p>
          </p:txBody>
        </p:sp>
        <p:sp>
          <p:nvSpPr>
            <p:cNvPr id="13332" name="Oval 20"/>
            <p:cNvSpPr>
              <a:spLocks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en-US"/>
            </a:p>
          </p:txBody>
        </p:sp>
      </p:grpSp>
      <p:sp>
        <p:nvSpPr>
          <p:cNvPr id="13333" name="Oval 21"/>
          <p:cNvSpPr>
            <a:spLocks noChangeArrowheads="1"/>
          </p:cNvSpPr>
          <p:nvPr/>
        </p:nvSpPr>
        <p:spPr bwMode="gray">
          <a:xfrm>
            <a:off x="3759200" y="1528763"/>
            <a:ext cx="1703388" cy="1687512"/>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endParaRPr lang="en-US"/>
          </a:p>
        </p:txBody>
      </p:sp>
      <p:sp>
        <p:nvSpPr>
          <p:cNvPr id="13334" name="Oval 22"/>
          <p:cNvSpPr>
            <a:spLocks noChangeArrowheads="1"/>
          </p:cNvSpPr>
          <p:nvPr/>
        </p:nvSpPr>
        <p:spPr bwMode="gray">
          <a:xfrm>
            <a:off x="3759200" y="1528763"/>
            <a:ext cx="1703388" cy="1687512"/>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endParaRPr lang="en-US"/>
          </a:p>
        </p:txBody>
      </p:sp>
      <p:sp>
        <p:nvSpPr>
          <p:cNvPr id="13335" name="Oval 23"/>
          <p:cNvSpPr>
            <a:spLocks noChangeArrowheads="1"/>
          </p:cNvSpPr>
          <p:nvPr/>
        </p:nvSpPr>
        <p:spPr bwMode="gray">
          <a:xfrm>
            <a:off x="3870325" y="1639888"/>
            <a:ext cx="1481138" cy="1466850"/>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endParaRPr lang="en-US"/>
          </a:p>
        </p:txBody>
      </p:sp>
      <p:sp>
        <p:nvSpPr>
          <p:cNvPr id="13336" name="Oval 24"/>
          <p:cNvSpPr>
            <a:spLocks noChangeArrowheads="1"/>
          </p:cNvSpPr>
          <p:nvPr/>
        </p:nvSpPr>
        <p:spPr bwMode="gray">
          <a:xfrm>
            <a:off x="3871913" y="1641475"/>
            <a:ext cx="1481137" cy="1466850"/>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endParaRPr lang="en-US"/>
          </a:p>
        </p:txBody>
      </p:sp>
      <p:sp>
        <p:nvSpPr>
          <p:cNvPr id="13337" name="Oval 25"/>
          <p:cNvSpPr>
            <a:spLocks noChangeArrowheads="1"/>
          </p:cNvSpPr>
          <p:nvPr/>
        </p:nvSpPr>
        <p:spPr bwMode="gray">
          <a:xfrm>
            <a:off x="3943350" y="1711325"/>
            <a:ext cx="1333500" cy="1320800"/>
          </a:xfrm>
          <a:prstGeom prst="ellipse">
            <a:avLst/>
          </a:prstGeom>
          <a:solidFill>
            <a:srgbClr val="333333"/>
          </a:solidFill>
          <a:ln w="38100" algn="ctr">
            <a:noFill/>
            <a:round/>
            <a:headEnd/>
            <a:tailEnd/>
          </a:ln>
          <a:effectLst/>
        </p:spPr>
        <p:txBody>
          <a:bodyPr anchor="ctr">
            <a:spAutoFit/>
          </a:bodyPr>
          <a:lstStyle/>
          <a:p>
            <a:endParaRPr lang="en-US"/>
          </a:p>
        </p:txBody>
      </p:sp>
      <p:grpSp>
        <p:nvGrpSpPr>
          <p:cNvPr id="3" name="Group 26"/>
          <p:cNvGrpSpPr>
            <a:grpSpLocks/>
          </p:cNvGrpSpPr>
          <p:nvPr/>
        </p:nvGrpSpPr>
        <p:grpSpPr bwMode="auto">
          <a:xfrm>
            <a:off x="3962400" y="1752600"/>
            <a:ext cx="1290638" cy="1277938"/>
            <a:chOff x="4166" y="1706"/>
            <a:chExt cx="1252" cy="1252"/>
          </a:xfrm>
        </p:grpSpPr>
        <p:sp>
          <p:nvSpPr>
            <p:cNvPr id="13339" name="Oval 27"/>
            <p:cNvSpPr>
              <a:spLocks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en-US"/>
            </a:p>
          </p:txBody>
        </p:sp>
        <p:sp>
          <p:nvSpPr>
            <p:cNvPr id="13340" name="Oval 28"/>
            <p:cNvSpPr>
              <a:spLocks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en-US"/>
            </a:p>
          </p:txBody>
        </p:sp>
        <p:sp>
          <p:nvSpPr>
            <p:cNvPr id="13341" name="Oval 29"/>
            <p:cNvSpPr>
              <a:spLocks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en-US"/>
            </a:p>
          </p:txBody>
        </p:sp>
        <p:sp>
          <p:nvSpPr>
            <p:cNvPr id="13342" name="Oval 30"/>
            <p:cNvSpPr>
              <a:spLocks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en-US"/>
            </a:p>
          </p:txBody>
        </p:sp>
      </p:grpSp>
      <p:grpSp>
        <p:nvGrpSpPr>
          <p:cNvPr id="4" name="Group 31"/>
          <p:cNvGrpSpPr>
            <a:grpSpLocks/>
          </p:cNvGrpSpPr>
          <p:nvPr/>
        </p:nvGrpSpPr>
        <p:grpSpPr bwMode="auto">
          <a:xfrm>
            <a:off x="6435725" y="1727200"/>
            <a:ext cx="1292225" cy="1277938"/>
            <a:chOff x="4166" y="1706"/>
            <a:chExt cx="1252" cy="1252"/>
          </a:xfrm>
        </p:grpSpPr>
        <p:sp>
          <p:nvSpPr>
            <p:cNvPr id="13344" name="Oval 32"/>
            <p:cNvSpPr>
              <a:spLocks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en-US"/>
            </a:p>
          </p:txBody>
        </p:sp>
        <p:sp>
          <p:nvSpPr>
            <p:cNvPr id="13345" name="Oval 33"/>
            <p:cNvSpPr>
              <a:spLocks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en-US"/>
            </a:p>
          </p:txBody>
        </p:sp>
        <p:sp>
          <p:nvSpPr>
            <p:cNvPr id="13346" name="Oval 34"/>
            <p:cNvSpPr>
              <a:spLocks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en-US"/>
            </a:p>
          </p:txBody>
        </p:sp>
        <p:sp>
          <p:nvSpPr>
            <p:cNvPr id="13347" name="Oval 35"/>
            <p:cNvSpPr>
              <a:spLocks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en-US"/>
            </a:p>
          </p:txBody>
        </p:sp>
      </p:grpSp>
      <p:sp>
        <p:nvSpPr>
          <p:cNvPr id="13348" name="Text Box 36"/>
          <p:cNvSpPr txBox="1">
            <a:spLocks noChangeArrowheads="1"/>
          </p:cNvSpPr>
          <p:nvPr/>
        </p:nvSpPr>
        <p:spPr bwMode="gray">
          <a:xfrm>
            <a:off x="1447800" y="1981200"/>
            <a:ext cx="1524000" cy="762000"/>
          </a:xfrm>
          <a:prstGeom prst="rect">
            <a:avLst/>
          </a:prstGeom>
          <a:noFill/>
          <a:ln w="9525" algn="ctr">
            <a:noFill/>
            <a:miter lim="800000"/>
            <a:headEnd/>
            <a:tailEnd/>
          </a:ln>
          <a:effectLst/>
        </p:spPr>
        <p:txBody>
          <a:bodyPr>
            <a:spAutoFit/>
          </a:bodyPr>
          <a:lstStyle/>
          <a:p>
            <a:pPr algn="ctr" eaLnBrk="0" hangingPunct="0"/>
            <a:r>
              <a:rPr lang="en-US" sz="2200" b="1" i="1" dirty="0" err="1">
                <a:solidFill>
                  <a:srgbClr val="0033CC"/>
                </a:solidFill>
              </a:rPr>
              <a:t>Chăm</a:t>
            </a:r>
            <a:r>
              <a:rPr lang="en-US" sz="2200" b="1" i="1" dirty="0">
                <a:solidFill>
                  <a:srgbClr val="0033CC"/>
                </a:solidFill>
              </a:rPr>
              <a:t> </a:t>
            </a:r>
            <a:r>
              <a:rPr lang="en-US" sz="2200" b="1" i="1" dirty="0" err="1">
                <a:solidFill>
                  <a:srgbClr val="0033CC"/>
                </a:solidFill>
              </a:rPr>
              <a:t>sóc</a:t>
            </a:r>
            <a:r>
              <a:rPr lang="en-US" sz="2200" b="1" i="1" dirty="0">
                <a:solidFill>
                  <a:srgbClr val="0033CC"/>
                </a:solidFill>
              </a:rPr>
              <a:t> </a:t>
            </a:r>
            <a:r>
              <a:rPr lang="en-US" sz="2200" b="1" i="1" dirty="0" err="1">
                <a:solidFill>
                  <a:srgbClr val="0033CC"/>
                </a:solidFill>
              </a:rPr>
              <a:t>gia</a:t>
            </a:r>
            <a:r>
              <a:rPr lang="en-US" sz="2200" b="1" i="1" dirty="0">
                <a:solidFill>
                  <a:srgbClr val="0033CC"/>
                </a:solidFill>
              </a:rPr>
              <a:t> </a:t>
            </a:r>
            <a:r>
              <a:rPr lang="en-US" sz="2200" b="1" i="1" dirty="0" err="1">
                <a:solidFill>
                  <a:srgbClr val="0033CC"/>
                </a:solidFill>
              </a:rPr>
              <a:t>đình</a:t>
            </a:r>
            <a:endParaRPr lang="en-US" sz="2200" b="1" i="1" dirty="0">
              <a:solidFill>
                <a:srgbClr val="0033CC"/>
              </a:solidFill>
            </a:endParaRPr>
          </a:p>
        </p:txBody>
      </p:sp>
      <p:sp>
        <p:nvSpPr>
          <p:cNvPr id="13349" name="Text Box 37"/>
          <p:cNvSpPr txBox="1">
            <a:spLocks noChangeArrowheads="1"/>
          </p:cNvSpPr>
          <p:nvPr/>
        </p:nvSpPr>
        <p:spPr bwMode="gray">
          <a:xfrm>
            <a:off x="3832225" y="2005013"/>
            <a:ext cx="1598613" cy="762000"/>
          </a:xfrm>
          <a:prstGeom prst="rect">
            <a:avLst/>
          </a:prstGeom>
          <a:noFill/>
          <a:ln w="9525" algn="ctr">
            <a:noFill/>
            <a:miter lim="800000"/>
            <a:headEnd/>
            <a:tailEnd/>
          </a:ln>
          <a:effectLst/>
        </p:spPr>
        <p:txBody>
          <a:bodyPr wrap="none">
            <a:spAutoFit/>
          </a:bodyPr>
          <a:lstStyle/>
          <a:p>
            <a:pPr algn="ctr" eaLnBrk="0" hangingPunct="0"/>
            <a:r>
              <a:rPr lang="en-US" sz="2200" b="1" i="1">
                <a:solidFill>
                  <a:srgbClr val="0033CC"/>
                </a:solidFill>
              </a:rPr>
              <a:t>Chăm sóc </a:t>
            </a:r>
          </a:p>
          <a:p>
            <a:pPr algn="ctr" eaLnBrk="0" hangingPunct="0"/>
            <a:r>
              <a:rPr lang="en-US" sz="2200" b="1" i="1">
                <a:solidFill>
                  <a:srgbClr val="0033CC"/>
                </a:solidFill>
              </a:rPr>
              <a:t>cá nhân</a:t>
            </a:r>
          </a:p>
        </p:txBody>
      </p:sp>
      <p:sp>
        <p:nvSpPr>
          <p:cNvPr id="13350" name="Text Box 38"/>
          <p:cNvSpPr txBox="1">
            <a:spLocks noChangeArrowheads="1"/>
          </p:cNvSpPr>
          <p:nvPr/>
        </p:nvSpPr>
        <p:spPr bwMode="gray">
          <a:xfrm>
            <a:off x="6553200" y="1981200"/>
            <a:ext cx="1016625" cy="769441"/>
          </a:xfrm>
          <a:prstGeom prst="rect">
            <a:avLst/>
          </a:prstGeom>
          <a:noFill/>
          <a:ln w="9525" algn="ctr">
            <a:noFill/>
            <a:miter lim="800000"/>
            <a:headEnd/>
            <a:tailEnd/>
          </a:ln>
          <a:effectLst/>
        </p:spPr>
        <p:txBody>
          <a:bodyPr wrap="none">
            <a:spAutoFit/>
          </a:bodyPr>
          <a:lstStyle/>
          <a:p>
            <a:pPr algn="ctr" eaLnBrk="0" hangingPunct="0"/>
            <a:r>
              <a:rPr lang="en-US" sz="2200" b="1" i="1" dirty="0" err="1">
                <a:solidFill>
                  <a:srgbClr val="0033CC"/>
                </a:solidFill>
              </a:rPr>
              <a:t>Thực</a:t>
            </a:r>
            <a:endParaRPr lang="en-US" sz="2200" b="1" i="1" dirty="0">
              <a:solidFill>
                <a:srgbClr val="0033CC"/>
              </a:solidFill>
            </a:endParaRPr>
          </a:p>
          <a:p>
            <a:pPr algn="ctr" eaLnBrk="0" hangingPunct="0"/>
            <a:r>
              <a:rPr lang="en-US" sz="2200" b="1" i="1" dirty="0">
                <a:solidFill>
                  <a:srgbClr val="0033CC"/>
                </a:solidFill>
              </a:rPr>
              <a:t> </a:t>
            </a:r>
            <a:r>
              <a:rPr lang="en-US" sz="2200" b="1" i="1" dirty="0" err="1">
                <a:solidFill>
                  <a:srgbClr val="0033CC"/>
                </a:solidFill>
              </a:rPr>
              <a:t>phẩm</a:t>
            </a:r>
            <a:endParaRPr lang="en-US" sz="2200" b="1" i="1" dirty="0">
              <a:solidFill>
                <a:srgbClr val="0033CC"/>
              </a:solidFill>
            </a:endParaRPr>
          </a:p>
        </p:txBody>
      </p:sp>
      <p:pic>
        <p:nvPicPr>
          <p:cNvPr id="13351" name="Picture 39" descr="2986764900_78d46bcfc7_o"/>
          <p:cNvPicPr>
            <a:picLocks noChangeAspect="1" noChangeArrowheads="1"/>
          </p:cNvPicPr>
          <p:nvPr/>
        </p:nvPicPr>
        <p:blipFill>
          <a:blip r:embed="rId2" cstate="print"/>
          <a:srcRect/>
          <a:stretch>
            <a:fillRect/>
          </a:stretch>
        </p:blipFill>
        <p:spPr bwMode="auto">
          <a:xfrm>
            <a:off x="0" y="0"/>
            <a:ext cx="1524000" cy="1741714"/>
          </a:xfrm>
          <a:prstGeom prst="rect">
            <a:avLst/>
          </a:prstGeom>
          <a:noFill/>
        </p:spPr>
      </p:pic>
      <p:grpSp>
        <p:nvGrpSpPr>
          <p:cNvPr id="5" name="Group 41"/>
          <p:cNvGrpSpPr>
            <a:grpSpLocks/>
          </p:cNvGrpSpPr>
          <p:nvPr/>
        </p:nvGrpSpPr>
        <p:grpSpPr bwMode="auto">
          <a:xfrm>
            <a:off x="1524000" y="1752600"/>
            <a:ext cx="1290638" cy="1277938"/>
            <a:chOff x="4166" y="1706"/>
            <a:chExt cx="1252" cy="1252"/>
          </a:xfrm>
        </p:grpSpPr>
        <p:sp>
          <p:nvSpPr>
            <p:cNvPr id="13354" name="Oval 42"/>
            <p:cNvSpPr>
              <a:spLocks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en-US"/>
            </a:p>
          </p:txBody>
        </p:sp>
        <p:sp>
          <p:nvSpPr>
            <p:cNvPr id="13355" name="Oval 43"/>
            <p:cNvSpPr>
              <a:spLocks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en-US"/>
            </a:p>
          </p:txBody>
        </p:sp>
        <p:sp>
          <p:nvSpPr>
            <p:cNvPr id="13356" name="Oval 44"/>
            <p:cNvSpPr>
              <a:spLocks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en-US"/>
            </a:p>
          </p:txBody>
        </p:sp>
        <p:sp>
          <p:nvSpPr>
            <p:cNvPr id="13357" name="Oval 45"/>
            <p:cNvSpPr>
              <a:spLocks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en-US"/>
            </a:p>
          </p:txBody>
        </p:sp>
      </p:grpSp>
      <p:sp>
        <p:nvSpPr>
          <p:cNvPr id="13359" name="Text Box 47"/>
          <p:cNvSpPr txBox="1">
            <a:spLocks noChangeArrowheads="1"/>
          </p:cNvSpPr>
          <p:nvPr/>
        </p:nvSpPr>
        <p:spPr bwMode="gray">
          <a:xfrm>
            <a:off x="1411288" y="1944688"/>
            <a:ext cx="1524000" cy="762000"/>
          </a:xfrm>
          <a:prstGeom prst="rect">
            <a:avLst/>
          </a:prstGeom>
          <a:noFill/>
          <a:ln w="9525" algn="ctr">
            <a:noFill/>
            <a:miter lim="800000"/>
            <a:headEnd/>
            <a:tailEnd/>
          </a:ln>
          <a:effectLst/>
        </p:spPr>
        <p:txBody>
          <a:bodyPr>
            <a:spAutoFit/>
          </a:bodyPr>
          <a:lstStyle/>
          <a:p>
            <a:pPr algn="ctr" eaLnBrk="0" hangingPunct="0"/>
            <a:r>
              <a:rPr lang="en-US" sz="2200" b="1" i="1">
                <a:solidFill>
                  <a:srgbClr val="0033CC"/>
                </a:solidFill>
              </a:rPr>
              <a:t>Chăm sóc gia đình</a:t>
            </a:r>
          </a:p>
        </p:txBody>
      </p:sp>
      <p:pic>
        <p:nvPicPr>
          <p:cNvPr id="21506" name="Picture 2" descr="http://www.burorama.com/BuroramaImages/Product/2009319154842754.jpg"/>
          <p:cNvPicPr>
            <a:picLocks noChangeAspect="1" noChangeArrowheads="1"/>
          </p:cNvPicPr>
          <p:nvPr/>
        </p:nvPicPr>
        <p:blipFill>
          <a:blip r:embed="rId3" cstate="print"/>
          <a:srcRect/>
          <a:stretch>
            <a:fillRect/>
          </a:stretch>
        </p:blipFill>
        <p:spPr bwMode="auto">
          <a:xfrm>
            <a:off x="2438400" y="5638800"/>
            <a:ext cx="628650" cy="628650"/>
          </a:xfrm>
          <a:prstGeom prst="rect">
            <a:avLst/>
          </a:prstGeom>
          <a:noFill/>
        </p:spPr>
      </p:pic>
      <p:pic>
        <p:nvPicPr>
          <p:cNvPr id="21508" name="Picture 4" descr="http://thatgia.vn/images/stories/tieudung/nuocxavaide.jpg"/>
          <p:cNvPicPr>
            <a:picLocks noChangeAspect="1" noChangeArrowheads="1"/>
          </p:cNvPicPr>
          <p:nvPr/>
        </p:nvPicPr>
        <p:blipFill>
          <a:blip r:embed="rId4" cstate="print"/>
          <a:srcRect/>
          <a:stretch>
            <a:fillRect/>
          </a:stretch>
        </p:blipFill>
        <p:spPr bwMode="auto">
          <a:xfrm>
            <a:off x="1219200" y="5562600"/>
            <a:ext cx="762000" cy="762000"/>
          </a:xfrm>
          <a:prstGeom prst="rect">
            <a:avLst/>
          </a:prstGeom>
          <a:noFill/>
        </p:spPr>
      </p:pic>
      <p:pic>
        <p:nvPicPr>
          <p:cNvPr id="21510" name="Picture 6" descr="http://easyonline.vn/images/news_img/0c55d9ccfaebc7d4fee4537592b29109.jpg"/>
          <p:cNvPicPr>
            <a:picLocks noChangeAspect="1" noChangeArrowheads="1"/>
          </p:cNvPicPr>
          <p:nvPr/>
        </p:nvPicPr>
        <p:blipFill>
          <a:blip r:embed="rId5" cstate="print"/>
          <a:srcRect/>
          <a:stretch>
            <a:fillRect/>
          </a:stretch>
        </p:blipFill>
        <p:spPr bwMode="auto">
          <a:xfrm>
            <a:off x="5181600" y="5638800"/>
            <a:ext cx="533400" cy="617220"/>
          </a:xfrm>
          <a:prstGeom prst="rect">
            <a:avLst/>
          </a:prstGeom>
          <a:noFill/>
        </p:spPr>
      </p:pic>
      <p:pic>
        <p:nvPicPr>
          <p:cNvPr id="21512" name="Picture 8" descr="http://haihadaklak.com.vn/uploads/shops/2012_10/zdq1317706607.jpg"/>
          <p:cNvPicPr>
            <a:picLocks noChangeAspect="1" noChangeArrowheads="1"/>
          </p:cNvPicPr>
          <p:nvPr/>
        </p:nvPicPr>
        <p:blipFill>
          <a:blip r:embed="rId6" cstate="print"/>
          <a:srcRect/>
          <a:stretch>
            <a:fillRect/>
          </a:stretch>
        </p:blipFill>
        <p:spPr bwMode="auto">
          <a:xfrm>
            <a:off x="4495800" y="5715000"/>
            <a:ext cx="609600" cy="609600"/>
          </a:xfrm>
          <a:prstGeom prst="rect">
            <a:avLst/>
          </a:prstGeom>
          <a:noFill/>
        </p:spPr>
      </p:pic>
      <p:pic>
        <p:nvPicPr>
          <p:cNvPr id="21514" name="Picture 10" descr="http://kienthucgiadinh.com.vn/data/upload/images/20120425/20824257_images1699596_san-pham-lipton-1.jpg"/>
          <p:cNvPicPr>
            <a:picLocks noChangeAspect="1" noChangeArrowheads="1"/>
          </p:cNvPicPr>
          <p:nvPr/>
        </p:nvPicPr>
        <p:blipFill>
          <a:blip r:embed="rId7" cstate="print"/>
          <a:srcRect/>
          <a:stretch>
            <a:fillRect/>
          </a:stretch>
        </p:blipFill>
        <p:spPr bwMode="auto">
          <a:xfrm>
            <a:off x="7239000" y="5562600"/>
            <a:ext cx="1078818" cy="752476"/>
          </a:xfrm>
          <a:prstGeom prst="rect">
            <a:avLst/>
          </a:prstGeom>
          <a:noFill/>
        </p:spPr>
      </p:pic>
      <p:pic>
        <p:nvPicPr>
          <p:cNvPr id="21516" name="Picture 12" descr="http://www.thesavanna.co.uk/media/catalog/product/cache/1/image/9df78eab33525d08d6e5fb8d27136e95/f/i/file_105.jpg"/>
          <p:cNvPicPr>
            <a:picLocks noChangeAspect="1" noChangeArrowheads="1"/>
          </p:cNvPicPr>
          <p:nvPr/>
        </p:nvPicPr>
        <p:blipFill>
          <a:blip r:embed="rId8" cstate="print"/>
          <a:srcRect/>
          <a:stretch>
            <a:fillRect/>
          </a:stretch>
        </p:blipFill>
        <p:spPr bwMode="auto">
          <a:xfrm>
            <a:off x="6324600" y="5410200"/>
            <a:ext cx="948488" cy="819149"/>
          </a:xfrm>
          <a:prstGeom prst="rect">
            <a:avLst/>
          </a:prstGeom>
          <a:noFill/>
        </p:spPr>
      </p:pic>
      <p:sp>
        <p:nvSpPr>
          <p:cNvPr id="52" name="Title 51"/>
          <p:cNvSpPr>
            <a:spLocks noGrp="1"/>
          </p:cNvSpPr>
          <p:nvPr>
            <p:ph type="title"/>
          </p:nvPr>
        </p:nvSpPr>
        <p:spPr>
          <a:xfrm>
            <a:off x="1447800" y="152400"/>
            <a:ext cx="7467600" cy="1143000"/>
          </a:xfrm>
        </p:spPr>
        <p:style>
          <a:lnRef idx="3">
            <a:schemeClr val="lt1"/>
          </a:lnRef>
          <a:fillRef idx="1">
            <a:schemeClr val="accent3"/>
          </a:fillRef>
          <a:effectRef idx="1">
            <a:schemeClr val="accent3"/>
          </a:effectRef>
          <a:fontRef idx="minor">
            <a:schemeClr val="lt1"/>
          </a:fontRef>
        </p:style>
        <p:txBody>
          <a:bodyPr/>
          <a:lstStyle/>
          <a:p>
            <a:r>
              <a:rPr lang="en-US"/>
              <a:t>Danh mục sản phẩm Unilever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style>
          <a:lnRef idx="3">
            <a:schemeClr val="lt1"/>
          </a:lnRef>
          <a:fillRef idx="1">
            <a:schemeClr val="accent3"/>
          </a:fillRef>
          <a:effectRef idx="1">
            <a:schemeClr val="accent3"/>
          </a:effectRef>
          <a:fontRef idx="minor">
            <a:schemeClr val="lt1"/>
          </a:fontRef>
        </p:style>
        <p:txBody>
          <a:bodyPr>
            <a:normAutofit/>
          </a:bodyPr>
          <a:lstStyle/>
          <a:p>
            <a:r>
              <a:rPr lang="en-US" sz="3600"/>
              <a:t>Danh mục sản phẩm của P&amp;G</a:t>
            </a:r>
          </a:p>
        </p:txBody>
      </p:sp>
      <p:sp>
        <p:nvSpPr>
          <p:cNvPr id="3" name="Content Placeholder 2"/>
          <p:cNvSpPr>
            <a:spLocks noGrp="1"/>
          </p:cNvSpPr>
          <p:nvPr>
            <p:ph idx="1"/>
          </p:nvPr>
        </p:nvSpPr>
        <p:spPr/>
        <p:txBody>
          <a:bodyPr/>
          <a:lstStyle/>
          <a:p>
            <a:endParaRPr lang="en-US"/>
          </a:p>
        </p:txBody>
      </p:sp>
      <p:sp>
        <p:nvSpPr>
          <p:cNvPr id="6" name="Text Box 2"/>
          <p:cNvSpPr txBox="1">
            <a:spLocks noChangeArrowheads="1"/>
          </p:cNvSpPr>
          <p:nvPr/>
        </p:nvSpPr>
        <p:spPr bwMode="auto">
          <a:xfrm>
            <a:off x="103239" y="2133600"/>
            <a:ext cx="8908025" cy="3231654"/>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a:spAutoFit/>
          </a:bodyPr>
          <a:lstStyle/>
          <a:p>
            <a:pPr>
              <a:lnSpc>
                <a:spcPct val="80000"/>
              </a:lnSpc>
              <a:spcBef>
                <a:spcPct val="70000"/>
              </a:spcBef>
            </a:pPr>
            <a:r>
              <a:rPr lang="en-US" sz="2400" noProof="1">
                <a:solidFill>
                  <a:srgbClr val="FF0000"/>
                </a:solidFill>
                <a:latin typeface="Times New Roman" pitchFamily="18" charset="0"/>
                <a:cs typeface="Times New Roman" pitchFamily="18" charset="0"/>
              </a:rPr>
              <a:t>BỘT GIẶT	 XÀ PHONG DẦU GỘI ĐẦU     KEM ĐÁNH RĂNG</a:t>
            </a:r>
          </a:p>
          <a:p>
            <a:pPr>
              <a:lnSpc>
                <a:spcPct val="60000"/>
              </a:lnSpc>
              <a:spcBef>
                <a:spcPct val="50000"/>
              </a:spcBef>
            </a:pPr>
            <a:r>
              <a:rPr lang="en-US" sz="2400" noProof="1">
                <a:solidFill>
                  <a:srgbClr val="FF0000"/>
                </a:solidFill>
                <a:latin typeface="Times New Roman" pitchFamily="18" charset="0"/>
                <a:cs typeface="Times New Roman" pitchFamily="18" charset="0"/>
              </a:rPr>
              <a:t>- Ivory snow	- Ivory		- Pantene	- Gleem	</a:t>
            </a:r>
          </a:p>
          <a:p>
            <a:pPr>
              <a:lnSpc>
                <a:spcPct val="60000"/>
              </a:lnSpc>
              <a:spcBef>
                <a:spcPct val="50000"/>
              </a:spcBef>
            </a:pPr>
            <a:r>
              <a:rPr lang="en-US" sz="2400" noProof="1">
                <a:solidFill>
                  <a:srgbClr val="FF0000"/>
                </a:solidFill>
                <a:latin typeface="Times New Roman" pitchFamily="18" charset="0"/>
                <a:cs typeface="Times New Roman" pitchFamily="18" charset="0"/>
              </a:rPr>
              <a:t>- Dreft		- Kirk’s	- Pert		- Crest</a:t>
            </a:r>
          </a:p>
          <a:p>
            <a:pPr>
              <a:lnSpc>
                <a:spcPct val="60000"/>
              </a:lnSpc>
              <a:spcBef>
                <a:spcPct val="50000"/>
              </a:spcBef>
            </a:pPr>
            <a:r>
              <a:rPr lang="en-US" sz="2400" noProof="1">
                <a:solidFill>
                  <a:srgbClr val="FF0000"/>
                </a:solidFill>
                <a:latin typeface="Times New Roman" pitchFamily="18" charset="0"/>
                <a:cs typeface="Times New Roman" pitchFamily="18" charset="0"/>
              </a:rPr>
              <a:t>- Tide		- Lava		- Organic	- Denquel	</a:t>
            </a:r>
          </a:p>
          <a:p>
            <a:pPr>
              <a:lnSpc>
                <a:spcPct val="60000"/>
              </a:lnSpc>
              <a:spcBef>
                <a:spcPct val="50000"/>
              </a:spcBef>
            </a:pPr>
            <a:r>
              <a:rPr lang="en-US" sz="2400" noProof="1">
                <a:solidFill>
                  <a:srgbClr val="FF0000"/>
                </a:solidFill>
                <a:latin typeface="Times New Roman" pitchFamily="18" charset="0"/>
                <a:cs typeface="Times New Roman" pitchFamily="18" charset="0"/>
              </a:rPr>
              <a:t>- Cheer		- Camay	- H &amp; S</a:t>
            </a:r>
          </a:p>
          <a:p>
            <a:pPr>
              <a:lnSpc>
                <a:spcPct val="60000"/>
              </a:lnSpc>
              <a:spcBef>
                <a:spcPct val="50000"/>
              </a:spcBef>
            </a:pPr>
            <a:r>
              <a:rPr lang="en-US" sz="2400" noProof="1">
                <a:solidFill>
                  <a:srgbClr val="FF0000"/>
                </a:solidFill>
                <a:latin typeface="Times New Roman" pitchFamily="18" charset="0"/>
                <a:cs typeface="Times New Roman" pitchFamily="18" charset="0"/>
              </a:rPr>
              <a:t>- Oxydol	- Zest	</a:t>
            </a:r>
          </a:p>
          <a:p>
            <a:pPr>
              <a:lnSpc>
                <a:spcPct val="60000"/>
              </a:lnSpc>
              <a:spcBef>
                <a:spcPct val="50000"/>
              </a:spcBef>
            </a:pPr>
            <a:r>
              <a:rPr lang="en-US" sz="2400" noProof="1">
                <a:solidFill>
                  <a:srgbClr val="FF0000"/>
                </a:solidFill>
                <a:latin typeface="Times New Roman" pitchFamily="18" charset="0"/>
                <a:cs typeface="Times New Roman" pitchFamily="18" charset="0"/>
              </a:rPr>
              <a:t>- Dash		- Safeguard</a:t>
            </a:r>
          </a:p>
          <a:p>
            <a:pPr>
              <a:lnSpc>
                <a:spcPct val="60000"/>
              </a:lnSpc>
              <a:spcBef>
                <a:spcPct val="50000"/>
              </a:spcBef>
            </a:pPr>
            <a:r>
              <a:rPr lang="en-US" sz="2400" noProof="1">
                <a:solidFill>
                  <a:srgbClr val="FF0000"/>
                </a:solidFill>
                <a:latin typeface="Times New Roman" pitchFamily="18" charset="0"/>
                <a:cs typeface="Times New Roman" pitchFamily="18" charset="0"/>
              </a:rPr>
              <a:t>		- Coast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idx="1"/>
          </p:nvPr>
        </p:nvSpPr>
        <p:spPr>
          <a:xfrm>
            <a:off x="304800" y="914400"/>
            <a:ext cx="5791200" cy="4648200"/>
          </a:xfrm>
          <a:noFill/>
        </p:spPr>
        <p:txBody>
          <a:bodyPr lIns="92075" tIns="46038" rIns="92075" bIns="46038">
            <a:normAutofit/>
          </a:bodyPr>
          <a:lstStyle/>
          <a:p>
            <a:pPr eaLnBrk="1" hangingPunct="1">
              <a:lnSpc>
                <a:spcPct val="105000"/>
              </a:lnSpc>
              <a:spcBef>
                <a:spcPct val="25000"/>
              </a:spcBef>
            </a:pPr>
            <a:r>
              <a:rPr lang="en-US" sz="2400">
                <a:latin typeface="Arial" charset="0"/>
              </a:rPr>
              <a:t> </a:t>
            </a:r>
            <a:r>
              <a:rPr lang="en-US" sz="2800" b="1">
                <a:latin typeface="Arial" charset="0"/>
              </a:rPr>
              <a:t>Quyết định danh mục sản phẩm </a:t>
            </a:r>
            <a:r>
              <a:rPr lang="en-US" sz="2400">
                <a:latin typeface="Arial" charset="0"/>
              </a:rPr>
              <a:t>(Production mix)</a:t>
            </a:r>
          </a:p>
          <a:p>
            <a:pPr lvl="1">
              <a:lnSpc>
                <a:spcPct val="105000"/>
              </a:lnSpc>
              <a:spcBef>
                <a:spcPct val="25000"/>
              </a:spcBef>
            </a:pPr>
            <a:r>
              <a:rPr lang="en-US" b="1">
                <a:solidFill>
                  <a:srgbClr val="FF0000"/>
                </a:solidFill>
                <a:latin typeface="Arial" charset="0"/>
              </a:rPr>
              <a:t>Chiều rộng danh mục </a:t>
            </a:r>
            <a:r>
              <a:rPr lang="en-US">
                <a:latin typeface="Arial" charset="0"/>
              </a:rPr>
              <a:t>: số chủng loại SP có trong danh mục. </a:t>
            </a:r>
          </a:p>
          <a:p>
            <a:pPr lvl="1">
              <a:lnSpc>
                <a:spcPct val="105000"/>
              </a:lnSpc>
              <a:spcBef>
                <a:spcPct val="25000"/>
              </a:spcBef>
            </a:pPr>
            <a:r>
              <a:rPr lang="en-US" b="1">
                <a:solidFill>
                  <a:srgbClr val="FF0000"/>
                </a:solidFill>
                <a:latin typeface="Arial" charset="0"/>
              </a:rPr>
              <a:t>Chiều dài danh mục </a:t>
            </a:r>
            <a:r>
              <a:rPr lang="en-US">
                <a:latin typeface="Arial" charset="0"/>
              </a:rPr>
              <a:t>: tổng số         mặt hàng trong danh mục SP</a:t>
            </a:r>
          </a:p>
          <a:p>
            <a:pPr lvl="1">
              <a:lnSpc>
                <a:spcPct val="105000"/>
              </a:lnSpc>
              <a:spcBef>
                <a:spcPct val="25000"/>
              </a:spcBef>
            </a:pPr>
            <a:r>
              <a:rPr lang="en-US" b="1">
                <a:solidFill>
                  <a:srgbClr val="FF0000"/>
                </a:solidFill>
                <a:latin typeface="Arial" charset="0"/>
              </a:rPr>
              <a:t>Chiều sâu danh mục </a:t>
            </a:r>
            <a:r>
              <a:rPr lang="en-US">
                <a:latin typeface="Arial" charset="0"/>
              </a:rPr>
              <a:t>: tổng số        mặt hàng trong từng nhãn hiệu</a:t>
            </a:r>
          </a:p>
          <a:p>
            <a:pPr lvl="1">
              <a:lnSpc>
                <a:spcPct val="105000"/>
              </a:lnSpc>
              <a:spcBef>
                <a:spcPct val="25000"/>
              </a:spcBef>
            </a:pPr>
            <a:r>
              <a:rPr lang="en-US" b="1">
                <a:solidFill>
                  <a:srgbClr val="FF0000"/>
                </a:solidFill>
                <a:latin typeface="Arial" charset="0"/>
              </a:rPr>
              <a:t>Tính đồng nhất danh mục </a:t>
            </a:r>
            <a:r>
              <a:rPr lang="en-US" b="1">
                <a:latin typeface="Arial" charset="0"/>
              </a:rPr>
              <a:t>:</a:t>
            </a:r>
            <a:r>
              <a:rPr lang="en-US">
                <a:latin typeface="Arial" charset="0"/>
              </a:rPr>
              <a:t>           </a:t>
            </a:r>
            <a:r>
              <a:rPr lang="en-US"/>
              <a:t>mức độ mà các SP khác nhau trong chủng loại sp quan hệ với nhau về mục đích sử dụng, các yêucầu về SX, kênh phân phối, công nghệ sx….</a:t>
            </a:r>
          </a:p>
        </p:txBody>
      </p:sp>
      <p:sp>
        <p:nvSpPr>
          <p:cNvPr id="58372" name="Rectangle 4"/>
          <p:cNvSpPr>
            <a:spLocks noChangeArrowheads="1"/>
          </p:cNvSpPr>
          <p:nvPr/>
        </p:nvSpPr>
        <p:spPr bwMode="auto">
          <a:xfrm>
            <a:off x="5562600" y="5638800"/>
            <a:ext cx="3200400" cy="609600"/>
          </a:xfrm>
          <a:prstGeom prst="rect">
            <a:avLst/>
          </a:prstGeom>
          <a:noFill/>
          <a:ln w="12700">
            <a:solidFill>
              <a:srgbClr val="CC0000"/>
            </a:solidFill>
            <a:miter lim="800000"/>
            <a:headEnd/>
            <a:tailEnd/>
          </a:ln>
          <a:effectLst>
            <a:prstShdw prst="shdw17" dist="17961" dir="2700000">
              <a:schemeClr val="tx2"/>
            </a:prstShdw>
          </a:effectLst>
        </p:spPr>
        <p:txBody>
          <a:bodyPr wrap="none" anchor="ctr"/>
          <a:lstStyle/>
          <a:p>
            <a:pPr algn="ctr" eaLnBrk="0" hangingPunct="0"/>
            <a:r>
              <a:rPr lang="en-US" sz="2400" b="1">
                <a:solidFill>
                  <a:srgbClr val="CC0000"/>
                </a:solidFill>
                <a:latin typeface="Arial" charset="0"/>
              </a:rPr>
              <a:t>Chiến lược sản phẩm</a:t>
            </a:r>
            <a:endParaRPr lang="en-US" sz="2400">
              <a:solidFill>
                <a:srgbClr val="CC0000"/>
              </a:solidFill>
              <a:latin typeface="Arial" charset="0"/>
            </a:endParaRPr>
          </a:p>
        </p:txBody>
      </p:sp>
      <p:sp>
        <p:nvSpPr>
          <p:cNvPr id="58373" name="Line 5"/>
          <p:cNvSpPr>
            <a:spLocks noChangeShapeType="1"/>
          </p:cNvSpPr>
          <p:nvPr/>
        </p:nvSpPr>
        <p:spPr bwMode="auto">
          <a:xfrm>
            <a:off x="6400800" y="4114800"/>
            <a:ext cx="0" cy="1524000"/>
          </a:xfrm>
          <a:prstGeom prst="line">
            <a:avLst/>
          </a:prstGeom>
          <a:noFill/>
          <a:ln w="57150">
            <a:solidFill>
              <a:srgbClr val="CC0000"/>
            </a:solidFill>
            <a:round/>
            <a:headEnd type="arrow" w="med" len="med"/>
            <a:tailEnd/>
          </a:ln>
        </p:spPr>
        <p:txBody>
          <a:bodyPr wrap="none" anchor="ctr"/>
          <a:lstStyle/>
          <a:p>
            <a:endParaRPr lang="en-US"/>
          </a:p>
        </p:txBody>
      </p:sp>
      <p:sp>
        <p:nvSpPr>
          <p:cNvPr id="19462" name="Freeform 6" descr="75%"/>
          <p:cNvSpPr>
            <a:spLocks/>
          </p:cNvSpPr>
          <p:nvPr/>
        </p:nvSpPr>
        <p:spPr bwMode="auto">
          <a:xfrm>
            <a:off x="5664200" y="2501900"/>
            <a:ext cx="2171700" cy="1473200"/>
          </a:xfrm>
          <a:custGeom>
            <a:avLst/>
            <a:gdLst>
              <a:gd name="T0" fmla="*/ 32 w 1368"/>
              <a:gd name="T1" fmla="*/ 536 h 928"/>
              <a:gd name="T2" fmla="*/ 80 w 1368"/>
              <a:gd name="T3" fmla="*/ 728 h 928"/>
              <a:gd name="T4" fmla="*/ 176 w 1368"/>
              <a:gd name="T5" fmla="*/ 776 h 928"/>
              <a:gd name="T6" fmla="*/ 224 w 1368"/>
              <a:gd name="T7" fmla="*/ 872 h 928"/>
              <a:gd name="T8" fmla="*/ 368 w 1368"/>
              <a:gd name="T9" fmla="*/ 872 h 928"/>
              <a:gd name="T10" fmla="*/ 464 w 1368"/>
              <a:gd name="T11" fmla="*/ 920 h 928"/>
              <a:gd name="T12" fmla="*/ 656 w 1368"/>
              <a:gd name="T13" fmla="*/ 920 h 928"/>
              <a:gd name="T14" fmla="*/ 944 w 1368"/>
              <a:gd name="T15" fmla="*/ 872 h 928"/>
              <a:gd name="T16" fmla="*/ 1040 w 1368"/>
              <a:gd name="T17" fmla="*/ 776 h 928"/>
              <a:gd name="T18" fmla="*/ 1088 w 1368"/>
              <a:gd name="T19" fmla="*/ 680 h 928"/>
              <a:gd name="T20" fmla="*/ 1184 w 1368"/>
              <a:gd name="T21" fmla="*/ 632 h 928"/>
              <a:gd name="T22" fmla="*/ 1232 w 1368"/>
              <a:gd name="T23" fmla="*/ 488 h 928"/>
              <a:gd name="T24" fmla="*/ 1232 w 1368"/>
              <a:gd name="T25" fmla="*/ 392 h 928"/>
              <a:gd name="T26" fmla="*/ 1328 w 1368"/>
              <a:gd name="T27" fmla="*/ 104 h 928"/>
              <a:gd name="T28" fmla="*/ 1328 w 1368"/>
              <a:gd name="T29" fmla="*/ 8 h 928"/>
              <a:gd name="T30" fmla="*/ 1088 w 1368"/>
              <a:gd name="T31" fmla="*/ 56 h 928"/>
              <a:gd name="T32" fmla="*/ 944 w 1368"/>
              <a:gd name="T33" fmla="*/ 104 h 928"/>
              <a:gd name="T34" fmla="*/ 848 w 1368"/>
              <a:gd name="T35" fmla="*/ 200 h 928"/>
              <a:gd name="T36" fmla="*/ 656 w 1368"/>
              <a:gd name="T37" fmla="*/ 296 h 928"/>
              <a:gd name="T38" fmla="*/ 416 w 1368"/>
              <a:gd name="T39" fmla="*/ 296 h 928"/>
              <a:gd name="T40" fmla="*/ 272 w 1368"/>
              <a:gd name="T41" fmla="*/ 440 h 928"/>
              <a:gd name="T42" fmla="*/ 32 w 1368"/>
              <a:gd name="T43" fmla="*/ 536 h 92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68"/>
              <a:gd name="T67" fmla="*/ 0 h 928"/>
              <a:gd name="T68" fmla="*/ 1368 w 1368"/>
              <a:gd name="T69" fmla="*/ 928 h 92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68" h="928">
                <a:moveTo>
                  <a:pt x="32" y="536"/>
                </a:moveTo>
                <a:cubicBezTo>
                  <a:pt x="0" y="584"/>
                  <a:pt x="56" y="688"/>
                  <a:pt x="80" y="728"/>
                </a:cubicBezTo>
                <a:cubicBezTo>
                  <a:pt x="104" y="768"/>
                  <a:pt x="152" y="752"/>
                  <a:pt x="176" y="776"/>
                </a:cubicBezTo>
                <a:cubicBezTo>
                  <a:pt x="200" y="800"/>
                  <a:pt x="192" y="856"/>
                  <a:pt x="224" y="872"/>
                </a:cubicBezTo>
                <a:cubicBezTo>
                  <a:pt x="256" y="888"/>
                  <a:pt x="328" y="864"/>
                  <a:pt x="368" y="872"/>
                </a:cubicBezTo>
                <a:cubicBezTo>
                  <a:pt x="408" y="880"/>
                  <a:pt x="416" y="912"/>
                  <a:pt x="464" y="920"/>
                </a:cubicBezTo>
                <a:cubicBezTo>
                  <a:pt x="512" y="928"/>
                  <a:pt x="576" y="928"/>
                  <a:pt x="656" y="920"/>
                </a:cubicBezTo>
                <a:cubicBezTo>
                  <a:pt x="736" y="912"/>
                  <a:pt x="880" y="896"/>
                  <a:pt x="944" y="872"/>
                </a:cubicBezTo>
                <a:cubicBezTo>
                  <a:pt x="1008" y="848"/>
                  <a:pt x="1016" y="808"/>
                  <a:pt x="1040" y="776"/>
                </a:cubicBezTo>
                <a:cubicBezTo>
                  <a:pt x="1064" y="744"/>
                  <a:pt x="1064" y="704"/>
                  <a:pt x="1088" y="680"/>
                </a:cubicBezTo>
                <a:cubicBezTo>
                  <a:pt x="1112" y="656"/>
                  <a:pt x="1160" y="664"/>
                  <a:pt x="1184" y="632"/>
                </a:cubicBezTo>
                <a:cubicBezTo>
                  <a:pt x="1208" y="600"/>
                  <a:pt x="1224" y="528"/>
                  <a:pt x="1232" y="488"/>
                </a:cubicBezTo>
                <a:cubicBezTo>
                  <a:pt x="1240" y="448"/>
                  <a:pt x="1216" y="456"/>
                  <a:pt x="1232" y="392"/>
                </a:cubicBezTo>
                <a:cubicBezTo>
                  <a:pt x="1248" y="328"/>
                  <a:pt x="1312" y="168"/>
                  <a:pt x="1328" y="104"/>
                </a:cubicBezTo>
                <a:cubicBezTo>
                  <a:pt x="1344" y="40"/>
                  <a:pt x="1368" y="16"/>
                  <a:pt x="1328" y="8"/>
                </a:cubicBezTo>
                <a:cubicBezTo>
                  <a:pt x="1288" y="0"/>
                  <a:pt x="1152" y="40"/>
                  <a:pt x="1088" y="56"/>
                </a:cubicBezTo>
                <a:cubicBezTo>
                  <a:pt x="1024" y="72"/>
                  <a:pt x="984" y="80"/>
                  <a:pt x="944" y="104"/>
                </a:cubicBezTo>
                <a:cubicBezTo>
                  <a:pt x="904" y="128"/>
                  <a:pt x="896" y="168"/>
                  <a:pt x="848" y="200"/>
                </a:cubicBezTo>
                <a:cubicBezTo>
                  <a:pt x="800" y="232"/>
                  <a:pt x="728" y="280"/>
                  <a:pt x="656" y="296"/>
                </a:cubicBezTo>
                <a:cubicBezTo>
                  <a:pt x="584" y="312"/>
                  <a:pt x="480" y="272"/>
                  <a:pt x="416" y="296"/>
                </a:cubicBezTo>
                <a:cubicBezTo>
                  <a:pt x="352" y="320"/>
                  <a:pt x="336" y="400"/>
                  <a:pt x="272" y="440"/>
                </a:cubicBezTo>
                <a:cubicBezTo>
                  <a:pt x="208" y="480"/>
                  <a:pt x="64" y="488"/>
                  <a:pt x="32" y="536"/>
                </a:cubicBezTo>
                <a:close/>
              </a:path>
            </a:pathLst>
          </a:custGeom>
          <a:pattFill prst="pct75">
            <a:fgClr>
              <a:srgbClr val="CCFFFF"/>
            </a:fgClr>
            <a:bgClr>
              <a:schemeClr val="bg1"/>
            </a:bgClr>
          </a:pattFill>
          <a:ln w="12700">
            <a:solidFill>
              <a:srgbClr val="000000"/>
            </a:solidFill>
            <a:round/>
            <a:headEnd/>
            <a:tailEnd/>
          </a:ln>
        </p:spPr>
        <p:txBody>
          <a:bodyPr wrap="none" anchor="ctr"/>
          <a:lstStyle/>
          <a:p>
            <a:endParaRPr lang="en-US"/>
          </a:p>
        </p:txBody>
      </p:sp>
      <p:grpSp>
        <p:nvGrpSpPr>
          <p:cNvPr id="2" name="Group 7"/>
          <p:cNvGrpSpPr>
            <a:grpSpLocks/>
          </p:cNvGrpSpPr>
          <p:nvPr/>
        </p:nvGrpSpPr>
        <p:grpSpPr bwMode="auto">
          <a:xfrm rot="3510740">
            <a:off x="5600700" y="1866900"/>
            <a:ext cx="2819400" cy="2895600"/>
            <a:chOff x="3120" y="1344"/>
            <a:chExt cx="1776" cy="1824"/>
          </a:xfrm>
        </p:grpSpPr>
        <p:sp>
          <p:nvSpPr>
            <p:cNvPr id="19469" name="Line 8"/>
            <p:cNvSpPr>
              <a:spLocks noChangeShapeType="1"/>
            </p:cNvSpPr>
            <p:nvPr/>
          </p:nvSpPr>
          <p:spPr bwMode="auto">
            <a:xfrm flipV="1">
              <a:off x="3120" y="1344"/>
              <a:ext cx="887" cy="1042"/>
            </a:xfrm>
            <a:prstGeom prst="line">
              <a:avLst/>
            </a:prstGeom>
            <a:noFill/>
            <a:ln w="57150">
              <a:solidFill>
                <a:srgbClr val="0000FF"/>
              </a:solidFill>
              <a:round/>
              <a:headEnd/>
              <a:tailEnd type="triangle" w="med" len="med"/>
            </a:ln>
          </p:spPr>
          <p:txBody>
            <a:bodyPr wrap="none" anchor="ctr"/>
            <a:lstStyle/>
            <a:p>
              <a:endParaRPr lang="en-US"/>
            </a:p>
          </p:txBody>
        </p:sp>
        <p:sp>
          <p:nvSpPr>
            <p:cNvPr id="19470" name="Line 9"/>
            <p:cNvSpPr>
              <a:spLocks noChangeShapeType="1"/>
            </p:cNvSpPr>
            <p:nvPr/>
          </p:nvSpPr>
          <p:spPr bwMode="auto">
            <a:xfrm flipV="1">
              <a:off x="3120" y="1800"/>
              <a:ext cx="1776" cy="586"/>
            </a:xfrm>
            <a:prstGeom prst="line">
              <a:avLst/>
            </a:prstGeom>
            <a:noFill/>
            <a:ln w="57150">
              <a:solidFill>
                <a:srgbClr val="0000FF"/>
              </a:solidFill>
              <a:round/>
              <a:headEnd/>
              <a:tailEnd type="triangle" w="med" len="med"/>
            </a:ln>
          </p:spPr>
          <p:txBody>
            <a:bodyPr wrap="none" anchor="ctr"/>
            <a:lstStyle/>
            <a:p>
              <a:endParaRPr lang="en-US"/>
            </a:p>
          </p:txBody>
        </p:sp>
        <p:sp>
          <p:nvSpPr>
            <p:cNvPr id="19471" name="Line 10"/>
            <p:cNvSpPr>
              <a:spLocks noChangeShapeType="1"/>
            </p:cNvSpPr>
            <p:nvPr/>
          </p:nvSpPr>
          <p:spPr bwMode="auto">
            <a:xfrm>
              <a:off x="3120" y="2386"/>
              <a:ext cx="666" cy="782"/>
            </a:xfrm>
            <a:prstGeom prst="line">
              <a:avLst/>
            </a:prstGeom>
            <a:noFill/>
            <a:ln w="57150">
              <a:solidFill>
                <a:srgbClr val="0000FF"/>
              </a:solidFill>
              <a:round/>
              <a:headEnd/>
              <a:tailEnd type="triangle" w="med" len="med"/>
            </a:ln>
          </p:spPr>
          <p:txBody>
            <a:bodyPr wrap="none" anchor="ctr"/>
            <a:lstStyle/>
            <a:p>
              <a:endParaRPr lang="en-US"/>
            </a:p>
          </p:txBody>
        </p:sp>
        <p:sp>
          <p:nvSpPr>
            <p:cNvPr id="19472" name="Line 11"/>
            <p:cNvSpPr>
              <a:spLocks noChangeShapeType="1"/>
            </p:cNvSpPr>
            <p:nvPr/>
          </p:nvSpPr>
          <p:spPr bwMode="auto">
            <a:xfrm>
              <a:off x="3120" y="2386"/>
              <a:ext cx="1776" cy="323"/>
            </a:xfrm>
            <a:prstGeom prst="line">
              <a:avLst/>
            </a:prstGeom>
            <a:noFill/>
            <a:ln w="57150">
              <a:solidFill>
                <a:srgbClr val="0000FF"/>
              </a:solidFill>
              <a:round/>
              <a:headEnd/>
              <a:tailEnd type="triangle" w="med" len="med"/>
            </a:ln>
          </p:spPr>
          <p:txBody>
            <a:bodyPr wrap="none" anchor="ctr"/>
            <a:lstStyle/>
            <a:p>
              <a:endParaRPr lang="en-US"/>
            </a:p>
          </p:txBody>
        </p:sp>
      </p:grpSp>
      <p:sp>
        <p:nvSpPr>
          <p:cNvPr id="19464" name="Text Box 12"/>
          <p:cNvSpPr txBox="1">
            <a:spLocks noChangeArrowheads="1"/>
          </p:cNvSpPr>
          <p:nvPr/>
        </p:nvSpPr>
        <p:spPr bwMode="auto">
          <a:xfrm>
            <a:off x="6970713" y="4887913"/>
            <a:ext cx="1258887" cy="396875"/>
          </a:xfrm>
          <a:prstGeom prst="rect">
            <a:avLst/>
          </a:prstGeom>
          <a:noFill/>
          <a:ln w="12700">
            <a:noFill/>
            <a:miter lim="800000"/>
            <a:headEnd/>
            <a:tailEnd/>
          </a:ln>
        </p:spPr>
        <p:txBody>
          <a:bodyPr wrap="none">
            <a:spAutoFit/>
          </a:bodyPr>
          <a:lstStyle/>
          <a:p>
            <a:pPr eaLnBrk="0" hangingPunct="0"/>
            <a:r>
              <a:rPr lang="en-US" sz="2000">
                <a:solidFill>
                  <a:schemeClr val="tx2"/>
                </a:solidFill>
                <a:latin typeface="Arial" charset="0"/>
              </a:rPr>
              <a:t>Chiều dài</a:t>
            </a:r>
          </a:p>
        </p:txBody>
      </p:sp>
      <p:sp>
        <p:nvSpPr>
          <p:cNvPr id="19465" name="Text Box 13"/>
          <p:cNvSpPr txBox="1">
            <a:spLocks noChangeArrowheads="1"/>
          </p:cNvSpPr>
          <p:nvPr/>
        </p:nvSpPr>
        <p:spPr bwMode="auto">
          <a:xfrm>
            <a:off x="7640638" y="4048125"/>
            <a:ext cx="1427162" cy="396875"/>
          </a:xfrm>
          <a:prstGeom prst="rect">
            <a:avLst/>
          </a:prstGeom>
          <a:noFill/>
          <a:ln w="12700">
            <a:noFill/>
            <a:miter lim="800000"/>
            <a:headEnd/>
            <a:tailEnd/>
          </a:ln>
        </p:spPr>
        <p:txBody>
          <a:bodyPr wrap="none">
            <a:spAutoFit/>
          </a:bodyPr>
          <a:lstStyle/>
          <a:p>
            <a:pPr eaLnBrk="0" hangingPunct="0"/>
            <a:r>
              <a:rPr lang="en-US" sz="2000">
                <a:solidFill>
                  <a:schemeClr val="tx2"/>
                </a:solidFill>
                <a:latin typeface="Arial" charset="0"/>
              </a:rPr>
              <a:t>Chiều rộng</a:t>
            </a:r>
          </a:p>
        </p:txBody>
      </p:sp>
      <p:sp>
        <p:nvSpPr>
          <p:cNvPr id="19466" name="Text Box 14"/>
          <p:cNvSpPr txBox="1">
            <a:spLocks noChangeArrowheads="1"/>
          </p:cNvSpPr>
          <p:nvPr/>
        </p:nvSpPr>
        <p:spPr bwMode="auto">
          <a:xfrm>
            <a:off x="5224463" y="3727450"/>
            <a:ext cx="1328737" cy="396875"/>
          </a:xfrm>
          <a:prstGeom prst="rect">
            <a:avLst/>
          </a:prstGeom>
          <a:noFill/>
          <a:ln w="12700">
            <a:noFill/>
            <a:miter lim="800000"/>
            <a:headEnd/>
            <a:tailEnd/>
          </a:ln>
        </p:spPr>
        <p:txBody>
          <a:bodyPr wrap="none">
            <a:spAutoFit/>
          </a:bodyPr>
          <a:lstStyle/>
          <a:p>
            <a:pPr eaLnBrk="0" hangingPunct="0"/>
            <a:r>
              <a:rPr lang="en-US" sz="2000">
                <a:solidFill>
                  <a:schemeClr val="tx2"/>
                </a:solidFill>
                <a:latin typeface="Arial" charset="0"/>
              </a:rPr>
              <a:t>Chiều sâu</a:t>
            </a:r>
          </a:p>
        </p:txBody>
      </p:sp>
      <p:sp>
        <p:nvSpPr>
          <p:cNvPr id="19467" name="Text Box 15"/>
          <p:cNvSpPr txBox="1">
            <a:spLocks noChangeArrowheads="1"/>
          </p:cNvSpPr>
          <p:nvPr/>
        </p:nvSpPr>
        <p:spPr bwMode="auto">
          <a:xfrm>
            <a:off x="7788275" y="2600325"/>
            <a:ext cx="1355725" cy="396875"/>
          </a:xfrm>
          <a:prstGeom prst="rect">
            <a:avLst/>
          </a:prstGeom>
          <a:noFill/>
          <a:ln w="12700">
            <a:noFill/>
            <a:miter lim="800000"/>
            <a:headEnd/>
            <a:tailEnd/>
          </a:ln>
        </p:spPr>
        <p:txBody>
          <a:bodyPr wrap="none">
            <a:spAutoFit/>
          </a:bodyPr>
          <a:lstStyle/>
          <a:p>
            <a:pPr eaLnBrk="0" hangingPunct="0"/>
            <a:r>
              <a:rPr lang="en-US" sz="2000">
                <a:solidFill>
                  <a:schemeClr val="tx2"/>
                </a:solidFill>
                <a:latin typeface="Arial" charset="0"/>
              </a:rPr>
              <a:t>Đồng nhất</a:t>
            </a:r>
          </a:p>
        </p:txBody>
      </p:sp>
      <p:sp>
        <p:nvSpPr>
          <p:cNvPr id="19468" name="Text Box 16"/>
          <p:cNvSpPr txBox="1">
            <a:spLocks noChangeArrowheads="1"/>
          </p:cNvSpPr>
          <p:nvPr/>
        </p:nvSpPr>
        <p:spPr bwMode="auto">
          <a:xfrm>
            <a:off x="5791200" y="1917700"/>
            <a:ext cx="354013" cy="457200"/>
          </a:xfrm>
          <a:prstGeom prst="rect">
            <a:avLst/>
          </a:prstGeom>
          <a:noFill/>
          <a:ln w="12700">
            <a:noFill/>
            <a:miter lim="800000"/>
            <a:headEnd/>
            <a:tailEnd/>
          </a:ln>
        </p:spPr>
        <p:txBody>
          <a:bodyPr wrap="none">
            <a:spAutoFit/>
          </a:bodyPr>
          <a:lstStyle/>
          <a:p>
            <a:pPr eaLnBrk="0" hangingPunct="0"/>
            <a:r>
              <a:rPr lang="en-US" sz="2400">
                <a:solidFill>
                  <a:schemeClr val="tx2"/>
                </a:solidFill>
                <a:latin typeface="Arial" charset="0"/>
              </a:rPr>
              <a:t>0</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6"/>
          <p:cNvSpPr txBox="1">
            <a:spLocks noChangeArrowheads="1"/>
          </p:cNvSpPr>
          <p:nvPr/>
        </p:nvSpPr>
        <p:spPr>
          <a:xfrm>
            <a:off x="838200" y="457200"/>
            <a:ext cx="8077200" cy="533400"/>
          </a:xfrm>
          <a:prstGeom prst="rect">
            <a:avLst/>
          </a:prstGeom>
          <a:noFill/>
        </p:spPr>
        <p:txBody>
          <a:bodyPr vert="horz" lIns="90488" tIns="44450" rIns="90488" bIns="44450" rtlCol="0" anchor="b">
            <a:normAutofit fontScale="92500"/>
          </a:bodyPr>
          <a:lstStyle/>
          <a:p>
            <a:pPr marL="0" marR="0" lvl="0" indent="0" algn="ctr" defTabSz="914400" rtl="0" eaLnBrk="1" fontAlgn="auto" latinLnBrk="0" hangingPunct="1">
              <a:lnSpc>
                <a:spcPct val="100000"/>
              </a:lnSpc>
              <a:spcBef>
                <a:spcPct val="0"/>
              </a:spcBef>
              <a:spcAft>
                <a:spcPts val="0"/>
              </a:spcAft>
              <a:buClrTx/>
              <a:buSzTx/>
              <a:buFont typeface="Wingdings" pitchFamily="2" charset="2"/>
              <a:buChar char="Ø"/>
              <a:tabLst/>
              <a:defRPr/>
            </a:pPr>
            <a:r>
              <a:rPr kumimoji="0" lang="en-US" sz="2400" b="1" i="0" u="none" strike="noStrike" kern="1200" cap="none" spc="0" normalizeH="0" baseline="0" noProof="0">
                <a:ln>
                  <a:noFill/>
                </a:ln>
                <a:solidFill>
                  <a:srgbClr val="CC0000"/>
                </a:solidFill>
                <a:effectLst/>
                <a:uLnTx/>
                <a:uFillTx/>
                <a:latin typeface="Arial" charset="0"/>
                <a:ea typeface="+mj-ea"/>
                <a:cs typeface="+mj-cs"/>
              </a:rPr>
              <a:t>QUYẾT ĐỊNH CHỦNG</a:t>
            </a:r>
            <a:r>
              <a:rPr kumimoji="0" lang="en-US" sz="2400" b="1" i="0" u="none" strike="noStrike" kern="1200" cap="none" spc="0" normalizeH="0" noProof="0">
                <a:ln>
                  <a:noFill/>
                </a:ln>
                <a:solidFill>
                  <a:srgbClr val="CC0000"/>
                </a:solidFill>
                <a:effectLst/>
                <a:uLnTx/>
                <a:uFillTx/>
                <a:latin typeface="Arial" charset="0"/>
                <a:ea typeface="+mj-ea"/>
                <a:cs typeface="+mj-cs"/>
              </a:rPr>
              <a:t> </a:t>
            </a:r>
            <a:r>
              <a:rPr kumimoji="0" lang="en-US" sz="2400" b="1" i="0" u="none" strike="noStrike" kern="1200" cap="none" spc="0" normalizeH="0" baseline="0" noProof="0">
                <a:ln>
                  <a:noFill/>
                </a:ln>
                <a:solidFill>
                  <a:srgbClr val="CC0000"/>
                </a:solidFill>
                <a:effectLst/>
                <a:uLnTx/>
                <a:uFillTx/>
                <a:latin typeface="Arial" charset="0"/>
                <a:ea typeface="+mj-ea"/>
                <a:cs typeface="+mj-cs"/>
              </a:rPr>
              <a:t>LOẠI SẢN PHẨM </a:t>
            </a:r>
            <a:r>
              <a:rPr kumimoji="0" lang="en-US" sz="2800" b="0" i="0" u="none" strike="noStrike" kern="1200" cap="none" spc="0" normalizeH="0" baseline="0" noProof="0">
                <a:ln>
                  <a:noFill/>
                </a:ln>
                <a:solidFill>
                  <a:schemeClr val="tx1"/>
                </a:solidFill>
                <a:effectLst/>
                <a:uLnTx/>
                <a:uFillTx/>
                <a:latin typeface="Arial" charset="0"/>
                <a:ea typeface="+mj-ea"/>
                <a:cs typeface="+mj-cs"/>
              </a:rPr>
              <a:t>(Production line)</a:t>
            </a:r>
          </a:p>
        </p:txBody>
      </p:sp>
      <p:graphicFrame>
        <p:nvGraphicFramePr>
          <p:cNvPr id="8" name="Diagram 7"/>
          <p:cNvGraphicFramePr/>
          <p:nvPr/>
        </p:nvGraphicFramePr>
        <p:xfrm>
          <a:off x="304800" y="1371600"/>
          <a:ext cx="8839200" cy="4673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ChangeArrowheads="1"/>
          </p:cNvSpPr>
          <p:nvPr/>
        </p:nvSpPr>
        <p:spPr bwMode="auto">
          <a:xfrm>
            <a:off x="7772400" y="5564188"/>
            <a:ext cx="1371600" cy="1219200"/>
          </a:xfrm>
          <a:prstGeom prst="rect">
            <a:avLst/>
          </a:prstGeom>
          <a:solidFill>
            <a:schemeClr val="bg1"/>
          </a:solidFill>
          <a:ln w="9525">
            <a:noFill/>
            <a:miter lim="800000"/>
            <a:headEnd/>
            <a:tailEnd/>
          </a:ln>
        </p:spPr>
        <p:txBody>
          <a:bodyPr wrap="none" anchor="ctr"/>
          <a:lstStyle/>
          <a:p>
            <a:endParaRPr lang="en-US"/>
          </a:p>
        </p:txBody>
      </p:sp>
      <p:sp>
        <p:nvSpPr>
          <p:cNvPr id="43024" name="Rectangle 16"/>
          <p:cNvSpPr>
            <a:spLocks noGrp="1" noChangeArrowheads="1"/>
          </p:cNvSpPr>
          <p:nvPr>
            <p:ph type="title"/>
          </p:nvPr>
        </p:nvSpPr>
        <p:spPr>
          <a:xfrm>
            <a:off x="838200" y="457200"/>
            <a:ext cx="8077200" cy="533400"/>
          </a:xfrm>
          <a:noFill/>
        </p:spPr>
        <p:txBody>
          <a:bodyPr lIns="90488" tIns="44450" rIns="90488" bIns="44450" anchor="b">
            <a:normAutofit fontScale="90000"/>
          </a:bodyPr>
          <a:lstStyle/>
          <a:p>
            <a:pPr eaLnBrk="1" hangingPunct="1">
              <a:buFont typeface="Wingdings" pitchFamily="2" charset="2"/>
              <a:buChar char="Ø"/>
            </a:pPr>
            <a:r>
              <a:rPr lang="en-US" sz="2400" b="1">
                <a:solidFill>
                  <a:srgbClr val="CC0000"/>
                </a:solidFill>
                <a:latin typeface="Arial" charset="0"/>
              </a:rPr>
              <a:t>QUYẾT ĐỊNH CHỦNG LOẠI SẢN PHẨM </a:t>
            </a:r>
            <a:r>
              <a:rPr lang="en-US" sz="2800">
                <a:latin typeface="Arial" charset="0"/>
              </a:rPr>
              <a:t>(Production line)</a:t>
            </a:r>
          </a:p>
        </p:txBody>
      </p:sp>
      <p:sp>
        <p:nvSpPr>
          <p:cNvPr id="43025" name="Rectangle 17"/>
          <p:cNvSpPr>
            <a:spLocks noGrp="1" noChangeArrowheads="1"/>
          </p:cNvSpPr>
          <p:nvPr>
            <p:ph idx="1"/>
          </p:nvPr>
        </p:nvSpPr>
        <p:spPr>
          <a:xfrm>
            <a:off x="228600" y="1981200"/>
            <a:ext cx="5562600" cy="3810000"/>
          </a:xfrm>
          <a:noFill/>
        </p:spPr>
        <p:txBody>
          <a:bodyPr lIns="90488" tIns="44450" rIns="90488" bIns="44450">
            <a:normAutofit/>
          </a:bodyPr>
          <a:lstStyle/>
          <a:p>
            <a:pPr>
              <a:buFont typeface="Wingdings" pitchFamily="2" charset="2"/>
              <a:buChar char="ü"/>
            </a:pPr>
            <a:r>
              <a:rPr lang="en-US" sz="2400" b="1">
                <a:latin typeface="Arial" charset="0"/>
              </a:rPr>
              <a:t>Quyết định về chiều dài</a:t>
            </a:r>
            <a:endParaRPr lang="en-US" sz="2400">
              <a:latin typeface="Arial" charset="0"/>
            </a:endParaRPr>
          </a:p>
          <a:p>
            <a:pPr eaLnBrk="1" hangingPunct="1">
              <a:spcBef>
                <a:spcPct val="40000"/>
              </a:spcBef>
            </a:pPr>
            <a:r>
              <a:rPr lang="en-US" sz="2400">
                <a:latin typeface="Arial" charset="0"/>
              </a:rPr>
              <a:t>Thay đổi chiều dài chủng loại SP:</a:t>
            </a:r>
          </a:p>
          <a:p>
            <a:pPr lvl="1" eaLnBrk="1" hangingPunct="1">
              <a:spcBef>
                <a:spcPct val="40000"/>
              </a:spcBef>
            </a:pPr>
            <a:r>
              <a:rPr lang="en-US" sz="2400" b="1" i="1">
                <a:solidFill>
                  <a:srgbClr val="FF0000"/>
                </a:solidFill>
                <a:latin typeface="Arial" charset="0"/>
              </a:rPr>
              <a:t>Dãn rộng </a:t>
            </a:r>
            <a:r>
              <a:rPr lang="en-US" sz="2400" b="1" i="1">
                <a:latin typeface="Arial" charset="0"/>
              </a:rPr>
              <a:t>hay</a:t>
            </a:r>
            <a:r>
              <a:rPr lang="en-US" sz="2400" b="1" i="1">
                <a:solidFill>
                  <a:srgbClr val="FF0000"/>
                </a:solidFill>
                <a:latin typeface="Arial" charset="0"/>
              </a:rPr>
              <a:t> bổ sung loại SP</a:t>
            </a:r>
          </a:p>
          <a:p>
            <a:pPr eaLnBrk="1" hangingPunct="1">
              <a:spcBef>
                <a:spcPct val="40000"/>
              </a:spcBef>
            </a:pPr>
            <a:r>
              <a:rPr lang="en-US" sz="2400">
                <a:latin typeface="Arial" charset="0"/>
              </a:rPr>
              <a:t>Nguyên lý quyết định:</a:t>
            </a:r>
          </a:p>
          <a:p>
            <a:pPr lvl="1" eaLnBrk="1" hangingPunct="1">
              <a:spcBef>
                <a:spcPct val="40000"/>
              </a:spcBef>
            </a:pPr>
            <a:r>
              <a:rPr lang="en-US" sz="2400">
                <a:latin typeface="Arial" charset="0"/>
              </a:rPr>
              <a:t>Cân nhắc giữa chi phí tăng thêm và lợi nhuận tăng thêm</a:t>
            </a:r>
          </a:p>
          <a:p>
            <a:pPr eaLnBrk="1" hangingPunct="1"/>
            <a:endParaRPr lang="en-US" sz="2400">
              <a:latin typeface="Arial" charset="0"/>
            </a:endParaRPr>
          </a:p>
        </p:txBody>
      </p:sp>
      <p:sp>
        <p:nvSpPr>
          <p:cNvPr id="4108" name="Line 24"/>
          <p:cNvSpPr>
            <a:spLocks noChangeShapeType="1"/>
          </p:cNvSpPr>
          <p:nvPr/>
        </p:nvSpPr>
        <p:spPr bwMode="auto">
          <a:xfrm>
            <a:off x="6808788" y="2322513"/>
            <a:ext cx="0" cy="1219200"/>
          </a:xfrm>
          <a:prstGeom prst="line">
            <a:avLst/>
          </a:prstGeom>
          <a:noFill/>
          <a:ln w="12700" cap="rnd">
            <a:solidFill>
              <a:srgbClr val="FFFF00"/>
            </a:solidFill>
            <a:prstDash val="sysDot"/>
            <a:round/>
            <a:headEnd/>
            <a:tailEnd/>
          </a:ln>
        </p:spPr>
        <p:txBody>
          <a:bodyPr wrap="none" anchor="ctr"/>
          <a:lstStyle/>
          <a:p>
            <a:endParaRPr lang="en-US"/>
          </a:p>
        </p:txBody>
      </p:sp>
      <p:sp>
        <p:nvSpPr>
          <p:cNvPr id="4109" name="Line 25"/>
          <p:cNvSpPr>
            <a:spLocks noChangeShapeType="1"/>
          </p:cNvSpPr>
          <p:nvPr/>
        </p:nvSpPr>
        <p:spPr bwMode="auto">
          <a:xfrm flipH="1">
            <a:off x="6102350" y="2322513"/>
            <a:ext cx="706438" cy="0"/>
          </a:xfrm>
          <a:prstGeom prst="line">
            <a:avLst/>
          </a:prstGeom>
          <a:noFill/>
          <a:ln w="12700" cap="rnd">
            <a:solidFill>
              <a:srgbClr val="FFFF00"/>
            </a:solidFill>
            <a:prstDash val="sysDot"/>
            <a:round/>
            <a:headEnd/>
            <a:tailEnd/>
          </a:ln>
        </p:spPr>
        <p:txBody>
          <a:bodyPr wrap="none" anchor="ctr"/>
          <a:lstStyle/>
          <a:p>
            <a:endParaRPr lang="en-US"/>
          </a:p>
        </p:txBody>
      </p:sp>
      <p:grpSp>
        <p:nvGrpSpPr>
          <p:cNvPr id="2" name="Group 27"/>
          <p:cNvGrpSpPr>
            <a:grpSpLocks/>
          </p:cNvGrpSpPr>
          <p:nvPr/>
        </p:nvGrpSpPr>
        <p:grpSpPr bwMode="auto">
          <a:xfrm>
            <a:off x="6096000" y="4419600"/>
            <a:ext cx="2941638" cy="1828800"/>
            <a:chOff x="3984" y="2784"/>
            <a:chExt cx="1853" cy="1152"/>
          </a:xfrm>
        </p:grpSpPr>
        <p:graphicFrame>
          <p:nvGraphicFramePr>
            <p:cNvPr id="4098" name="Object 28"/>
            <p:cNvGraphicFramePr>
              <a:graphicFrameLocks noChangeAspect="1"/>
            </p:cNvGraphicFramePr>
            <p:nvPr/>
          </p:nvGraphicFramePr>
          <p:xfrm>
            <a:off x="3984" y="2784"/>
            <a:ext cx="1776" cy="1152"/>
          </p:xfrm>
          <a:graphic>
            <a:graphicData uri="http://schemas.openxmlformats.org/presentationml/2006/ole">
              <mc:AlternateContent xmlns:mc="http://schemas.openxmlformats.org/markup-compatibility/2006">
                <mc:Choice xmlns:v="urn:schemas-microsoft-com:vml" Requires="v">
                  <p:oleObj name="GALLERY" r:id="rId2" imgW="4266590" imgH="4320540" progId="">
                    <p:embed/>
                  </p:oleObj>
                </mc:Choice>
                <mc:Fallback>
                  <p:oleObj name="GALLERY" r:id="rId2" imgW="4266590" imgH="4320540" progId="">
                    <p:embed/>
                    <p:pic>
                      <p:nvPicPr>
                        <p:cNvPr id="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4" y="2784"/>
                          <a:ext cx="1776" cy="1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12" name="Text Box 29"/>
            <p:cNvSpPr txBox="1">
              <a:spLocks noChangeArrowheads="1"/>
            </p:cNvSpPr>
            <p:nvPr/>
          </p:nvSpPr>
          <p:spPr bwMode="auto">
            <a:xfrm>
              <a:off x="3996" y="3416"/>
              <a:ext cx="765" cy="288"/>
            </a:xfrm>
            <a:prstGeom prst="rect">
              <a:avLst/>
            </a:prstGeom>
            <a:noFill/>
            <a:ln w="12700">
              <a:noFill/>
              <a:miter lim="800000"/>
              <a:headEnd/>
              <a:tailEnd/>
            </a:ln>
          </p:spPr>
          <p:txBody>
            <a:bodyPr wrap="none">
              <a:spAutoFit/>
            </a:bodyPr>
            <a:lstStyle/>
            <a:p>
              <a:pPr eaLnBrk="0" hangingPunct="0"/>
              <a:r>
                <a:rPr lang="en-US" sz="2400" b="1">
                  <a:solidFill>
                    <a:schemeClr val="accent2"/>
                  </a:solidFill>
                  <a:latin typeface="Arial" charset="0"/>
                </a:rPr>
                <a:t>Chi phí</a:t>
              </a:r>
              <a:endParaRPr lang="en-US" sz="2400">
                <a:solidFill>
                  <a:schemeClr val="accent2"/>
                </a:solidFill>
                <a:latin typeface="Arial" charset="0"/>
              </a:endParaRPr>
            </a:p>
          </p:txBody>
        </p:sp>
        <p:sp>
          <p:nvSpPr>
            <p:cNvPr id="4113" name="Text Box 30"/>
            <p:cNvSpPr txBox="1">
              <a:spLocks noChangeArrowheads="1"/>
            </p:cNvSpPr>
            <p:nvPr/>
          </p:nvSpPr>
          <p:spPr bwMode="auto">
            <a:xfrm>
              <a:off x="5084" y="3416"/>
              <a:ext cx="753" cy="288"/>
            </a:xfrm>
            <a:prstGeom prst="rect">
              <a:avLst/>
            </a:prstGeom>
            <a:noFill/>
            <a:ln w="12700">
              <a:noFill/>
              <a:miter lim="800000"/>
              <a:headEnd/>
              <a:tailEnd/>
            </a:ln>
          </p:spPr>
          <p:txBody>
            <a:bodyPr wrap="none">
              <a:spAutoFit/>
            </a:bodyPr>
            <a:lstStyle/>
            <a:p>
              <a:pPr eaLnBrk="0" hangingPunct="0"/>
              <a:r>
                <a:rPr lang="en-US" sz="2400" b="1">
                  <a:solidFill>
                    <a:schemeClr val="accent2"/>
                  </a:solidFill>
                  <a:latin typeface="Arial" charset="0"/>
                </a:rPr>
                <a:t>Lợi ích</a:t>
              </a:r>
            </a:p>
          </p:txBody>
        </p:sp>
        <p:sp>
          <p:nvSpPr>
            <p:cNvPr id="4114" name="Line 31"/>
            <p:cNvSpPr>
              <a:spLocks noChangeShapeType="1"/>
            </p:cNvSpPr>
            <p:nvPr/>
          </p:nvSpPr>
          <p:spPr bwMode="auto">
            <a:xfrm>
              <a:off x="4272" y="3168"/>
              <a:ext cx="305" cy="528"/>
            </a:xfrm>
            <a:prstGeom prst="line">
              <a:avLst/>
            </a:prstGeom>
            <a:noFill/>
            <a:ln w="12700" cap="rnd">
              <a:solidFill>
                <a:srgbClr val="000000"/>
              </a:solidFill>
              <a:prstDash val="sysDot"/>
              <a:round/>
              <a:headEnd/>
              <a:tailEnd/>
            </a:ln>
          </p:spPr>
          <p:txBody>
            <a:bodyPr wrap="none" anchor="ctr"/>
            <a:lstStyle/>
            <a:p>
              <a:endParaRPr lang="en-US"/>
            </a:p>
          </p:txBody>
        </p:sp>
        <p:sp>
          <p:nvSpPr>
            <p:cNvPr id="4115" name="Line 32"/>
            <p:cNvSpPr>
              <a:spLocks noChangeShapeType="1"/>
            </p:cNvSpPr>
            <p:nvPr/>
          </p:nvSpPr>
          <p:spPr bwMode="auto">
            <a:xfrm flipH="1">
              <a:off x="4975" y="3168"/>
              <a:ext cx="305" cy="528"/>
            </a:xfrm>
            <a:prstGeom prst="line">
              <a:avLst/>
            </a:prstGeom>
            <a:noFill/>
            <a:ln w="12700" cap="rnd">
              <a:solidFill>
                <a:srgbClr val="000000"/>
              </a:solidFill>
              <a:prstDash val="sysDot"/>
              <a:round/>
              <a:headEnd/>
              <a:tailEnd/>
            </a:ln>
          </p:spPr>
          <p:txBody>
            <a:bodyPr wrap="none" anchor="ctr"/>
            <a:lstStyle/>
            <a:p>
              <a:endParaRPr lang="en-US"/>
            </a:p>
          </p:txBody>
        </p:sp>
      </p:gr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7772400" y="5564188"/>
            <a:ext cx="1371600" cy="1219200"/>
          </a:xfrm>
          <a:prstGeom prst="rect">
            <a:avLst/>
          </a:prstGeom>
          <a:solidFill>
            <a:schemeClr val="bg1"/>
          </a:solidFill>
          <a:ln w="9525">
            <a:noFill/>
            <a:miter lim="800000"/>
            <a:headEnd/>
            <a:tailEnd/>
          </a:ln>
        </p:spPr>
        <p:txBody>
          <a:bodyPr wrap="none" anchor="ctr"/>
          <a:lstStyle/>
          <a:p>
            <a:endParaRPr lang="en-US"/>
          </a:p>
        </p:txBody>
      </p:sp>
      <p:sp>
        <p:nvSpPr>
          <p:cNvPr id="45059" name="Rectangle 3"/>
          <p:cNvSpPr>
            <a:spLocks noGrp="1" noChangeArrowheads="1"/>
          </p:cNvSpPr>
          <p:nvPr>
            <p:ph type="title"/>
          </p:nvPr>
        </p:nvSpPr>
        <p:spPr>
          <a:xfrm>
            <a:off x="609600" y="381000"/>
            <a:ext cx="8382000" cy="533400"/>
          </a:xfrm>
          <a:noFill/>
        </p:spPr>
        <p:txBody>
          <a:bodyPr lIns="90488" tIns="44450" rIns="90488" bIns="44450" anchor="b">
            <a:normAutofit fontScale="90000"/>
          </a:bodyPr>
          <a:lstStyle/>
          <a:p>
            <a:pPr eaLnBrk="1" hangingPunct="1"/>
            <a:r>
              <a:rPr lang="en-US" sz="2400" b="1">
                <a:solidFill>
                  <a:srgbClr val="CC0000"/>
                </a:solidFill>
                <a:latin typeface="Arial" charset="0"/>
              </a:rPr>
              <a:t>QUYẾT ĐỊNH THAY ĐỔI CHIỀU DÀI CHỦNG LOẠI SẢN PHẨM</a:t>
            </a:r>
          </a:p>
        </p:txBody>
      </p:sp>
      <p:sp>
        <p:nvSpPr>
          <p:cNvPr id="45060" name="Rectangle 4"/>
          <p:cNvSpPr>
            <a:spLocks noGrp="1" noChangeArrowheads="1"/>
          </p:cNvSpPr>
          <p:nvPr>
            <p:ph idx="1"/>
          </p:nvPr>
        </p:nvSpPr>
        <p:spPr>
          <a:xfrm>
            <a:off x="304800" y="990600"/>
            <a:ext cx="6096000" cy="5105400"/>
          </a:xfrm>
          <a:noFill/>
        </p:spPr>
        <p:txBody>
          <a:bodyPr lIns="90488" tIns="44450" rIns="90488" bIns="44450">
            <a:normAutofit/>
          </a:bodyPr>
          <a:lstStyle/>
          <a:p>
            <a:pPr eaLnBrk="1" hangingPunct="1">
              <a:buNone/>
            </a:pPr>
            <a:r>
              <a:rPr lang="en-US" b="1">
                <a:latin typeface="Arial" charset="0"/>
              </a:rPr>
              <a:t>1/ Kéo dài chủng loại sản phẩm:</a:t>
            </a:r>
          </a:p>
          <a:p>
            <a:pPr eaLnBrk="1" hangingPunct="1">
              <a:spcBef>
                <a:spcPct val="10000"/>
              </a:spcBef>
            </a:pPr>
            <a:r>
              <a:rPr lang="en-US">
                <a:solidFill>
                  <a:srgbClr val="FF0000"/>
                </a:solidFill>
                <a:latin typeface="Arial" charset="0"/>
              </a:rPr>
              <a:t>Kéo dài xuống dưới:</a:t>
            </a:r>
          </a:p>
          <a:p>
            <a:pPr lvl="1" eaLnBrk="1" hangingPunct="1">
              <a:spcBef>
                <a:spcPct val="10000"/>
              </a:spcBef>
            </a:pPr>
            <a:r>
              <a:rPr lang="en-US">
                <a:latin typeface="Arial" charset="0"/>
              </a:rPr>
              <a:t>tạo ra các các SP có các thuộc tính và chất lượng giảm dần nhằm đối  phó cạnh tranh hay tăng cơ hội KD</a:t>
            </a:r>
          </a:p>
          <a:p>
            <a:pPr lvl="1" eaLnBrk="1" hangingPunct="1">
              <a:spcBef>
                <a:spcPct val="10000"/>
              </a:spcBef>
            </a:pPr>
            <a:r>
              <a:rPr lang="en-US">
                <a:latin typeface="Arial" charset="0"/>
              </a:rPr>
              <a:t>chú ý tác động ngược với SP hiện có.</a:t>
            </a:r>
          </a:p>
          <a:p>
            <a:pPr eaLnBrk="1" hangingPunct="1">
              <a:spcBef>
                <a:spcPct val="10000"/>
              </a:spcBef>
            </a:pPr>
            <a:r>
              <a:rPr lang="en-US">
                <a:solidFill>
                  <a:srgbClr val="FF0000"/>
                </a:solidFill>
                <a:latin typeface="Arial" charset="0"/>
              </a:rPr>
              <a:t>Kéo dài lên trên: </a:t>
            </a:r>
          </a:p>
          <a:p>
            <a:pPr lvl="1" eaLnBrk="1" hangingPunct="1">
              <a:spcBef>
                <a:spcPct val="10000"/>
              </a:spcBef>
            </a:pPr>
            <a:r>
              <a:rPr lang="en-US">
                <a:latin typeface="Arial" charset="0"/>
              </a:rPr>
              <a:t>tạo ra các lọai sản phẩm có thuộc tính, đặc điểm và chất lượng cao hơn</a:t>
            </a:r>
          </a:p>
          <a:p>
            <a:pPr eaLnBrk="1" hangingPunct="1">
              <a:spcBef>
                <a:spcPct val="10000"/>
              </a:spcBef>
            </a:pPr>
            <a:r>
              <a:rPr lang="en-US">
                <a:latin typeface="Arial" charset="0"/>
              </a:rPr>
              <a:t>kéo dài hai phía:</a:t>
            </a:r>
          </a:p>
          <a:p>
            <a:pPr lvl="1" eaLnBrk="1" hangingPunct="1">
              <a:spcBef>
                <a:spcPct val="10000"/>
              </a:spcBef>
            </a:pPr>
            <a:r>
              <a:rPr lang="en-US">
                <a:latin typeface="Arial" charset="0"/>
              </a:rPr>
              <a:t>bao gồm hai quyết định nói trên</a:t>
            </a:r>
          </a:p>
          <a:p>
            <a:pPr eaLnBrk="1" hangingPunct="1">
              <a:buNone/>
            </a:pPr>
            <a:r>
              <a:rPr lang="en-US" b="1">
                <a:latin typeface="Arial" charset="0"/>
              </a:rPr>
              <a:t>2/ Bổ sung chủng loại sản phẩm:</a:t>
            </a:r>
          </a:p>
          <a:p>
            <a:pPr lvl="1" eaLnBrk="1" hangingPunct="1">
              <a:spcBef>
                <a:spcPct val="10000"/>
              </a:spcBef>
            </a:pPr>
            <a:r>
              <a:rPr lang="en-US">
                <a:latin typeface="Arial" charset="0"/>
              </a:rPr>
              <a:t>bổ sung thêm mặt hàng mới</a:t>
            </a:r>
          </a:p>
        </p:txBody>
      </p:sp>
      <p:grpSp>
        <p:nvGrpSpPr>
          <p:cNvPr id="2" name="Group 5"/>
          <p:cNvGrpSpPr>
            <a:grpSpLocks/>
          </p:cNvGrpSpPr>
          <p:nvPr/>
        </p:nvGrpSpPr>
        <p:grpSpPr bwMode="auto">
          <a:xfrm>
            <a:off x="6248400" y="1219200"/>
            <a:ext cx="2895600" cy="4937125"/>
            <a:chOff x="3936" y="1062"/>
            <a:chExt cx="1824" cy="2818"/>
          </a:xfrm>
        </p:grpSpPr>
        <p:sp>
          <p:nvSpPr>
            <p:cNvPr id="20486" name="AutoShape 6"/>
            <p:cNvSpPr>
              <a:spLocks noChangeArrowheads="1"/>
            </p:cNvSpPr>
            <p:nvPr/>
          </p:nvSpPr>
          <p:spPr bwMode="auto">
            <a:xfrm>
              <a:off x="4416" y="1248"/>
              <a:ext cx="384" cy="2448"/>
            </a:xfrm>
            <a:prstGeom prst="upDownArrow">
              <a:avLst>
                <a:gd name="adj1" fmla="val 43750"/>
                <a:gd name="adj2" fmla="val 80720"/>
              </a:avLst>
            </a:prstGeom>
            <a:solidFill>
              <a:srgbClr val="0000FF"/>
            </a:solidFill>
            <a:ln w="12700">
              <a:solidFill>
                <a:srgbClr val="000000"/>
              </a:solidFill>
              <a:miter lim="800000"/>
              <a:headEnd/>
              <a:tailEnd/>
            </a:ln>
          </p:spPr>
          <p:txBody>
            <a:bodyPr wrap="none" anchor="ctr"/>
            <a:lstStyle/>
            <a:p>
              <a:pPr algn="ctr" eaLnBrk="0" hangingPunct="0"/>
              <a:endParaRPr lang="en-US" sz="2400">
                <a:solidFill>
                  <a:schemeClr val="tx2"/>
                </a:solidFill>
                <a:latin typeface="Arial" charset="0"/>
              </a:endParaRPr>
            </a:p>
          </p:txBody>
        </p:sp>
        <p:sp>
          <p:nvSpPr>
            <p:cNvPr id="20487" name="Line 7"/>
            <p:cNvSpPr>
              <a:spLocks noChangeShapeType="1"/>
            </p:cNvSpPr>
            <p:nvPr/>
          </p:nvSpPr>
          <p:spPr bwMode="auto">
            <a:xfrm>
              <a:off x="4368" y="2448"/>
              <a:ext cx="480" cy="0"/>
            </a:xfrm>
            <a:prstGeom prst="line">
              <a:avLst/>
            </a:prstGeom>
            <a:noFill/>
            <a:ln w="57150">
              <a:solidFill>
                <a:srgbClr val="00FFFF"/>
              </a:solidFill>
              <a:round/>
              <a:headEnd/>
              <a:tailEnd/>
            </a:ln>
          </p:spPr>
          <p:txBody>
            <a:bodyPr wrap="none" anchor="ctr"/>
            <a:lstStyle/>
            <a:p>
              <a:endParaRPr lang="en-US"/>
            </a:p>
          </p:txBody>
        </p:sp>
        <p:sp>
          <p:nvSpPr>
            <p:cNvPr id="20488" name="Text Box 8"/>
            <p:cNvSpPr txBox="1">
              <a:spLocks noChangeArrowheads="1"/>
            </p:cNvSpPr>
            <p:nvPr/>
          </p:nvSpPr>
          <p:spPr bwMode="auto">
            <a:xfrm>
              <a:off x="4032" y="1062"/>
              <a:ext cx="978" cy="227"/>
            </a:xfrm>
            <a:prstGeom prst="rect">
              <a:avLst/>
            </a:prstGeom>
            <a:noFill/>
            <a:ln w="12700">
              <a:noFill/>
              <a:miter lim="800000"/>
              <a:headEnd/>
              <a:tailEnd/>
            </a:ln>
          </p:spPr>
          <p:txBody>
            <a:bodyPr>
              <a:spAutoFit/>
            </a:bodyPr>
            <a:lstStyle/>
            <a:p>
              <a:pPr eaLnBrk="0" hangingPunct="0"/>
              <a:r>
                <a:rPr lang="en-US" sz="2000">
                  <a:solidFill>
                    <a:schemeClr val="tx2"/>
                  </a:solidFill>
                  <a:latin typeface="Arial" charset="0"/>
                </a:rPr>
                <a:t>Kéo lên trên</a:t>
              </a:r>
              <a:endParaRPr lang="en-US" sz="2400">
                <a:solidFill>
                  <a:schemeClr val="tx2"/>
                </a:solidFill>
                <a:latin typeface="Arial" charset="0"/>
              </a:endParaRPr>
            </a:p>
          </p:txBody>
        </p:sp>
        <p:sp>
          <p:nvSpPr>
            <p:cNvPr id="20489" name="Text Box 9"/>
            <p:cNvSpPr txBox="1">
              <a:spLocks noChangeArrowheads="1"/>
            </p:cNvSpPr>
            <p:nvPr/>
          </p:nvSpPr>
          <p:spPr bwMode="auto">
            <a:xfrm>
              <a:off x="3936" y="3654"/>
              <a:ext cx="1262" cy="226"/>
            </a:xfrm>
            <a:prstGeom prst="rect">
              <a:avLst/>
            </a:prstGeom>
            <a:noFill/>
            <a:ln w="12700">
              <a:noFill/>
              <a:miter lim="800000"/>
              <a:headEnd/>
              <a:tailEnd/>
            </a:ln>
          </p:spPr>
          <p:txBody>
            <a:bodyPr wrap="none">
              <a:spAutoFit/>
            </a:bodyPr>
            <a:lstStyle/>
            <a:p>
              <a:pPr eaLnBrk="0" hangingPunct="0"/>
              <a:r>
                <a:rPr lang="en-US" sz="2000">
                  <a:solidFill>
                    <a:schemeClr val="tx2"/>
                  </a:solidFill>
                  <a:latin typeface="Arial" charset="0"/>
                </a:rPr>
                <a:t>Kéo xuống dưới</a:t>
              </a:r>
            </a:p>
          </p:txBody>
        </p:sp>
        <p:sp>
          <p:nvSpPr>
            <p:cNvPr id="20490" name="AutoShape 10"/>
            <p:cNvSpPr>
              <a:spLocks/>
            </p:cNvSpPr>
            <p:nvPr/>
          </p:nvSpPr>
          <p:spPr bwMode="auto">
            <a:xfrm>
              <a:off x="4224" y="1440"/>
              <a:ext cx="240" cy="1968"/>
            </a:xfrm>
            <a:prstGeom prst="leftBrace">
              <a:avLst>
                <a:gd name="adj1" fmla="val 128315"/>
                <a:gd name="adj2" fmla="val 51218"/>
              </a:avLst>
            </a:prstGeom>
            <a:noFill/>
            <a:ln w="31750">
              <a:solidFill>
                <a:srgbClr val="FFFFFF"/>
              </a:solidFill>
              <a:round/>
              <a:headEnd/>
              <a:tailEnd/>
            </a:ln>
          </p:spPr>
          <p:txBody>
            <a:bodyPr wrap="none" anchor="ctr"/>
            <a:lstStyle/>
            <a:p>
              <a:pPr algn="ctr" eaLnBrk="0" hangingPunct="0"/>
              <a:endParaRPr lang="en-US" sz="2400">
                <a:solidFill>
                  <a:schemeClr val="tx2"/>
                </a:solidFill>
                <a:latin typeface="Arial" charset="0"/>
              </a:endParaRPr>
            </a:p>
          </p:txBody>
        </p:sp>
        <p:sp>
          <p:nvSpPr>
            <p:cNvPr id="20491" name="Text Box 11"/>
            <p:cNvSpPr txBox="1">
              <a:spLocks noChangeArrowheads="1"/>
            </p:cNvSpPr>
            <p:nvPr/>
          </p:nvSpPr>
          <p:spPr bwMode="auto">
            <a:xfrm>
              <a:off x="3936" y="2112"/>
              <a:ext cx="528" cy="575"/>
            </a:xfrm>
            <a:prstGeom prst="rect">
              <a:avLst/>
            </a:prstGeom>
            <a:noFill/>
            <a:ln w="12700">
              <a:noFill/>
              <a:miter lim="800000"/>
              <a:headEnd/>
              <a:tailEnd/>
            </a:ln>
          </p:spPr>
          <p:txBody>
            <a:bodyPr>
              <a:spAutoFit/>
            </a:bodyPr>
            <a:lstStyle/>
            <a:p>
              <a:pPr eaLnBrk="0" hangingPunct="0"/>
              <a:r>
                <a:rPr lang="en-US" sz="2000">
                  <a:solidFill>
                    <a:schemeClr val="tx2"/>
                  </a:solidFill>
                  <a:latin typeface="Arial" charset="0"/>
                </a:rPr>
                <a:t>Kéo hai</a:t>
              </a:r>
            </a:p>
            <a:p>
              <a:pPr eaLnBrk="0" hangingPunct="0"/>
              <a:r>
                <a:rPr lang="en-US" sz="2000">
                  <a:solidFill>
                    <a:schemeClr val="tx2"/>
                  </a:solidFill>
                  <a:latin typeface="Arial" charset="0"/>
                </a:rPr>
                <a:t>phía</a:t>
              </a:r>
            </a:p>
          </p:txBody>
        </p:sp>
        <p:sp>
          <p:nvSpPr>
            <p:cNvPr id="20492" name="Line 12"/>
            <p:cNvSpPr>
              <a:spLocks noChangeShapeType="1"/>
            </p:cNvSpPr>
            <p:nvPr/>
          </p:nvSpPr>
          <p:spPr bwMode="auto">
            <a:xfrm>
              <a:off x="5040" y="2112"/>
              <a:ext cx="432" cy="0"/>
            </a:xfrm>
            <a:prstGeom prst="line">
              <a:avLst/>
            </a:prstGeom>
            <a:noFill/>
            <a:ln w="38100">
              <a:solidFill>
                <a:srgbClr val="00FFFF"/>
              </a:solidFill>
              <a:round/>
              <a:headEnd type="arrow" w="med" len="med"/>
              <a:tailEnd/>
            </a:ln>
          </p:spPr>
          <p:txBody>
            <a:bodyPr wrap="none" anchor="ctr"/>
            <a:lstStyle/>
            <a:p>
              <a:endParaRPr lang="en-US"/>
            </a:p>
          </p:txBody>
        </p:sp>
        <p:sp>
          <p:nvSpPr>
            <p:cNvPr id="20493" name="Line 13"/>
            <p:cNvSpPr>
              <a:spLocks noChangeShapeType="1"/>
            </p:cNvSpPr>
            <p:nvPr/>
          </p:nvSpPr>
          <p:spPr bwMode="auto">
            <a:xfrm>
              <a:off x="5472" y="2112"/>
              <a:ext cx="0" cy="672"/>
            </a:xfrm>
            <a:prstGeom prst="line">
              <a:avLst/>
            </a:prstGeom>
            <a:noFill/>
            <a:ln w="38100">
              <a:solidFill>
                <a:srgbClr val="00FFFF"/>
              </a:solidFill>
              <a:round/>
              <a:headEnd/>
              <a:tailEnd/>
            </a:ln>
          </p:spPr>
          <p:txBody>
            <a:bodyPr wrap="none" anchor="ctr"/>
            <a:lstStyle/>
            <a:p>
              <a:endParaRPr lang="en-US"/>
            </a:p>
          </p:txBody>
        </p:sp>
        <p:sp>
          <p:nvSpPr>
            <p:cNvPr id="20494" name="Text Box 14"/>
            <p:cNvSpPr txBox="1">
              <a:spLocks noChangeArrowheads="1"/>
            </p:cNvSpPr>
            <p:nvPr/>
          </p:nvSpPr>
          <p:spPr bwMode="auto">
            <a:xfrm>
              <a:off x="5057" y="2791"/>
              <a:ext cx="703" cy="227"/>
            </a:xfrm>
            <a:prstGeom prst="rect">
              <a:avLst/>
            </a:prstGeom>
            <a:noFill/>
            <a:ln w="12700">
              <a:noFill/>
              <a:miter lim="800000"/>
              <a:headEnd/>
              <a:tailEnd/>
            </a:ln>
          </p:spPr>
          <p:txBody>
            <a:bodyPr wrap="none">
              <a:spAutoFit/>
            </a:bodyPr>
            <a:lstStyle/>
            <a:p>
              <a:pPr eaLnBrk="0" hangingPunct="0"/>
              <a:r>
                <a:rPr lang="en-US" sz="2000">
                  <a:solidFill>
                    <a:schemeClr val="tx2"/>
                  </a:solidFill>
                  <a:latin typeface="Arial" charset="0"/>
                </a:rPr>
                <a:t>Bổ sung</a:t>
              </a:r>
            </a:p>
          </p:txBody>
        </p:sp>
      </p:gr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6" name="Rectangle 2"/>
          <p:cNvSpPr>
            <a:spLocks noChangeArrowheads="1"/>
          </p:cNvSpPr>
          <p:nvPr/>
        </p:nvSpPr>
        <p:spPr bwMode="auto">
          <a:xfrm>
            <a:off x="7772400" y="5564188"/>
            <a:ext cx="1371600" cy="1219200"/>
          </a:xfrm>
          <a:prstGeom prst="rect">
            <a:avLst/>
          </a:prstGeom>
          <a:solidFill>
            <a:schemeClr val="bg1"/>
          </a:solidFill>
          <a:ln w="9525">
            <a:noFill/>
            <a:miter lim="800000"/>
            <a:headEnd/>
            <a:tailEnd/>
          </a:ln>
        </p:spPr>
        <p:txBody>
          <a:bodyPr wrap="none" anchor="ctr"/>
          <a:lstStyle/>
          <a:p>
            <a:endParaRPr lang="en-US"/>
          </a:p>
        </p:txBody>
      </p:sp>
      <p:sp>
        <p:nvSpPr>
          <p:cNvPr id="46083" name="Rectangle 3"/>
          <p:cNvSpPr>
            <a:spLocks noGrp="1" noChangeArrowheads="1"/>
          </p:cNvSpPr>
          <p:nvPr>
            <p:ph type="title"/>
          </p:nvPr>
        </p:nvSpPr>
        <p:spPr>
          <a:xfrm>
            <a:off x="609600" y="381000"/>
            <a:ext cx="8153400" cy="609600"/>
          </a:xfrm>
          <a:noFill/>
        </p:spPr>
        <p:txBody>
          <a:bodyPr lIns="90488" tIns="44450" rIns="90488" bIns="44450" anchor="b"/>
          <a:lstStyle/>
          <a:p>
            <a:pPr algn="ctr" eaLnBrk="1" hangingPunct="1"/>
            <a:r>
              <a:rPr lang="en-US" sz="2400" b="1">
                <a:solidFill>
                  <a:srgbClr val="CC0000"/>
                </a:solidFill>
                <a:latin typeface="Arial" charset="0"/>
              </a:rPr>
              <a:t>QUYẾT ĐỊNH CHỦNG LOẠI SẢN PHẨM (tt)</a:t>
            </a:r>
          </a:p>
        </p:txBody>
      </p:sp>
      <p:sp>
        <p:nvSpPr>
          <p:cNvPr id="46084" name="Rectangle 4"/>
          <p:cNvSpPr>
            <a:spLocks noGrp="1" noChangeArrowheads="1"/>
          </p:cNvSpPr>
          <p:nvPr>
            <p:ph idx="1"/>
          </p:nvPr>
        </p:nvSpPr>
        <p:spPr>
          <a:xfrm>
            <a:off x="228600" y="1066800"/>
            <a:ext cx="6553200" cy="2133600"/>
          </a:xfrm>
          <a:noFill/>
        </p:spPr>
        <p:txBody>
          <a:bodyPr lIns="90488" tIns="44450" rIns="90488" bIns="44450">
            <a:normAutofit/>
          </a:bodyPr>
          <a:lstStyle/>
          <a:p>
            <a:pPr eaLnBrk="1" hangingPunct="1">
              <a:lnSpc>
                <a:spcPct val="90000"/>
              </a:lnSpc>
              <a:buFont typeface="Wingdings" pitchFamily="2" charset="2"/>
              <a:buChar char="ü"/>
            </a:pPr>
            <a:r>
              <a:rPr lang="en-US" b="1">
                <a:solidFill>
                  <a:schemeClr val="accent2"/>
                </a:solidFill>
                <a:latin typeface="Arial" charset="0"/>
              </a:rPr>
              <a:t>Hiện đại hóa sản phẩm:</a:t>
            </a:r>
            <a:endParaRPr lang="en-US">
              <a:solidFill>
                <a:schemeClr val="accent2"/>
              </a:solidFill>
              <a:latin typeface="Arial" charset="0"/>
            </a:endParaRPr>
          </a:p>
          <a:p>
            <a:pPr lvl="1" eaLnBrk="1" hangingPunct="1">
              <a:lnSpc>
                <a:spcPct val="90000"/>
              </a:lnSpc>
            </a:pPr>
            <a:r>
              <a:rPr lang="en-US">
                <a:latin typeface="Arial" charset="0"/>
              </a:rPr>
              <a:t>Cải tiến liên tục để tạo lợi thế cạnh tranh</a:t>
            </a:r>
          </a:p>
          <a:p>
            <a:pPr lvl="1" eaLnBrk="1" hangingPunct="1">
              <a:lnSpc>
                <a:spcPct val="90000"/>
              </a:lnSpc>
            </a:pPr>
            <a:r>
              <a:rPr lang="en-US">
                <a:latin typeface="Arial" charset="0"/>
              </a:rPr>
              <a:t>Tốc độ tiến bộ khoa học công nghệ mạnh mẽ là một áp lực</a:t>
            </a:r>
          </a:p>
          <a:p>
            <a:pPr lvl="1" eaLnBrk="1" hangingPunct="1">
              <a:lnSpc>
                <a:spcPct val="90000"/>
              </a:lnSpc>
            </a:pPr>
            <a:r>
              <a:rPr lang="en-US">
                <a:latin typeface="Arial" charset="0"/>
              </a:rPr>
              <a:t>Cân nhắc thân trọng tính thời điểm tiến hành thay đổi</a:t>
            </a:r>
            <a:r>
              <a:rPr lang="en-US" sz="2800">
                <a:latin typeface="Arial" charset="0"/>
              </a:rPr>
              <a:t>  </a:t>
            </a:r>
          </a:p>
        </p:txBody>
      </p:sp>
      <p:graphicFrame>
        <p:nvGraphicFramePr>
          <p:cNvPr id="46085" name="Object 5"/>
          <p:cNvGraphicFramePr>
            <a:graphicFrameLocks noChangeAspect="1"/>
          </p:cNvGraphicFramePr>
          <p:nvPr/>
        </p:nvGraphicFramePr>
        <p:xfrm>
          <a:off x="6629400" y="2057400"/>
          <a:ext cx="1905000" cy="1138238"/>
        </p:xfrm>
        <a:graphic>
          <a:graphicData uri="http://schemas.openxmlformats.org/presentationml/2006/ole">
            <mc:AlternateContent xmlns:mc="http://schemas.openxmlformats.org/markup-compatibility/2006">
              <mc:Choice xmlns:v="urn:schemas-microsoft-com:vml" Requires="v">
                <p:oleObj name="Clip" r:id="rId2" imgW="3954463" imgH="3497263" progId="">
                  <p:embed/>
                </p:oleObj>
              </mc:Choice>
              <mc:Fallback>
                <p:oleObj name="Clip" r:id="rId2" imgW="3954463" imgH="3497263" progId="">
                  <p:embed/>
                  <p:pic>
                    <p:nvPicPr>
                      <p:cNvPr id="0"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2057400"/>
                        <a:ext cx="1905000" cy="1138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86" name="Object 6"/>
          <p:cNvGraphicFramePr>
            <a:graphicFrameLocks noChangeAspect="1"/>
          </p:cNvGraphicFramePr>
          <p:nvPr/>
        </p:nvGraphicFramePr>
        <p:xfrm>
          <a:off x="5257800" y="5638800"/>
          <a:ext cx="2743200" cy="1104900"/>
        </p:xfrm>
        <a:graphic>
          <a:graphicData uri="http://schemas.openxmlformats.org/presentationml/2006/ole">
            <mc:AlternateContent xmlns:mc="http://schemas.openxmlformats.org/markup-compatibility/2006">
              <mc:Choice xmlns:v="urn:schemas-microsoft-com:vml" Requires="v">
                <p:oleObj name="Clip" r:id="rId4" imgW="4716463" imgH="3543300" progId="">
                  <p:embed/>
                </p:oleObj>
              </mc:Choice>
              <mc:Fallback>
                <p:oleObj name="Clip" r:id="rId4" imgW="4716463" imgH="3543300" progId="">
                  <p:embed/>
                  <p:pic>
                    <p:nvPicPr>
                      <p:cNvPr id="0"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7800" y="5638800"/>
                        <a:ext cx="2743200" cy="1104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87" name="Object 7"/>
          <p:cNvGraphicFramePr>
            <a:graphicFrameLocks noChangeAspect="1"/>
          </p:cNvGraphicFramePr>
          <p:nvPr/>
        </p:nvGraphicFramePr>
        <p:xfrm>
          <a:off x="304800" y="4495800"/>
          <a:ext cx="2286000" cy="1066800"/>
        </p:xfrm>
        <a:graphic>
          <a:graphicData uri="http://schemas.openxmlformats.org/presentationml/2006/ole">
            <mc:AlternateContent xmlns:mc="http://schemas.openxmlformats.org/markup-compatibility/2006">
              <mc:Choice xmlns:v="urn:schemas-microsoft-com:vml" Requires="v">
                <p:oleObj name="Clip" r:id="rId6" imgW="3597275" imgH="3390900" progId="">
                  <p:embed/>
                </p:oleObj>
              </mc:Choice>
              <mc:Fallback>
                <p:oleObj name="Clip" r:id="rId6" imgW="3597275" imgH="3390900" progId="">
                  <p:embed/>
                  <p:pic>
                    <p:nvPicPr>
                      <p:cNvPr id="0"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 y="4495800"/>
                        <a:ext cx="2286000"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9" name="Rectangle 9"/>
          <p:cNvSpPr>
            <a:spLocks noChangeArrowheads="1"/>
          </p:cNvSpPr>
          <p:nvPr/>
        </p:nvSpPr>
        <p:spPr bwMode="auto">
          <a:xfrm>
            <a:off x="2514600" y="3429000"/>
            <a:ext cx="6324600" cy="2133600"/>
          </a:xfrm>
          <a:prstGeom prst="rect">
            <a:avLst/>
          </a:prstGeom>
          <a:noFill/>
          <a:ln w="12700">
            <a:noFill/>
            <a:miter lim="800000"/>
            <a:headEnd/>
            <a:tailEnd/>
          </a:ln>
        </p:spPr>
        <p:txBody>
          <a:bodyPr lIns="90488" tIns="44450" rIns="90488" bIns="44450"/>
          <a:lstStyle/>
          <a:p>
            <a:pPr marL="342900" indent="-342900">
              <a:spcBef>
                <a:spcPct val="20000"/>
              </a:spcBef>
              <a:buFont typeface="Wingdings" pitchFamily="2" charset="2"/>
              <a:buChar char="ü"/>
            </a:pPr>
            <a:r>
              <a:rPr lang="en-US" sz="2700" b="1">
                <a:solidFill>
                  <a:schemeClr val="accent2"/>
                </a:solidFill>
                <a:latin typeface="Arial" charset="0"/>
              </a:rPr>
              <a:t>Khuếch trương hay loại bỏ:</a:t>
            </a:r>
          </a:p>
          <a:p>
            <a:pPr marL="742950" lvl="1" indent="-285750">
              <a:lnSpc>
                <a:spcPct val="80000"/>
              </a:lnSpc>
              <a:spcBef>
                <a:spcPct val="20000"/>
              </a:spcBef>
              <a:buFont typeface="Arial" pitchFamily="34" charset="0"/>
              <a:buChar char="–"/>
            </a:pPr>
            <a:r>
              <a:rPr lang="en-US" sz="2400">
                <a:latin typeface="Arial" charset="0"/>
              </a:rPr>
              <a:t>Tập trung nỗ lực vào một mặt hàng để tạo uy tín cho dòng SP</a:t>
            </a:r>
          </a:p>
          <a:p>
            <a:pPr marL="742950" lvl="1" indent="-285750">
              <a:lnSpc>
                <a:spcPct val="80000"/>
              </a:lnSpc>
              <a:spcBef>
                <a:spcPct val="20000"/>
              </a:spcBef>
              <a:buFont typeface="Arial" pitchFamily="34" charset="0"/>
              <a:buChar char="–"/>
            </a:pPr>
            <a:r>
              <a:rPr lang="en-US" sz="2400">
                <a:latin typeface="Arial" charset="0"/>
              </a:rPr>
              <a:t>loại bỏ SP trên cơ sở phân tích lợi nhuận/chi phí hay khả năng SX và quản trị</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239000" cy="1143000"/>
          </a:xfrm>
        </p:spPr>
        <p:style>
          <a:lnRef idx="3">
            <a:schemeClr val="lt1"/>
          </a:lnRef>
          <a:fillRef idx="1">
            <a:schemeClr val="accent2"/>
          </a:fillRef>
          <a:effectRef idx="1">
            <a:schemeClr val="accent2"/>
          </a:effectRef>
          <a:fontRef idx="minor">
            <a:schemeClr val="lt1"/>
          </a:fontRef>
        </p:style>
        <p:txBody>
          <a:bodyPr>
            <a:normAutofit fontScale="90000"/>
          </a:bodyPr>
          <a:lstStyle/>
          <a:p>
            <a:pPr algn="l"/>
            <a:r>
              <a:rPr lang="en-US" sz="3200" b="1" dirty="0" err="1"/>
              <a:t>Các</a:t>
            </a:r>
            <a:r>
              <a:rPr lang="en-US" sz="3200" b="1" dirty="0"/>
              <a:t> </a:t>
            </a:r>
            <a:r>
              <a:rPr lang="en-US" sz="3200" b="1" dirty="0" err="1"/>
              <a:t>quyết</a:t>
            </a:r>
            <a:r>
              <a:rPr lang="en-US" sz="3200" b="1" dirty="0"/>
              <a:t> </a:t>
            </a:r>
            <a:r>
              <a:rPr lang="en-US" sz="3200" b="1" dirty="0" err="1"/>
              <a:t>định</a:t>
            </a:r>
            <a:r>
              <a:rPr lang="en-US" sz="3200" b="1" dirty="0"/>
              <a:t> </a:t>
            </a:r>
            <a:r>
              <a:rPr lang="en-US" sz="3200" b="1" dirty="0" err="1"/>
              <a:t>về</a:t>
            </a:r>
            <a:r>
              <a:rPr lang="en-US" sz="3200" b="1" dirty="0"/>
              <a:t> </a:t>
            </a:r>
            <a:r>
              <a:rPr lang="en-US" sz="3200" b="1" dirty="0" err="1"/>
              <a:t>dịch</a:t>
            </a:r>
            <a:r>
              <a:rPr lang="en-US" sz="3200" b="1" dirty="0"/>
              <a:t> </a:t>
            </a:r>
            <a:r>
              <a:rPr lang="en-US" sz="3200" b="1" dirty="0" err="1"/>
              <a:t>vụ</a:t>
            </a:r>
            <a:r>
              <a:rPr lang="en-US" sz="3200" b="1" dirty="0"/>
              <a:t> </a:t>
            </a:r>
            <a:r>
              <a:rPr lang="en-US" sz="3200" b="1" dirty="0" err="1"/>
              <a:t>khách</a:t>
            </a:r>
            <a:r>
              <a:rPr lang="en-US" sz="3200" b="1" dirty="0"/>
              <a:t> </a:t>
            </a:r>
            <a:r>
              <a:rPr lang="en-US" sz="3200" b="1" dirty="0" err="1"/>
              <a:t>hàng</a:t>
            </a:r>
            <a:br>
              <a:rPr lang="en-US" sz="3200" b="1" dirty="0"/>
            </a:br>
            <a:endParaRPr lang="en-US" sz="3200" dirty="0"/>
          </a:p>
        </p:txBody>
      </p:sp>
      <p:sp>
        <p:nvSpPr>
          <p:cNvPr id="4" name="Rectangle 3"/>
          <p:cNvSpPr/>
          <p:nvPr/>
        </p:nvSpPr>
        <p:spPr>
          <a:xfrm>
            <a:off x="533400" y="1676400"/>
            <a:ext cx="5017720" cy="523220"/>
          </a:xfrm>
          <a:prstGeom prst="rect">
            <a:avLst/>
          </a:prstGeom>
        </p:spPr>
        <p:txBody>
          <a:bodyPr wrap="none">
            <a:spAutoFit/>
          </a:bodyPr>
          <a:lstStyle/>
          <a:p>
            <a:r>
              <a:rPr lang="en-US" sz="2800" dirty="0" err="1"/>
              <a:t>Khái</a:t>
            </a:r>
            <a:r>
              <a:rPr lang="en-US" sz="2800" dirty="0"/>
              <a:t> </a:t>
            </a:r>
            <a:r>
              <a:rPr lang="en-US" sz="2800" dirty="0" err="1"/>
              <a:t>niệm</a:t>
            </a:r>
            <a:r>
              <a:rPr lang="en-US" sz="2800" dirty="0"/>
              <a:t> </a:t>
            </a:r>
            <a:r>
              <a:rPr lang="en-US" sz="2800" dirty="0" err="1"/>
              <a:t>dịch</a:t>
            </a:r>
            <a:r>
              <a:rPr lang="en-US" sz="2800" dirty="0"/>
              <a:t> </a:t>
            </a:r>
            <a:r>
              <a:rPr lang="en-US" sz="2800" dirty="0" err="1"/>
              <a:t>vụ</a:t>
            </a:r>
            <a:r>
              <a:rPr lang="en-US" sz="2800" dirty="0"/>
              <a:t> </a:t>
            </a:r>
            <a:r>
              <a:rPr lang="en-US" sz="2800" dirty="0" err="1"/>
              <a:t>khách</a:t>
            </a:r>
            <a:r>
              <a:rPr lang="en-US" sz="2800" dirty="0"/>
              <a:t> </a:t>
            </a:r>
            <a:r>
              <a:rPr lang="en-US" sz="2800" dirty="0" err="1"/>
              <a:t>hàng</a:t>
            </a:r>
            <a:r>
              <a:rPr lang="en-US" sz="2800" dirty="0"/>
              <a:t> </a:t>
            </a:r>
          </a:p>
        </p:txBody>
      </p:sp>
      <p:sp>
        <p:nvSpPr>
          <p:cNvPr id="5" name="Rectangle 4"/>
          <p:cNvSpPr/>
          <p:nvPr/>
        </p:nvSpPr>
        <p:spPr>
          <a:xfrm>
            <a:off x="914400" y="2590800"/>
            <a:ext cx="7924800" cy="1384995"/>
          </a:xfrm>
          <a:prstGeom prst="rect">
            <a:avLst/>
          </a:prstGeom>
        </p:spPr>
        <p:txBody>
          <a:bodyPr wrap="square">
            <a:spAutoFit/>
          </a:bodyPr>
          <a:lstStyle/>
          <a:p>
            <a:r>
              <a:rPr lang="en-US" sz="2800" dirty="0" err="1"/>
              <a:t>Là</a:t>
            </a:r>
            <a:r>
              <a:rPr lang="en-US" sz="2800" dirty="0"/>
              <a:t> </a:t>
            </a:r>
            <a:r>
              <a:rPr lang="en-US" sz="2800" dirty="0" err="1"/>
              <a:t>các</a:t>
            </a:r>
            <a:r>
              <a:rPr lang="en-US" sz="2800" dirty="0"/>
              <a:t> </a:t>
            </a:r>
            <a:r>
              <a:rPr lang="en-US" sz="2800" dirty="0" err="1"/>
              <a:t>dịch</a:t>
            </a:r>
            <a:r>
              <a:rPr lang="en-US" sz="2800" dirty="0"/>
              <a:t> </a:t>
            </a:r>
            <a:r>
              <a:rPr lang="en-US" sz="2800" dirty="0" err="1"/>
              <a:t>vụ</a:t>
            </a:r>
            <a:r>
              <a:rPr lang="en-US" sz="2800" dirty="0"/>
              <a:t> </a:t>
            </a:r>
            <a:r>
              <a:rPr lang="en-US" sz="2800" dirty="0" err="1"/>
              <a:t>bổ</a:t>
            </a:r>
            <a:r>
              <a:rPr lang="en-US" sz="2800" dirty="0"/>
              <a:t> sung </a:t>
            </a:r>
            <a:r>
              <a:rPr lang="en-US" sz="2800" dirty="0" err="1"/>
              <a:t>tối</a:t>
            </a:r>
            <a:r>
              <a:rPr lang="en-US" sz="2800" dirty="0"/>
              <a:t> </a:t>
            </a:r>
            <a:r>
              <a:rPr lang="en-US" sz="2800" dirty="0" err="1"/>
              <a:t>thiểu</a:t>
            </a:r>
            <a:r>
              <a:rPr lang="en-US" sz="2800" dirty="0"/>
              <a:t> </a:t>
            </a:r>
            <a:r>
              <a:rPr lang="en-US" sz="2800" dirty="0" err="1"/>
              <a:t>đi</a:t>
            </a:r>
            <a:r>
              <a:rPr lang="en-US" sz="2800" dirty="0"/>
              <a:t> </a:t>
            </a:r>
            <a:r>
              <a:rPr lang="en-US" sz="2800" dirty="0" err="1"/>
              <a:t>kèm</a:t>
            </a:r>
            <a:r>
              <a:rPr lang="en-US" sz="2800" dirty="0"/>
              <a:t> </a:t>
            </a:r>
            <a:r>
              <a:rPr lang="en-US" sz="2800" dirty="0" err="1"/>
              <a:t>theo</a:t>
            </a:r>
            <a:r>
              <a:rPr lang="en-US" sz="2800" dirty="0"/>
              <a:t> </a:t>
            </a:r>
            <a:r>
              <a:rPr lang="en-US" sz="2800" dirty="0" err="1"/>
              <a:t>sản</a:t>
            </a:r>
            <a:r>
              <a:rPr lang="en-US" sz="2800" dirty="0"/>
              <a:t> </a:t>
            </a:r>
            <a:r>
              <a:rPr lang="en-US" sz="2800" dirty="0" err="1"/>
              <a:t>phẩm</a:t>
            </a:r>
            <a:r>
              <a:rPr lang="en-US" sz="2800" dirty="0"/>
              <a:t> </a:t>
            </a:r>
            <a:r>
              <a:rPr lang="en-US" sz="2800" dirty="0" err="1"/>
              <a:t>cốt</a:t>
            </a:r>
            <a:r>
              <a:rPr lang="en-US" sz="2800" dirty="0"/>
              <a:t> </a:t>
            </a:r>
            <a:r>
              <a:rPr lang="en-US" sz="2800" dirty="0" err="1"/>
              <a:t>lõi</a:t>
            </a:r>
            <a:r>
              <a:rPr lang="en-US" sz="2800" dirty="0"/>
              <a:t> </a:t>
            </a:r>
            <a:r>
              <a:rPr lang="en-US" sz="2800" dirty="0" err="1"/>
              <a:t>khi</a:t>
            </a:r>
            <a:r>
              <a:rPr lang="en-US" sz="2800" dirty="0"/>
              <a:t> </a:t>
            </a:r>
            <a:r>
              <a:rPr lang="en-US" sz="2800" dirty="0" err="1"/>
              <a:t>bán</a:t>
            </a:r>
            <a:r>
              <a:rPr lang="en-US" sz="2800" dirty="0"/>
              <a:t> </a:t>
            </a:r>
            <a:r>
              <a:rPr lang="en-US" sz="2800" dirty="0" err="1"/>
              <a:t>sản</a:t>
            </a:r>
            <a:r>
              <a:rPr lang="en-US" sz="2800" dirty="0"/>
              <a:t> </a:t>
            </a:r>
            <a:r>
              <a:rPr lang="en-US" sz="2800" dirty="0" err="1"/>
              <a:t>phẩm</a:t>
            </a:r>
            <a:r>
              <a:rPr lang="en-US" sz="2800" dirty="0"/>
              <a:t> </a:t>
            </a:r>
            <a:r>
              <a:rPr lang="en-US" sz="2800" dirty="0" err="1"/>
              <a:t>cho</a:t>
            </a:r>
            <a:r>
              <a:rPr lang="en-US" sz="2800" dirty="0"/>
              <a:t> </a:t>
            </a:r>
            <a:r>
              <a:rPr lang="en-US" sz="2800" dirty="0" err="1"/>
              <a:t>khách</a:t>
            </a:r>
            <a:r>
              <a:rPr lang="en-US" sz="2800" dirty="0"/>
              <a:t> </a:t>
            </a:r>
            <a:r>
              <a:rPr lang="en-US" sz="2800" dirty="0" err="1"/>
              <a:t>hàng</a:t>
            </a:r>
            <a:r>
              <a:rPr lang="en-US" sz="2800" dirty="0"/>
              <a:t>.</a:t>
            </a:r>
          </a:p>
          <a:p>
            <a:r>
              <a:rPr lang="en-US" sz="2800" u="sng" dirty="0" err="1"/>
              <a:t>Ví</a:t>
            </a:r>
            <a:r>
              <a:rPr lang="en-US" sz="2800" u="sng" dirty="0"/>
              <a:t> </a:t>
            </a:r>
            <a:r>
              <a:rPr lang="en-US" sz="2800" u="sng" dirty="0" err="1"/>
              <a:t>dụ</a:t>
            </a:r>
            <a:r>
              <a:rPr lang="en-US" sz="2800" u="sng" dirty="0"/>
              <a:t>: </a:t>
            </a:r>
            <a:r>
              <a:rPr lang="en-US" sz="2800" dirty="0" err="1"/>
              <a:t>bảo</a:t>
            </a:r>
            <a:r>
              <a:rPr lang="en-US" sz="2800" dirty="0"/>
              <a:t> </a:t>
            </a:r>
            <a:r>
              <a:rPr lang="en-US" sz="2800" dirty="0" err="1"/>
              <a:t>hành</a:t>
            </a:r>
            <a:r>
              <a:rPr lang="en-US" sz="2800" dirty="0"/>
              <a:t>,  </a:t>
            </a:r>
            <a:r>
              <a:rPr lang="en-US" sz="2800" dirty="0" err="1"/>
              <a:t>mua</a:t>
            </a:r>
            <a:r>
              <a:rPr lang="en-US" sz="2800" dirty="0"/>
              <a:t> </a:t>
            </a:r>
            <a:r>
              <a:rPr lang="en-US" sz="2800" dirty="0" err="1"/>
              <a:t>trả</a:t>
            </a:r>
            <a:r>
              <a:rPr lang="en-US" sz="2800" dirty="0"/>
              <a:t> </a:t>
            </a:r>
            <a:r>
              <a:rPr lang="en-US" sz="2800" dirty="0" err="1"/>
              <a:t>góp</a:t>
            </a:r>
            <a:r>
              <a:rPr lang="en-US" sz="2800" dirty="0"/>
              <a:t>…</a:t>
            </a:r>
          </a:p>
        </p:txBody>
      </p:sp>
      <p:pic>
        <p:nvPicPr>
          <p:cNvPr id="73730" name="Picture 2" descr="http://suamaygiattainha.com.vn/wp-content/uploads/2012/04/99.gif"/>
          <p:cNvPicPr>
            <a:picLocks noChangeAspect="1" noChangeArrowheads="1"/>
          </p:cNvPicPr>
          <p:nvPr/>
        </p:nvPicPr>
        <p:blipFill>
          <a:blip r:embed="rId2" cstate="print"/>
          <a:srcRect/>
          <a:stretch>
            <a:fillRect/>
          </a:stretch>
        </p:blipFill>
        <p:spPr bwMode="auto">
          <a:xfrm>
            <a:off x="5695950" y="4162424"/>
            <a:ext cx="3448050" cy="2695576"/>
          </a:xfrm>
          <a:prstGeom prst="rect">
            <a:avLst/>
          </a:prstGeom>
          <a:noFill/>
        </p:spPr>
      </p:pic>
      <p:pic>
        <p:nvPicPr>
          <p:cNvPr id="73732" name="Picture 4" descr="http://muagop.com/uploads/images/khuyenmai/1c.jpg"/>
          <p:cNvPicPr>
            <a:picLocks noChangeAspect="1" noChangeArrowheads="1"/>
          </p:cNvPicPr>
          <p:nvPr/>
        </p:nvPicPr>
        <p:blipFill>
          <a:blip r:embed="rId3" cstate="print"/>
          <a:srcRect/>
          <a:stretch>
            <a:fillRect/>
          </a:stretch>
        </p:blipFill>
        <p:spPr bwMode="auto">
          <a:xfrm>
            <a:off x="533400" y="4114800"/>
            <a:ext cx="2743200" cy="2743200"/>
          </a:xfrm>
          <a:prstGeom prst="rect">
            <a:avLst/>
          </a:prstGeom>
          <a:noFill/>
        </p:spPr>
      </p:pic>
    </p:spTree>
    <p:extLst>
      <p:ext uri="{BB962C8B-B14F-4D97-AF65-F5344CB8AC3E}">
        <p14:creationId xmlns:p14="http://schemas.microsoft.com/office/powerpoint/2010/main" val="14594111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3581" y="533400"/>
            <a:ext cx="7188819" cy="990600"/>
          </a:xfrm>
        </p:spPr>
        <p:txBody>
          <a:bodyPr>
            <a:normAutofit/>
          </a:bodyPr>
          <a:lstStyle/>
          <a:p>
            <a:pPr algn="l"/>
            <a:r>
              <a:rPr lang="en-US" sz="3200" b="1" dirty="0" err="1">
                <a:solidFill>
                  <a:srgbClr val="0070C0"/>
                </a:solidFill>
                <a:latin typeface="Times New Roman" panose="02020603050405020304" pitchFamily="18" charset="0"/>
                <a:cs typeface="Times New Roman" panose="02020603050405020304" pitchFamily="18" charset="0"/>
              </a:rPr>
              <a:t>Các</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dirty="0" err="1">
                <a:solidFill>
                  <a:srgbClr val="0070C0"/>
                </a:solidFill>
                <a:latin typeface="Times New Roman" panose="02020603050405020304" pitchFamily="18" charset="0"/>
                <a:cs typeface="Times New Roman" panose="02020603050405020304" pitchFamily="18" charset="0"/>
              </a:rPr>
              <a:t>quyết</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dirty="0" err="1">
                <a:solidFill>
                  <a:srgbClr val="0070C0"/>
                </a:solidFill>
                <a:latin typeface="Times New Roman" panose="02020603050405020304" pitchFamily="18" charset="0"/>
                <a:cs typeface="Times New Roman" panose="02020603050405020304" pitchFamily="18" charset="0"/>
              </a:rPr>
              <a:t>định</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dirty="0" err="1">
                <a:solidFill>
                  <a:srgbClr val="0070C0"/>
                </a:solidFill>
                <a:latin typeface="Times New Roman" panose="02020603050405020304" pitchFamily="18" charset="0"/>
                <a:cs typeface="Times New Roman" panose="02020603050405020304" pitchFamily="18" charset="0"/>
              </a:rPr>
              <a:t>về</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dirty="0" err="1">
                <a:solidFill>
                  <a:srgbClr val="0070C0"/>
                </a:solidFill>
                <a:latin typeface="Times New Roman" panose="02020603050405020304" pitchFamily="18" charset="0"/>
                <a:cs typeface="Times New Roman" panose="02020603050405020304" pitchFamily="18" charset="0"/>
              </a:rPr>
              <a:t>dịch</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dirty="0" err="1">
                <a:solidFill>
                  <a:srgbClr val="0070C0"/>
                </a:solidFill>
                <a:latin typeface="Times New Roman" panose="02020603050405020304" pitchFamily="18" charset="0"/>
                <a:cs typeface="Times New Roman" panose="02020603050405020304" pitchFamily="18" charset="0"/>
              </a:rPr>
              <a:t>vụ</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dirty="0" err="1">
                <a:solidFill>
                  <a:srgbClr val="0070C0"/>
                </a:solidFill>
                <a:latin typeface="Times New Roman" panose="02020603050405020304" pitchFamily="18" charset="0"/>
                <a:cs typeface="Times New Roman" panose="02020603050405020304" pitchFamily="18" charset="0"/>
              </a:rPr>
              <a:t>khách</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dirty="0" err="1">
                <a:solidFill>
                  <a:srgbClr val="0070C0"/>
                </a:solidFill>
                <a:latin typeface="Times New Roman" panose="02020603050405020304" pitchFamily="18" charset="0"/>
                <a:cs typeface="Times New Roman" panose="02020603050405020304" pitchFamily="18" charset="0"/>
              </a:rPr>
              <a:t>hàng</a:t>
            </a:r>
            <a:endParaRPr lang="en-US" sz="3200" b="1" dirty="0">
              <a:solidFill>
                <a:srgbClr val="0070C0"/>
              </a:solidFill>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48315131"/>
              </p:ext>
            </p:extLst>
          </p:nvPr>
        </p:nvGraphicFramePr>
        <p:xfrm>
          <a:off x="609601" y="1524000"/>
          <a:ext cx="6019799" cy="45180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440846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err="1"/>
              <a:t>Quyết</a:t>
            </a:r>
            <a:r>
              <a:rPr lang="en-US" sz="3200" b="1" dirty="0"/>
              <a:t> </a:t>
            </a:r>
            <a:r>
              <a:rPr lang="en-US" sz="3200" b="1" dirty="0" err="1"/>
              <a:t>định</a:t>
            </a:r>
            <a:r>
              <a:rPr lang="en-US" sz="3200" b="1" dirty="0"/>
              <a:t> </a:t>
            </a:r>
            <a:r>
              <a:rPr lang="en-US" sz="3200" b="1" dirty="0" err="1"/>
              <a:t>về</a:t>
            </a:r>
            <a:r>
              <a:rPr lang="en-US" sz="3200" b="1" dirty="0"/>
              <a:t> </a:t>
            </a:r>
            <a:r>
              <a:rPr lang="en-US" sz="3200" b="1" dirty="0" err="1"/>
              <a:t>nội</a:t>
            </a:r>
            <a:r>
              <a:rPr lang="en-US" sz="3200" b="1" dirty="0"/>
              <a:t> dung </a:t>
            </a:r>
            <a:r>
              <a:rPr lang="en-US" sz="3200" b="1" dirty="0" err="1"/>
              <a:t>dịch</a:t>
            </a:r>
            <a:r>
              <a:rPr lang="en-US" sz="3200" b="1" dirty="0"/>
              <a:t> </a:t>
            </a:r>
            <a:r>
              <a:rPr lang="en-US" sz="3200" b="1" dirty="0" err="1"/>
              <a:t>vụ</a:t>
            </a:r>
            <a:r>
              <a:rPr lang="en-US" sz="3200" b="1" dirty="0"/>
              <a:t> </a:t>
            </a:r>
            <a:r>
              <a:rPr lang="en-US" sz="3200" b="1" dirty="0" err="1"/>
              <a:t>cung</a:t>
            </a:r>
            <a:r>
              <a:rPr lang="en-US" sz="3200" b="1" dirty="0"/>
              <a:t> </a:t>
            </a:r>
            <a:r>
              <a:rPr lang="en-US" sz="3200" b="1" dirty="0" err="1"/>
              <a:t>cấp</a:t>
            </a:r>
            <a:r>
              <a:rPr lang="en-US" sz="3200" b="1" dirty="0"/>
              <a:t> </a:t>
            </a:r>
            <a:r>
              <a:rPr lang="en-US" sz="3200" b="1" dirty="0" err="1"/>
              <a:t>cho</a:t>
            </a:r>
            <a:r>
              <a:rPr lang="en-US" sz="3200" b="1" dirty="0"/>
              <a:t> </a:t>
            </a:r>
            <a:r>
              <a:rPr lang="en-US" sz="3200" b="1" dirty="0" err="1"/>
              <a:t>khách</a:t>
            </a:r>
            <a:r>
              <a:rPr lang="en-US" sz="3200" b="1" dirty="0"/>
              <a:t> </a:t>
            </a:r>
            <a:r>
              <a:rPr lang="en-US" sz="3200" b="1" dirty="0" err="1"/>
              <a:t>hàng</a:t>
            </a:r>
            <a:endParaRPr lang="en-US" sz="3200" b="1" dirty="0"/>
          </a:p>
        </p:txBody>
      </p:sp>
      <p:sp>
        <p:nvSpPr>
          <p:cNvPr id="3" name="Content Placeholder 2"/>
          <p:cNvSpPr>
            <a:spLocks noGrp="1"/>
          </p:cNvSpPr>
          <p:nvPr>
            <p:ph idx="1"/>
          </p:nvPr>
        </p:nvSpPr>
        <p:spPr/>
        <p:txBody>
          <a:bodyPr/>
          <a:lstStyle/>
          <a:p>
            <a:endParaRPr lang="en-US" dirty="0"/>
          </a:p>
        </p:txBody>
      </p:sp>
      <p:pic>
        <p:nvPicPr>
          <p:cNvPr id="71682" name="Picture 2" descr="http://files.doanhnhan360.com/Image.ashx/image=pjpeg/31a5f0a3ee1a4ef899f609ab27c54033-suy-nghi-hayde.jpg/suy-nghi-hayde.jpg"/>
          <p:cNvPicPr>
            <a:picLocks noChangeAspect="1" noChangeArrowheads="1"/>
          </p:cNvPicPr>
          <p:nvPr/>
        </p:nvPicPr>
        <p:blipFill>
          <a:blip r:embed="rId2" cstate="print"/>
          <a:srcRect/>
          <a:stretch>
            <a:fillRect/>
          </a:stretch>
        </p:blipFill>
        <p:spPr bwMode="auto">
          <a:xfrm>
            <a:off x="685800" y="2133600"/>
            <a:ext cx="4495800" cy="4477819"/>
          </a:xfrm>
          <a:prstGeom prst="rect">
            <a:avLst/>
          </a:prstGeom>
          <a:noFill/>
        </p:spPr>
      </p:pic>
    </p:spTree>
    <p:extLst>
      <p:ext uri="{BB962C8B-B14F-4D97-AF65-F5344CB8AC3E}">
        <p14:creationId xmlns:p14="http://schemas.microsoft.com/office/powerpoint/2010/main" val="20305823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3200" dirty="0" err="1">
                <a:latin typeface="Times New Roman" panose="02020603050405020304" pitchFamily="18" charset="0"/>
                <a:cs typeface="Times New Roman" panose="02020603050405020304" pitchFamily="18" charset="0"/>
              </a:rPr>
              <a:t>Nhiều</a:t>
            </a:r>
            <a:r>
              <a:rPr lang="en-US" sz="3200" dirty="0">
                <a:latin typeface="Times New Roman" panose="02020603050405020304" pitchFamily="18" charset="0"/>
                <a:cs typeface="Times New Roman" panose="02020603050405020304" pitchFamily="18" charset="0"/>
              </a:rPr>
              <a:t> hay </a:t>
            </a:r>
            <a:r>
              <a:rPr lang="en-US" sz="3200" dirty="0" err="1">
                <a:latin typeface="Times New Roman" panose="02020603050405020304" pitchFamily="18" charset="0"/>
                <a:cs typeface="Times New Roman" panose="02020603050405020304" pitchFamily="18" charset="0"/>
              </a:rPr>
              <a:t>ít</a:t>
            </a:r>
            <a:endParaRPr lang="en-US" sz="3200" dirty="0">
              <a:latin typeface="Times New Roman" panose="02020603050405020304" pitchFamily="18" charset="0"/>
              <a:cs typeface="Times New Roman" panose="02020603050405020304" pitchFamily="18" charset="0"/>
            </a:endParaRPr>
          </a:p>
          <a:p>
            <a:r>
              <a:rPr lang="en-US" sz="3200" dirty="0" err="1">
                <a:latin typeface="Times New Roman" panose="02020603050405020304" pitchFamily="18" charset="0"/>
                <a:cs typeface="Times New Roman" panose="02020603050405020304" pitchFamily="18" charset="0"/>
              </a:rPr>
              <a:t>Một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phần</a:t>
            </a:r>
            <a:r>
              <a:rPr lang="en-US" sz="3200" dirty="0">
                <a:latin typeface="Times New Roman" panose="02020603050405020304" pitchFamily="18" charset="0"/>
                <a:cs typeface="Times New Roman" panose="02020603050405020304" pitchFamily="18" charset="0"/>
              </a:rPr>
              <a:t> hay </a:t>
            </a:r>
            <a:r>
              <a:rPr lang="en-US" sz="3200" dirty="0" err="1">
                <a:latin typeface="Times New Roman" panose="02020603050405020304" pitchFamily="18" charset="0"/>
                <a:cs typeface="Times New Roman" panose="02020603050405020304" pitchFamily="18" charset="0"/>
              </a:rPr>
              <a:t>toàn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phần</a:t>
            </a:r>
            <a:r>
              <a:rPr lang="en-US" sz="3200" dirty="0">
                <a:latin typeface="Times New Roman" panose="02020603050405020304" pitchFamily="18" charset="0"/>
                <a:cs typeface="Times New Roman" panose="02020603050405020304" pitchFamily="18" charset="0"/>
              </a:rPr>
              <a:t>…</a:t>
            </a:r>
          </a:p>
        </p:txBody>
      </p:sp>
      <p:sp>
        <p:nvSpPr>
          <p:cNvPr id="4" name="Title 1"/>
          <p:cNvSpPr txBox="1">
            <a:spLocks/>
          </p:cNvSpPr>
          <p:nvPr/>
        </p:nvSpPr>
        <p:spPr>
          <a:xfrm>
            <a:off x="609600" y="4270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err="1">
                <a:ln>
                  <a:noFill/>
                </a:ln>
                <a:solidFill>
                  <a:srgbClr val="0070C0"/>
                </a:solidFill>
                <a:effectLst/>
                <a:uLnTx/>
                <a:uFillTx/>
                <a:latin typeface="+mj-lt"/>
                <a:ea typeface="+mj-ea"/>
                <a:cs typeface="+mj-cs"/>
              </a:rPr>
              <a:t>Quyết</a:t>
            </a:r>
            <a:r>
              <a:rPr kumimoji="0" lang="en-US" sz="3200" b="1" i="0" u="none" strike="noStrike" kern="1200" cap="none" spc="0" normalizeH="0" baseline="0" noProof="0" dirty="0">
                <a:ln>
                  <a:noFill/>
                </a:ln>
                <a:solidFill>
                  <a:srgbClr val="0070C0"/>
                </a:solidFill>
                <a:effectLst/>
                <a:uLnTx/>
                <a:uFillTx/>
                <a:latin typeface="+mj-lt"/>
                <a:ea typeface="+mj-ea"/>
                <a:cs typeface="+mj-cs"/>
              </a:rPr>
              <a:t> </a:t>
            </a:r>
            <a:r>
              <a:rPr kumimoji="0" lang="en-US" sz="3200" b="1" i="0" u="none" strike="noStrike" kern="1200" cap="none" spc="0" normalizeH="0" baseline="0" noProof="0" dirty="0" err="1">
                <a:ln>
                  <a:noFill/>
                </a:ln>
                <a:solidFill>
                  <a:srgbClr val="0070C0"/>
                </a:solidFill>
                <a:effectLst/>
                <a:uLnTx/>
                <a:uFillTx/>
                <a:latin typeface="+mj-lt"/>
                <a:ea typeface="+mj-ea"/>
                <a:cs typeface="+mj-cs"/>
              </a:rPr>
              <a:t>định</a:t>
            </a:r>
            <a:r>
              <a:rPr kumimoji="0" lang="en-US" sz="3200" b="1" i="0" u="none" strike="noStrike" kern="1200" cap="none" spc="0" normalizeH="0" baseline="0" noProof="0" dirty="0">
                <a:ln>
                  <a:noFill/>
                </a:ln>
                <a:solidFill>
                  <a:srgbClr val="0070C0"/>
                </a:solidFill>
                <a:effectLst/>
                <a:uLnTx/>
                <a:uFillTx/>
                <a:latin typeface="+mj-lt"/>
                <a:ea typeface="+mj-ea"/>
                <a:cs typeface="+mj-cs"/>
              </a:rPr>
              <a:t> </a:t>
            </a:r>
            <a:r>
              <a:rPr kumimoji="0" lang="en-US" sz="3200" b="1" i="0" u="none" strike="noStrike" kern="1200" cap="none" spc="0" normalizeH="0" baseline="0" noProof="0" dirty="0" err="1">
                <a:ln>
                  <a:noFill/>
                </a:ln>
                <a:solidFill>
                  <a:srgbClr val="0070C0"/>
                </a:solidFill>
                <a:effectLst/>
                <a:uLnTx/>
                <a:uFillTx/>
                <a:latin typeface="+mj-lt"/>
                <a:ea typeface="+mj-ea"/>
                <a:cs typeface="+mj-cs"/>
              </a:rPr>
              <a:t>về</a:t>
            </a:r>
            <a:r>
              <a:rPr kumimoji="0" lang="en-US" sz="3200" b="1" i="0" u="none" strike="noStrike" kern="1200" cap="none" spc="0" normalizeH="0" baseline="0" noProof="0" dirty="0">
                <a:ln>
                  <a:noFill/>
                </a:ln>
                <a:solidFill>
                  <a:srgbClr val="0070C0"/>
                </a:solidFill>
                <a:effectLst/>
                <a:uLnTx/>
                <a:uFillTx/>
                <a:latin typeface="+mj-lt"/>
                <a:ea typeface="+mj-ea"/>
                <a:cs typeface="+mj-cs"/>
              </a:rPr>
              <a:t> </a:t>
            </a:r>
            <a:r>
              <a:rPr kumimoji="0" lang="en-US" sz="3200" b="1" i="0" u="none" strike="noStrike" kern="1200" cap="none" spc="0" normalizeH="0" baseline="0" noProof="0" dirty="0" err="1">
                <a:ln>
                  <a:noFill/>
                </a:ln>
                <a:solidFill>
                  <a:srgbClr val="0070C0"/>
                </a:solidFill>
                <a:effectLst/>
                <a:uLnTx/>
                <a:uFillTx/>
                <a:latin typeface="+mj-lt"/>
                <a:ea typeface="+mj-ea"/>
                <a:cs typeface="+mj-cs"/>
              </a:rPr>
              <a:t>mức</a:t>
            </a:r>
            <a:r>
              <a:rPr kumimoji="0" lang="en-US" sz="3200" b="1" i="0" u="none" strike="noStrike" kern="1200" cap="none" spc="0" normalizeH="0" noProof="0" dirty="0">
                <a:ln>
                  <a:noFill/>
                </a:ln>
                <a:solidFill>
                  <a:srgbClr val="0070C0"/>
                </a:solidFill>
                <a:effectLst/>
                <a:uLnTx/>
                <a:uFillTx/>
                <a:latin typeface="+mj-lt"/>
                <a:ea typeface="+mj-ea"/>
                <a:cs typeface="+mj-cs"/>
              </a:rPr>
              <a:t> </a:t>
            </a:r>
            <a:r>
              <a:rPr kumimoji="0" lang="en-US" sz="3200" b="1" i="0" u="none" strike="noStrike" kern="1200" cap="none" spc="0" normalizeH="0" noProof="0" dirty="0" err="1">
                <a:ln>
                  <a:noFill/>
                </a:ln>
                <a:solidFill>
                  <a:srgbClr val="0070C0"/>
                </a:solidFill>
                <a:effectLst/>
                <a:uLnTx/>
                <a:uFillTx/>
                <a:latin typeface="+mj-lt"/>
                <a:ea typeface="+mj-ea"/>
                <a:cs typeface="+mj-cs"/>
              </a:rPr>
              <a:t>độ</a:t>
            </a:r>
            <a:r>
              <a:rPr kumimoji="0" lang="en-US" sz="3200" b="1" i="0" u="none" strike="noStrike" kern="1200" cap="none" spc="0" normalizeH="0" noProof="0" dirty="0">
                <a:ln>
                  <a:noFill/>
                </a:ln>
                <a:solidFill>
                  <a:srgbClr val="0070C0"/>
                </a:solidFill>
                <a:effectLst/>
                <a:uLnTx/>
                <a:uFillTx/>
                <a:latin typeface="+mj-lt"/>
                <a:ea typeface="+mj-ea"/>
                <a:cs typeface="+mj-cs"/>
              </a:rPr>
              <a:t> </a:t>
            </a:r>
            <a:r>
              <a:rPr kumimoji="0" lang="en-US" sz="3200" b="1" i="0" u="none" strike="noStrike" kern="1200" cap="none" spc="0" normalizeH="0" baseline="0" noProof="0" dirty="0" err="1">
                <a:ln>
                  <a:noFill/>
                </a:ln>
                <a:solidFill>
                  <a:srgbClr val="0070C0"/>
                </a:solidFill>
                <a:effectLst/>
                <a:uLnTx/>
                <a:uFillTx/>
                <a:latin typeface="+mj-lt"/>
                <a:ea typeface="+mj-ea"/>
                <a:cs typeface="+mj-cs"/>
              </a:rPr>
              <a:t>cung</a:t>
            </a:r>
            <a:r>
              <a:rPr kumimoji="0" lang="en-US" sz="3200" b="1" i="0" u="none" strike="noStrike" kern="1200" cap="none" spc="0" normalizeH="0" baseline="0" noProof="0" dirty="0">
                <a:ln>
                  <a:noFill/>
                </a:ln>
                <a:solidFill>
                  <a:srgbClr val="0070C0"/>
                </a:solidFill>
                <a:effectLst/>
                <a:uLnTx/>
                <a:uFillTx/>
                <a:latin typeface="+mj-lt"/>
                <a:ea typeface="+mj-ea"/>
                <a:cs typeface="+mj-cs"/>
              </a:rPr>
              <a:t> </a:t>
            </a:r>
            <a:r>
              <a:rPr kumimoji="0" lang="en-US" sz="3200" b="1" i="0" u="none" strike="noStrike" kern="1200" cap="none" spc="0" normalizeH="0" baseline="0" noProof="0" dirty="0" err="1">
                <a:ln>
                  <a:noFill/>
                </a:ln>
                <a:solidFill>
                  <a:srgbClr val="0070C0"/>
                </a:solidFill>
                <a:effectLst/>
                <a:uLnTx/>
                <a:uFillTx/>
                <a:latin typeface="+mj-lt"/>
                <a:ea typeface="+mj-ea"/>
                <a:cs typeface="+mj-cs"/>
              </a:rPr>
              <a:t>cấp</a:t>
            </a:r>
            <a:r>
              <a:rPr kumimoji="0" lang="en-US" sz="3200" b="1" i="0" u="none" strike="noStrike" kern="1200" cap="none" spc="0" normalizeH="0" baseline="0" noProof="0" dirty="0">
                <a:ln>
                  <a:noFill/>
                </a:ln>
                <a:solidFill>
                  <a:srgbClr val="0070C0"/>
                </a:solidFill>
                <a:effectLst/>
                <a:uLnTx/>
                <a:uFillTx/>
                <a:latin typeface="+mj-lt"/>
                <a:ea typeface="+mj-ea"/>
                <a:cs typeface="+mj-cs"/>
              </a:rPr>
              <a:t> </a:t>
            </a:r>
            <a:r>
              <a:rPr kumimoji="0" lang="en-US" sz="3200" b="1" i="0" u="none" strike="noStrike" kern="1200" cap="none" spc="0" normalizeH="0" baseline="0" noProof="0" dirty="0" err="1">
                <a:ln>
                  <a:noFill/>
                </a:ln>
                <a:solidFill>
                  <a:srgbClr val="0070C0"/>
                </a:solidFill>
                <a:effectLst/>
                <a:uLnTx/>
                <a:uFillTx/>
                <a:latin typeface="+mj-lt"/>
                <a:ea typeface="+mj-ea"/>
                <a:cs typeface="+mj-cs"/>
              </a:rPr>
              <a:t>dịch</a:t>
            </a:r>
            <a:r>
              <a:rPr kumimoji="0" lang="en-US" sz="3200" b="1" i="0" u="none" strike="noStrike" kern="1200" cap="none" spc="0" normalizeH="0" baseline="0" noProof="0" dirty="0">
                <a:ln>
                  <a:noFill/>
                </a:ln>
                <a:solidFill>
                  <a:srgbClr val="0070C0"/>
                </a:solidFill>
                <a:effectLst/>
                <a:uLnTx/>
                <a:uFillTx/>
                <a:latin typeface="+mj-lt"/>
                <a:ea typeface="+mj-ea"/>
                <a:cs typeface="+mj-cs"/>
              </a:rPr>
              <a:t> </a:t>
            </a:r>
            <a:r>
              <a:rPr kumimoji="0" lang="en-US" sz="3200" b="1" i="0" u="none" strike="noStrike" kern="1200" cap="none" spc="0" normalizeH="0" baseline="0" noProof="0" dirty="0" err="1">
                <a:ln>
                  <a:noFill/>
                </a:ln>
                <a:solidFill>
                  <a:srgbClr val="0070C0"/>
                </a:solidFill>
                <a:effectLst/>
                <a:uLnTx/>
                <a:uFillTx/>
                <a:latin typeface="+mj-lt"/>
                <a:ea typeface="+mj-ea"/>
                <a:cs typeface="+mj-cs"/>
              </a:rPr>
              <a:t>vụ</a:t>
            </a:r>
            <a:r>
              <a:rPr kumimoji="0" lang="en-US" sz="3200" b="1" i="0" u="none" strike="noStrike" kern="1200" cap="none" spc="0" normalizeH="0" baseline="0" noProof="0" dirty="0">
                <a:ln>
                  <a:noFill/>
                </a:ln>
                <a:solidFill>
                  <a:srgbClr val="0070C0"/>
                </a:solidFill>
                <a:effectLst/>
                <a:uLnTx/>
                <a:uFillTx/>
                <a:latin typeface="+mj-lt"/>
                <a:ea typeface="+mj-ea"/>
                <a:cs typeface="+mj-cs"/>
              </a:rPr>
              <a:t> </a:t>
            </a:r>
            <a:r>
              <a:rPr kumimoji="0" lang="en-US" sz="3200" b="1" i="0" u="none" strike="noStrike" kern="1200" cap="none" spc="0" normalizeH="0" baseline="0" noProof="0" dirty="0" err="1">
                <a:ln>
                  <a:noFill/>
                </a:ln>
                <a:solidFill>
                  <a:srgbClr val="0070C0"/>
                </a:solidFill>
                <a:effectLst/>
                <a:uLnTx/>
                <a:uFillTx/>
                <a:latin typeface="+mj-lt"/>
                <a:ea typeface="+mj-ea"/>
                <a:cs typeface="+mj-cs"/>
              </a:rPr>
              <a:t>cho</a:t>
            </a:r>
            <a:r>
              <a:rPr kumimoji="0" lang="en-US" sz="3200" b="1" i="0" u="none" strike="noStrike" kern="1200" cap="none" spc="0" normalizeH="0" baseline="0" noProof="0" dirty="0">
                <a:ln>
                  <a:noFill/>
                </a:ln>
                <a:solidFill>
                  <a:srgbClr val="0070C0"/>
                </a:solidFill>
                <a:effectLst/>
                <a:uLnTx/>
                <a:uFillTx/>
                <a:latin typeface="+mj-lt"/>
                <a:ea typeface="+mj-ea"/>
                <a:cs typeface="+mj-cs"/>
              </a:rPr>
              <a:t> </a:t>
            </a:r>
            <a:r>
              <a:rPr kumimoji="0" lang="en-US" sz="3200" b="1" i="0" u="none" strike="noStrike" kern="1200" cap="none" spc="0" normalizeH="0" baseline="0" noProof="0" dirty="0" err="1">
                <a:ln>
                  <a:noFill/>
                </a:ln>
                <a:solidFill>
                  <a:srgbClr val="0070C0"/>
                </a:solidFill>
                <a:effectLst/>
                <a:uLnTx/>
                <a:uFillTx/>
                <a:latin typeface="+mj-lt"/>
                <a:ea typeface="+mj-ea"/>
                <a:cs typeface="+mj-cs"/>
              </a:rPr>
              <a:t>khách</a:t>
            </a:r>
            <a:r>
              <a:rPr kumimoji="0" lang="en-US" sz="3200" b="1" i="0" u="none" strike="noStrike" kern="1200" cap="none" spc="0" normalizeH="0" baseline="0" noProof="0" dirty="0">
                <a:ln>
                  <a:noFill/>
                </a:ln>
                <a:solidFill>
                  <a:srgbClr val="0070C0"/>
                </a:solidFill>
                <a:effectLst/>
                <a:uLnTx/>
                <a:uFillTx/>
                <a:latin typeface="+mj-lt"/>
                <a:ea typeface="+mj-ea"/>
                <a:cs typeface="+mj-cs"/>
              </a:rPr>
              <a:t> </a:t>
            </a:r>
            <a:r>
              <a:rPr kumimoji="0" lang="en-US" sz="3200" b="1" i="0" u="none" strike="noStrike" kern="1200" cap="none" spc="0" normalizeH="0" baseline="0" noProof="0" dirty="0" err="1">
                <a:ln>
                  <a:noFill/>
                </a:ln>
                <a:solidFill>
                  <a:srgbClr val="0070C0"/>
                </a:solidFill>
                <a:effectLst/>
                <a:uLnTx/>
                <a:uFillTx/>
                <a:latin typeface="+mj-lt"/>
                <a:ea typeface="+mj-ea"/>
                <a:cs typeface="+mj-cs"/>
              </a:rPr>
              <a:t>hàng</a:t>
            </a:r>
            <a:endParaRPr kumimoji="0" lang="en-US" sz="3200" b="0" i="0" u="none" strike="noStrike" kern="1200" cap="none" spc="0" normalizeH="0" baseline="0" noProof="0" dirty="0">
              <a:ln>
                <a:noFill/>
              </a:ln>
              <a:solidFill>
                <a:srgbClr val="0070C0"/>
              </a:solidFill>
              <a:effectLst/>
              <a:uLnTx/>
              <a:uFillTx/>
              <a:latin typeface="+mj-lt"/>
              <a:ea typeface="+mj-ea"/>
              <a:cs typeface="+mj-cs"/>
            </a:endParaRPr>
          </a:p>
        </p:txBody>
      </p:sp>
      <p:pic>
        <p:nvPicPr>
          <p:cNvPr id="74754" name="Picture 2" descr="http://myservice.vn/public/images/images/1357182455Dich%20vu%20quang%20cao%20truc%20tuyen%20My%20Service%20a.jpg"/>
          <p:cNvPicPr>
            <a:picLocks noChangeAspect="1" noChangeArrowheads="1"/>
          </p:cNvPicPr>
          <p:nvPr/>
        </p:nvPicPr>
        <p:blipFill>
          <a:blip r:embed="rId2" cstate="print"/>
          <a:srcRect/>
          <a:stretch>
            <a:fillRect/>
          </a:stretch>
        </p:blipFill>
        <p:spPr bwMode="auto">
          <a:xfrm>
            <a:off x="3810000" y="3428999"/>
            <a:ext cx="5143500" cy="3429001"/>
          </a:xfrm>
          <a:prstGeom prst="rect">
            <a:avLst/>
          </a:prstGeom>
          <a:noFill/>
        </p:spPr>
      </p:pic>
    </p:spTree>
    <p:extLst>
      <p:ext uri="{BB962C8B-B14F-4D97-AF65-F5344CB8AC3E}">
        <p14:creationId xmlns:p14="http://schemas.microsoft.com/office/powerpoint/2010/main" val="33133914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err="1"/>
              <a:t>Quyết</a:t>
            </a:r>
            <a:r>
              <a:rPr lang="en-US" sz="3200" b="1" dirty="0"/>
              <a:t> </a:t>
            </a:r>
            <a:r>
              <a:rPr lang="en-US" sz="3200" b="1" dirty="0" err="1"/>
              <a:t>định</a:t>
            </a:r>
            <a:r>
              <a:rPr lang="en-US" sz="3200" b="1" dirty="0"/>
              <a:t> </a:t>
            </a:r>
            <a:r>
              <a:rPr lang="en-US" sz="3200" b="1" dirty="0" err="1"/>
              <a:t>về</a:t>
            </a:r>
            <a:r>
              <a:rPr lang="en-US" sz="3200" b="1" dirty="0"/>
              <a:t> </a:t>
            </a:r>
            <a:r>
              <a:rPr lang="en-US" sz="3200" b="1" dirty="0" err="1"/>
              <a:t>hình</a:t>
            </a:r>
            <a:r>
              <a:rPr lang="en-US" sz="3200" b="1" dirty="0"/>
              <a:t> </a:t>
            </a:r>
            <a:r>
              <a:rPr lang="en-US" sz="3200" b="1" dirty="0" err="1"/>
              <a:t>thức</a:t>
            </a:r>
            <a:r>
              <a:rPr lang="en-US" sz="3200" b="1" dirty="0"/>
              <a:t> </a:t>
            </a:r>
            <a:r>
              <a:rPr lang="en-US" sz="3200" b="1" dirty="0" err="1"/>
              <a:t>cung</a:t>
            </a:r>
            <a:r>
              <a:rPr lang="en-US" sz="3200" b="1" dirty="0"/>
              <a:t> </a:t>
            </a:r>
            <a:r>
              <a:rPr lang="en-US" sz="3200" b="1" dirty="0" err="1"/>
              <a:t>cấp</a:t>
            </a:r>
            <a:r>
              <a:rPr lang="en-US" sz="3200" b="1" dirty="0"/>
              <a:t> </a:t>
            </a:r>
            <a:r>
              <a:rPr lang="en-US" sz="3200" b="1" dirty="0" err="1"/>
              <a:t>dịch</a:t>
            </a:r>
            <a:r>
              <a:rPr lang="en-US" sz="3200" b="1" dirty="0"/>
              <a:t> </a:t>
            </a:r>
            <a:r>
              <a:rPr lang="en-US" sz="3200" b="1" dirty="0" err="1"/>
              <a:t>vụ</a:t>
            </a:r>
            <a:r>
              <a:rPr lang="en-US" sz="3200" b="1" dirty="0"/>
              <a:t> </a:t>
            </a:r>
            <a:r>
              <a:rPr lang="en-US" sz="3200" b="1" dirty="0" err="1"/>
              <a:t>cho</a:t>
            </a:r>
            <a:r>
              <a:rPr lang="en-US" sz="3200" b="1" dirty="0"/>
              <a:t> </a:t>
            </a:r>
            <a:r>
              <a:rPr lang="en-US" sz="3200" b="1" dirty="0" err="1"/>
              <a:t>khách</a:t>
            </a:r>
            <a:r>
              <a:rPr lang="en-US" sz="3200" b="1" dirty="0"/>
              <a:t> </a:t>
            </a:r>
            <a:r>
              <a:rPr lang="en-US" sz="3200" b="1" dirty="0" err="1"/>
              <a:t>hàng</a:t>
            </a:r>
            <a:endParaRPr lang="en-US" sz="3200" dirty="0"/>
          </a:p>
        </p:txBody>
      </p:sp>
      <p:graphicFrame>
        <p:nvGraphicFramePr>
          <p:cNvPr id="4" name="Content Placeholder 3"/>
          <p:cNvGraphicFramePr>
            <a:graphicFrameLocks noGrp="1"/>
          </p:cNvGraphicFramePr>
          <p:nvPr>
            <p:ph idx="1"/>
          </p:nvPr>
        </p:nvGraphicFramePr>
        <p:xfrm>
          <a:off x="609600" y="2160588"/>
          <a:ext cx="6348413"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705575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5105400" cy="1143000"/>
          </a:xfrm>
        </p:spPr>
        <p:style>
          <a:lnRef idx="3">
            <a:schemeClr val="lt1"/>
          </a:lnRef>
          <a:fillRef idx="1">
            <a:schemeClr val="accent2"/>
          </a:fillRef>
          <a:effectRef idx="1">
            <a:schemeClr val="accent2"/>
          </a:effectRef>
          <a:fontRef idx="minor">
            <a:schemeClr val="lt1"/>
          </a:fontRef>
        </p:style>
        <p:txBody>
          <a:bodyPr>
            <a:normAutofit/>
          </a:bodyPr>
          <a:lstStyle/>
          <a:p>
            <a:pPr algn="l"/>
            <a:r>
              <a:rPr lang="en-US" sz="3200" dirty="0" err="1"/>
              <a:t>Chăm</a:t>
            </a:r>
            <a:r>
              <a:rPr lang="en-US" sz="3200" dirty="0"/>
              <a:t> </a:t>
            </a:r>
            <a:r>
              <a:rPr lang="en-US" sz="3200" dirty="0" err="1"/>
              <a:t>sóc</a:t>
            </a:r>
            <a:r>
              <a:rPr lang="en-US" sz="3200" dirty="0"/>
              <a:t> </a:t>
            </a:r>
            <a:r>
              <a:rPr lang="en-US" sz="3200" dirty="0" err="1"/>
              <a:t>khách</a:t>
            </a:r>
            <a:r>
              <a:rPr lang="en-US" sz="3200" dirty="0"/>
              <a:t> </a:t>
            </a:r>
            <a:r>
              <a:rPr lang="en-US" sz="3200" dirty="0" err="1"/>
              <a:t>hàng</a:t>
            </a:r>
            <a:endParaRPr lang="en-US" sz="3200" dirty="0"/>
          </a:p>
        </p:txBody>
      </p:sp>
      <p:sp>
        <p:nvSpPr>
          <p:cNvPr id="3" name="Content Placeholder 2"/>
          <p:cNvSpPr>
            <a:spLocks noGrp="1"/>
          </p:cNvSpPr>
          <p:nvPr>
            <p:ph idx="1"/>
          </p:nvPr>
        </p:nvSpPr>
        <p:spPr/>
        <p:txBody>
          <a:bodyPr/>
          <a:lstStyle/>
          <a:p>
            <a:endParaRPr lang="en-US" dirty="0"/>
          </a:p>
        </p:txBody>
      </p:sp>
      <p:sp>
        <p:nvSpPr>
          <p:cNvPr id="4" name="Rectangle 3"/>
          <p:cNvSpPr/>
          <p:nvPr/>
        </p:nvSpPr>
        <p:spPr>
          <a:xfrm>
            <a:off x="228600" y="1295400"/>
            <a:ext cx="1988045" cy="584775"/>
          </a:xfrm>
          <a:prstGeom prst="rect">
            <a:avLst/>
          </a:prstGeom>
        </p:spPr>
        <p:txBody>
          <a:bodyPr wrap="none">
            <a:spAutoFit/>
          </a:bodyPr>
          <a:lstStyle/>
          <a:p>
            <a:r>
              <a:rPr lang="en-US" sz="3200" dirty="0" err="1"/>
              <a:t>Khái</a:t>
            </a:r>
            <a:r>
              <a:rPr lang="en-US" sz="3200" dirty="0"/>
              <a:t> </a:t>
            </a:r>
            <a:r>
              <a:rPr lang="en-US" sz="3200" dirty="0" err="1"/>
              <a:t>niệm</a:t>
            </a:r>
            <a:endParaRPr lang="en-US" sz="3200" dirty="0"/>
          </a:p>
        </p:txBody>
      </p:sp>
      <p:sp>
        <p:nvSpPr>
          <p:cNvPr id="5" name="Rectangle 4"/>
          <p:cNvSpPr/>
          <p:nvPr/>
        </p:nvSpPr>
        <p:spPr>
          <a:xfrm>
            <a:off x="228600" y="2032576"/>
            <a:ext cx="8153400" cy="1384995"/>
          </a:xfrm>
          <a:prstGeom prst="rect">
            <a:avLst/>
          </a:prstGeom>
        </p:spPr>
        <p:txBody>
          <a:bodyPr wrap="square">
            <a:spAutoFit/>
          </a:bodyPr>
          <a:lstStyle/>
          <a:p>
            <a:r>
              <a:rPr lang="en-US" sz="2800" dirty="0" err="1"/>
              <a:t>Là</a:t>
            </a:r>
            <a:r>
              <a:rPr lang="en-US" sz="2800" dirty="0"/>
              <a:t> </a:t>
            </a:r>
            <a:r>
              <a:rPr lang="en-US" sz="2800" dirty="0" err="1"/>
              <a:t>tất</a:t>
            </a:r>
            <a:r>
              <a:rPr lang="en-US" sz="2800" dirty="0"/>
              <a:t> </a:t>
            </a:r>
            <a:r>
              <a:rPr lang="en-US" sz="2800" dirty="0" err="1"/>
              <a:t>cả</a:t>
            </a:r>
            <a:r>
              <a:rPr lang="en-US" sz="2800" dirty="0"/>
              <a:t> </a:t>
            </a:r>
            <a:r>
              <a:rPr lang="en-US" sz="2800" dirty="0" err="1"/>
              <a:t>những</a:t>
            </a:r>
            <a:r>
              <a:rPr lang="en-US" sz="2800" dirty="0"/>
              <a:t> </a:t>
            </a:r>
            <a:r>
              <a:rPr lang="en-US" sz="2800" dirty="0" err="1"/>
              <a:t>gì</a:t>
            </a:r>
            <a:r>
              <a:rPr lang="en-US" sz="2800" dirty="0"/>
              <a:t> </a:t>
            </a:r>
            <a:r>
              <a:rPr lang="en-US" sz="2800" dirty="0" err="1"/>
              <a:t>mà</a:t>
            </a:r>
            <a:r>
              <a:rPr lang="en-US" sz="2800" dirty="0"/>
              <a:t> </a:t>
            </a:r>
            <a:r>
              <a:rPr lang="en-US" sz="2800" dirty="0" err="1"/>
              <a:t>một</a:t>
            </a:r>
            <a:r>
              <a:rPr lang="en-US" sz="2800" dirty="0"/>
              <a:t> </a:t>
            </a:r>
            <a:r>
              <a:rPr lang="en-US" sz="2800" dirty="0" err="1"/>
              <a:t>doanh</a:t>
            </a:r>
            <a:r>
              <a:rPr lang="en-US" sz="2800" dirty="0"/>
              <a:t> </a:t>
            </a:r>
            <a:r>
              <a:rPr lang="en-US" sz="2800" dirty="0" err="1"/>
              <a:t>nghiệp</a:t>
            </a:r>
            <a:r>
              <a:rPr lang="en-US" sz="2800" dirty="0"/>
              <a:t> </a:t>
            </a:r>
            <a:r>
              <a:rPr lang="en-US" sz="2800" dirty="0" err="1"/>
              <a:t>cần</a:t>
            </a:r>
            <a:r>
              <a:rPr lang="en-US" sz="2800" dirty="0"/>
              <a:t> </a:t>
            </a:r>
            <a:r>
              <a:rPr lang="en-US" sz="2800" dirty="0" err="1"/>
              <a:t>thiết</a:t>
            </a:r>
            <a:r>
              <a:rPr lang="en-US" sz="2800" dirty="0"/>
              <a:t> </a:t>
            </a:r>
            <a:r>
              <a:rPr lang="en-US" sz="2800" dirty="0" err="1"/>
              <a:t>phải</a:t>
            </a:r>
            <a:r>
              <a:rPr lang="en-US" sz="2800" dirty="0"/>
              <a:t> </a:t>
            </a:r>
            <a:r>
              <a:rPr lang="en-US" sz="2800" dirty="0" err="1"/>
              <a:t>làm</a:t>
            </a:r>
            <a:r>
              <a:rPr lang="en-US" sz="2800" dirty="0"/>
              <a:t> </a:t>
            </a:r>
            <a:r>
              <a:rPr lang="en-US" sz="2800" dirty="0" err="1"/>
              <a:t>để</a:t>
            </a:r>
            <a:r>
              <a:rPr lang="en-US" sz="2800" dirty="0"/>
              <a:t> </a:t>
            </a:r>
            <a:r>
              <a:rPr lang="en-US" sz="2800" dirty="0" err="1"/>
              <a:t>thỏa</a:t>
            </a:r>
            <a:r>
              <a:rPr lang="en-US" sz="2800" dirty="0"/>
              <a:t> </a:t>
            </a:r>
            <a:r>
              <a:rPr lang="en-US" sz="2800" dirty="0" err="1"/>
              <a:t>mãn</a:t>
            </a:r>
            <a:r>
              <a:rPr lang="en-US" sz="2800" dirty="0"/>
              <a:t> </a:t>
            </a:r>
            <a:r>
              <a:rPr lang="en-US" sz="2800" dirty="0" err="1"/>
              <a:t>nhu</a:t>
            </a:r>
            <a:r>
              <a:rPr lang="en-US" sz="2800" dirty="0"/>
              <a:t> </a:t>
            </a:r>
            <a:r>
              <a:rPr lang="en-US" sz="2800" dirty="0" err="1"/>
              <a:t>cầu</a:t>
            </a:r>
            <a:r>
              <a:rPr lang="en-US" sz="2800" dirty="0"/>
              <a:t> </a:t>
            </a:r>
            <a:r>
              <a:rPr lang="en-US" sz="2800" dirty="0" err="1"/>
              <a:t>và</a:t>
            </a:r>
            <a:r>
              <a:rPr lang="en-US" sz="2800" dirty="0"/>
              <a:t> </a:t>
            </a:r>
            <a:r>
              <a:rPr lang="en-US" sz="2800" dirty="0" err="1"/>
              <a:t>mong</a:t>
            </a:r>
            <a:r>
              <a:rPr lang="en-US" sz="2800" dirty="0"/>
              <a:t> </a:t>
            </a:r>
            <a:r>
              <a:rPr lang="en-US" sz="2800" dirty="0" err="1"/>
              <a:t>đợi</a:t>
            </a:r>
            <a:r>
              <a:rPr lang="en-US" sz="2800" dirty="0"/>
              <a:t> </a:t>
            </a:r>
            <a:r>
              <a:rPr lang="en-US" sz="2800" dirty="0" err="1"/>
              <a:t>của</a:t>
            </a:r>
            <a:r>
              <a:rPr lang="en-US" sz="2800" dirty="0"/>
              <a:t> </a:t>
            </a:r>
            <a:r>
              <a:rPr lang="en-US" sz="2800" dirty="0" err="1"/>
              <a:t>khách</a:t>
            </a:r>
            <a:r>
              <a:rPr lang="en-US" sz="2800" dirty="0"/>
              <a:t> </a:t>
            </a:r>
            <a:r>
              <a:rPr lang="en-US" sz="2800" dirty="0" err="1"/>
              <a:t>hàng</a:t>
            </a:r>
            <a:r>
              <a:rPr lang="en-US" sz="2800" dirty="0"/>
              <a:t>. </a:t>
            </a:r>
          </a:p>
        </p:txBody>
      </p:sp>
      <p:pic>
        <p:nvPicPr>
          <p:cNvPr id="78850" name="Picture 2" descr="http://anromaway.files.wordpress.com/2012/03/customer-service-jpg.jpeg"/>
          <p:cNvPicPr>
            <a:picLocks noChangeAspect="1" noChangeArrowheads="1"/>
          </p:cNvPicPr>
          <p:nvPr/>
        </p:nvPicPr>
        <p:blipFill>
          <a:blip r:embed="rId2" cstate="print"/>
          <a:srcRect/>
          <a:stretch>
            <a:fillRect/>
          </a:stretch>
        </p:blipFill>
        <p:spPr bwMode="auto">
          <a:xfrm>
            <a:off x="6286500" y="3733800"/>
            <a:ext cx="2857500" cy="3124200"/>
          </a:xfrm>
          <a:prstGeom prst="rect">
            <a:avLst/>
          </a:prstGeom>
          <a:noFill/>
        </p:spPr>
      </p:pic>
      <p:pic>
        <p:nvPicPr>
          <p:cNvPr id="78852" name="Picture 4" descr="https://encrypted-tbn1.gstatic.com/images?q=tbn:ANd9GcQKASoAaA5RozyCd4gzdah03GcLKeZN2CBbOCynf-b_FiDygnHE"/>
          <p:cNvPicPr>
            <a:picLocks noChangeAspect="1" noChangeArrowheads="1"/>
          </p:cNvPicPr>
          <p:nvPr/>
        </p:nvPicPr>
        <p:blipFill>
          <a:blip r:embed="rId3" cstate="print"/>
          <a:srcRect/>
          <a:stretch>
            <a:fillRect/>
          </a:stretch>
        </p:blipFill>
        <p:spPr bwMode="auto">
          <a:xfrm>
            <a:off x="0" y="4114800"/>
            <a:ext cx="3370081" cy="2514600"/>
          </a:xfrm>
          <a:prstGeom prst="rect">
            <a:avLst/>
          </a:prstGeom>
          <a:noFill/>
        </p:spPr>
      </p:pic>
    </p:spTree>
    <p:extLst>
      <p:ext uri="{BB962C8B-B14F-4D97-AF65-F5344CB8AC3E}">
        <p14:creationId xmlns:p14="http://schemas.microsoft.com/office/powerpoint/2010/main" val="13948906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543800" cy="1143000"/>
          </a:xfrm>
        </p:spPr>
        <p:style>
          <a:lnRef idx="3">
            <a:schemeClr val="lt1"/>
          </a:lnRef>
          <a:fillRef idx="1">
            <a:schemeClr val="accent2"/>
          </a:fillRef>
          <a:effectRef idx="1">
            <a:schemeClr val="accent2"/>
          </a:effectRef>
          <a:fontRef idx="minor">
            <a:schemeClr val="lt1"/>
          </a:fontRef>
        </p:style>
        <p:txBody>
          <a:bodyPr>
            <a:normAutofit fontScale="90000"/>
          </a:bodyPr>
          <a:lstStyle/>
          <a:p>
            <a:pPr algn="l"/>
            <a:r>
              <a:rPr lang="en-US" sz="3200" dirty="0" err="1"/>
              <a:t>Các</a:t>
            </a:r>
            <a:r>
              <a:rPr lang="en-US" sz="3200" dirty="0"/>
              <a:t> </a:t>
            </a:r>
            <a:r>
              <a:rPr lang="en-US" sz="3200" dirty="0" err="1"/>
              <a:t>chiến</a:t>
            </a:r>
            <a:r>
              <a:rPr lang="en-US" sz="3200" dirty="0"/>
              <a:t> </a:t>
            </a:r>
            <a:r>
              <a:rPr lang="en-US" sz="3200" dirty="0" err="1"/>
              <a:t>lược</a:t>
            </a:r>
            <a:r>
              <a:rPr lang="en-US" sz="3200" dirty="0"/>
              <a:t> </a:t>
            </a:r>
            <a:r>
              <a:rPr lang="en-US" sz="3200" dirty="0" err="1"/>
              <a:t>theo</a:t>
            </a:r>
            <a:r>
              <a:rPr lang="en-US" sz="3200" dirty="0"/>
              <a:t> chu </a:t>
            </a:r>
            <a:r>
              <a:rPr lang="en-US" sz="3200" dirty="0" err="1"/>
              <a:t>kỳ</a:t>
            </a:r>
            <a:r>
              <a:rPr lang="en-US" sz="3200" dirty="0"/>
              <a:t> </a:t>
            </a:r>
            <a:r>
              <a:rPr lang="en-US" sz="3200" dirty="0" err="1"/>
              <a:t>sống</a:t>
            </a:r>
            <a:r>
              <a:rPr lang="en-US" sz="3200" dirty="0"/>
              <a:t> </a:t>
            </a:r>
            <a:r>
              <a:rPr lang="en-US" sz="3200" dirty="0" err="1"/>
              <a:t>sản</a:t>
            </a:r>
            <a:r>
              <a:rPr lang="en-US" sz="3200" dirty="0"/>
              <a:t> </a:t>
            </a:r>
            <a:r>
              <a:rPr lang="en-US" sz="3200" dirty="0" err="1"/>
              <a:t>phẩm</a:t>
            </a:r>
            <a:r>
              <a:rPr lang="en-US" sz="3200" dirty="0"/>
              <a:t> </a:t>
            </a:r>
            <a:br>
              <a:rPr lang="en-US" sz="3200" dirty="0"/>
            </a:br>
            <a:endParaRPr lang="en-US" sz="3200" dirty="0"/>
          </a:p>
        </p:txBody>
      </p:sp>
      <p:sp>
        <p:nvSpPr>
          <p:cNvPr id="3" name="Content Placeholder 2"/>
          <p:cNvSpPr>
            <a:spLocks noGrp="1"/>
          </p:cNvSpPr>
          <p:nvPr>
            <p:ph idx="1"/>
          </p:nvPr>
        </p:nvSpPr>
        <p:spPr/>
        <p:txBody>
          <a:bodyPr/>
          <a:lstStyle/>
          <a:p>
            <a:endParaRPr lang="en-US"/>
          </a:p>
        </p:txBody>
      </p:sp>
      <p:sp>
        <p:nvSpPr>
          <p:cNvPr id="4" name="Rectangle 3"/>
          <p:cNvSpPr/>
          <p:nvPr/>
        </p:nvSpPr>
        <p:spPr>
          <a:xfrm>
            <a:off x="838200" y="1524000"/>
            <a:ext cx="4437433" cy="523220"/>
          </a:xfrm>
          <a:prstGeom prst="rect">
            <a:avLst/>
          </a:prstGeom>
        </p:spPr>
        <p:txBody>
          <a:bodyPr wrap="none">
            <a:spAutoFit/>
          </a:bodyPr>
          <a:lstStyle/>
          <a:p>
            <a:r>
              <a:rPr lang="en-US" sz="2800" dirty="0"/>
              <a:t>Chu </a:t>
            </a:r>
            <a:r>
              <a:rPr lang="en-US" sz="2800" dirty="0" err="1"/>
              <a:t>kỳ</a:t>
            </a:r>
            <a:r>
              <a:rPr lang="en-US" sz="2800" dirty="0"/>
              <a:t> </a:t>
            </a:r>
            <a:r>
              <a:rPr lang="en-US" sz="2800" dirty="0" err="1"/>
              <a:t>sống</a:t>
            </a:r>
            <a:r>
              <a:rPr lang="en-US" sz="2800" dirty="0"/>
              <a:t> </a:t>
            </a:r>
            <a:r>
              <a:rPr lang="en-US" sz="2800" dirty="0" err="1"/>
              <a:t>của</a:t>
            </a:r>
            <a:r>
              <a:rPr lang="en-US" sz="2800" dirty="0"/>
              <a:t> </a:t>
            </a:r>
            <a:r>
              <a:rPr lang="en-US" sz="2800" dirty="0" err="1"/>
              <a:t>sản</a:t>
            </a:r>
            <a:r>
              <a:rPr lang="en-US" sz="2800" dirty="0"/>
              <a:t> </a:t>
            </a:r>
            <a:r>
              <a:rPr lang="en-US" sz="2800" dirty="0" err="1"/>
              <a:t>phẩm</a:t>
            </a:r>
            <a:r>
              <a:rPr lang="en-US" sz="2800" dirty="0"/>
              <a:t> </a:t>
            </a:r>
          </a:p>
        </p:txBody>
      </p:sp>
      <p:pic>
        <p:nvPicPr>
          <p:cNvPr id="76821" name="Picture 21" descr="http://api.ning.com/files/PoofN7x*WVR*oeJT6dSg7FeO8JaXQ0P2zvOxn0vhZCwkr5LufD1CGs7U53wZb2rQH83RwDa1ZMmdJgLxRc2rgAsx*U20uQoN/vongdoisanpham.PNG"/>
          <p:cNvPicPr>
            <a:picLocks noChangeAspect="1" noChangeArrowheads="1"/>
          </p:cNvPicPr>
          <p:nvPr/>
        </p:nvPicPr>
        <p:blipFill>
          <a:blip r:embed="rId2" cstate="print"/>
          <a:srcRect/>
          <a:stretch>
            <a:fillRect/>
          </a:stretch>
        </p:blipFill>
        <p:spPr bwMode="auto">
          <a:xfrm>
            <a:off x="457200" y="2590800"/>
            <a:ext cx="8458200" cy="4038600"/>
          </a:xfrm>
          <a:prstGeom prst="rect">
            <a:avLst/>
          </a:prstGeom>
          <a:noFill/>
        </p:spPr>
      </p:pic>
    </p:spTree>
    <p:extLst>
      <p:ext uri="{BB962C8B-B14F-4D97-AF65-F5344CB8AC3E}">
        <p14:creationId xmlns:p14="http://schemas.microsoft.com/office/powerpoint/2010/main" val="6490971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152400"/>
            <a:ext cx="6248401" cy="1778000"/>
          </a:xfrm>
        </p:spPr>
        <p:txBody>
          <a:bodyPr>
            <a:normAutofit/>
          </a:bodyPr>
          <a:lstStyle/>
          <a:p>
            <a:pPr algn="l"/>
            <a:r>
              <a:rPr lang="en-US" sz="3200" dirty="0" err="1"/>
              <a:t>Các</a:t>
            </a:r>
            <a:r>
              <a:rPr lang="en-US" sz="3200" dirty="0"/>
              <a:t> </a:t>
            </a:r>
            <a:r>
              <a:rPr lang="en-US" sz="3200" dirty="0" err="1"/>
              <a:t>dạng</a:t>
            </a:r>
            <a:r>
              <a:rPr lang="en-US" sz="3200" dirty="0"/>
              <a:t> chu </a:t>
            </a:r>
            <a:r>
              <a:rPr lang="en-US" sz="3200" dirty="0" err="1"/>
              <a:t>kỳ</a:t>
            </a:r>
            <a:r>
              <a:rPr lang="en-US" sz="3200" dirty="0"/>
              <a:t> </a:t>
            </a:r>
            <a:r>
              <a:rPr lang="en-US" sz="3200" dirty="0" err="1"/>
              <a:t>sống</a:t>
            </a:r>
            <a:r>
              <a:rPr lang="en-US" sz="3200" dirty="0"/>
              <a:t> </a:t>
            </a:r>
            <a:r>
              <a:rPr lang="en-US" sz="3200" dirty="0" err="1"/>
              <a:t>của</a:t>
            </a:r>
            <a:r>
              <a:rPr lang="en-US" sz="3200" dirty="0"/>
              <a:t> </a:t>
            </a:r>
            <a:r>
              <a:rPr lang="en-US" sz="3200" dirty="0" err="1"/>
              <a:t>sản</a:t>
            </a:r>
            <a:r>
              <a:rPr lang="en-US" sz="3200" dirty="0"/>
              <a:t> </a:t>
            </a:r>
            <a:r>
              <a:rPr lang="en-US" sz="3200" dirty="0" err="1"/>
              <a:t>phẩm</a:t>
            </a:r>
            <a:endParaRPr lang="en-US" sz="3200" dirty="0"/>
          </a:p>
        </p:txBody>
      </p:sp>
      <p:sp>
        <p:nvSpPr>
          <p:cNvPr id="3" name="Content Placeholder 2"/>
          <p:cNvSpPr>
            <a:spLocks noGrp="1"/>
          </p:cNvSpPr>
          <p:nvPr>
            <p:ph idx="1"/>
          </p:nvPr>
        </p:nvSpPr>
        <p:spPr/>
        <p:txBody>
          <a:bodyPr/>
          <a:lstStyle/>
          <a:p>
            <a:endParaRPr lang="en-US"/>
          </a:p>
        </p:txBody>
      </p:sp>
      <p:pic>
        <p:nvPicPr>
          <p:cNvPr id="75778" name="Picture 2" descr="http://voer.edu.vn/images/stories/m33619_1.1/graphics2.png"/>
          <p:cNvPicPr>
            <a:picLocks noChangeAspect="1" noChangeArrowheads="1"/>
          </p:cNvPicPr>
          <p:nvPr/>
        </p:nvPicPr>
        <p:blipFill>
          <a:blip r:embed="rId2" cstate="print"/>
          <a:srcRect/>
          <a:stretch>
            <a:fillRect/>
          </a:stretch>
        </p:blipFill>
        <p:spPr bwMode="auto">
          <a:xfrm>
            <a:off x="381000" y="1371600"/>
            <a:ext cx="8763000" cy="4953000"/>
          </a:xfrm>
          <a:prstGeom prst="rect">
            <a:avLst/>
          </a:prstGeom>
          <a:noFill/>
        </p:spPr>
      </p:pic>
    </p:spTree>
    <p:extLst>
      <p:ext uri="{BB962C8B-B14F-4D97-AF65-F5344CB8AC3E}">
        <p14:creationId xmlns:p14="http://schemas.microsoft.com/office/powerpoint/2010/main" val="39422753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1143000"/>
          </a:xfrm>
        </p:spPr>
        <p:style>
          <a:lnRef idx="3">
            <a:schemeClr val="lt1"/>
          </a:lnRef>
          <a:fillRef idx="1">
            <a:schemeClr val="accent2"/>
          </a:fillRef>
          <a:effectRef idx="1">
            <a:schemeClr val="accent2"/>
          </a:effectRef>
          <a:fontRef idx="minor">
            <a:schemeClr val="lt1"/>
          </a:fontRef>
        </p:style>
        <p:txBody>
          <a:bodyPr>
            <a:normAutofit/>
          </a:bodyPr>
          <a:lstStyle/>
          <a:p>
            <a:pPr algn="l"/>
            <a:r>
              <a:rPr lang="en-US" sz="3200" i="1" dirty="0" err="1"/>
              <a:t>Các</a:t>
            </a:r>
            <a:r>
              <a:rPr lang="en-US" sz="3200" i="1" dirty="0"/>
              <a:t> </a:t>
            </a:r>
            <a:r>
              <a:rPr lang="en-US" sz="3200" i="1" dirty="0" err="1"/>
              <a:t>chiến</a:t>
            </a:r>
            <a:r>
              <a:rPr lang="en-US" sz="3200" i="1" dirty="0"/>
              <a:t> </a:t>
            </a:r>
            <a:r>
              <a:rPr lang="en-US" sz="3200" i="1" dirty="0" err="1"/>
              <a:t>lược</a:t>
            </a:r>
            <a:r>
              <a:rPr lang="en-US" sz="3200" i="1" dirty="0"/>
              <a:t> marketing </a:t>
            </a:r>
            <a:r>
              <a:rPr lang="en-US" sz="3200" i="1" dirty="0" err="1"/>
              <a:t>theo</a:t>
            </a:r>
            <a:r>
              <a:rPr lang="en-US" sz="3200" i="1" dirty="0"/>
              <a:t> </a:t>
            </a:r>
            <a:r>
              <a:rPr lang="en-US" sz="3200" i="1" dirty="0" err="1"/>
              <a:t>cùng</a:t>
            </a:r>
            <a:r>
              <a:rPr lang="en-US" sz="3200" i="1" dirty="0"/>
              <a:t> chu </a:t>
            </a:r>
            <a:r>
              <a:rPr lang="en-US" sz="3200" i="1" dirty="0" err="1"/>
              <a:t>kỳ</a:t>
            </a:r>
            <a:r>
              <a:rPr lang="en-US" sz="3200" i="1" dirty="0"/>
              <a:t> </a:t>
            </a:r>
            <a:r>
              <a:rPr lang="en-US" sz="3200" i="1" dirty="0" err="1"/>
              <a:t>sống</a:t>
            </a:r>
            <a:r>
              <a:rPr lang="en-US" sz="3200" i="1" dirty="0"/>
              <a:t> </a:t>
            </a:r>
            <a:r>
              <a:rPr lang="en-US" sz="3200" i="1" dirty="0" err="1"/>
              <a:t>của</a:t>
            </a:r>
            <a:r>
              <a:rPr lang="en-US" sz="3200" i="1" dirty="0"/>
              <a:t> </a:t>
            </a:r>
            <a:r>
              <a:rPr lang="en-US" sz="3200" i="1" dirty="0" err="1"/>
              <a:t>sản</a:t>
            </a:r>
            <a:r>
              <a:rPr lang="en-US" sz="3200" i="1" dirty="0"/>
              <a:t> </a:t>
            </a:r>
            <a:r>
              <a:rPr lang="en-US" sz="3200" i="1" dirty="0" err="1"/>
              <a:t>phẩm</a:t>
            </a:r>
            <a:endParaRPr lang="en-US" sz="3200" dirty="0"/>
          </a:p>
        </p:txBody>
      </p:sp>
      <p:graphicFrame>
        <p:nvGraphicFramePr>
          <p:cNvPr id="5" name="Content Placeholder 4"/>
          <p:cNvGraphicFramePr>
            <a:graphicFrameLocks noGrp="1"/>
          </p:cNvGraphicFramePr>
          <p:nvPr>
            <p:ph idx="1"/>
          </p:nvPr>
        </p:nvGraphicFramePr>
        <p:xfrm>
          <a:off x="1600200" y="2438397"/>
          <a:ext cx="6400800" cy="3200402"/>
        </p:xfrm>
        <a:graphic>
          <a:graphicData uri="http://schemas.openxmlformats.org/drawingml/2006/table">
            <a:tbl>
              <a:tblPr/>
              <a:tblGrid>
                <a:gridCol w="3388659">
                  <a:extLst>
                    <a:ext uri="{9D8B030D-6E8A-4147-A177-3AD203B41FA5}">
                      <a16:colId xmlns:a16="http://schemas.microsoft.com/office/drawing/2014/main" val="20000"/>
                    </a:ext>
                  </a:extLst>
                </a:gridCol>
                <a:gridCol w="3012141">
                  <a:extLst>
                    <a:ext uri="{9D8B030D-6E8A-4147-A177-3AD203B41FA5}">
                      <a16:colId xmlns:a16="http://schemas.microsoft.com/office/drawing/2014/main" val="20001"/>
                    </a:ext>
                  </a:extLst>
                </a:gridCol>
              </a:tblGrid>
              <a:tr h="1600201">
                <a:tc>
                  <a:txBody>
                    <a:bodyPr/>
                    <a:lstStyle/>
                    <a:p>
                      <a:pPr marR="2540" algn="just">
                        <a:lnSpc>
                          <a:spcPct val="150000"/>
                        </a:lnSpc>
                        <a:spcAft>
                          <a:spcPts val="0"/>
                        </a:spcAft>
                        <a:tabLst>
                          <a:tab pos="1405890" algn="ctr"/>
                        </a:tabLst>
                      </a:pPr>
                      <a:r>
                        <a:rPr lang="en-US" sz="2400">
                          <a:latin typeface="Times New Roman"/>
                          <a:ea typeface="Calibri"/>
                          <a:cs typeface="Times New Roman"/>
                        </a:rPr>
                        <a:t>Chiến lược</a:t>
                      </a:r>
                    </a:p>
                    <a:p>
                      <a:pPr marR="2540" algn="just">
                        <a:lnSpc>
                          <a:spcPct val="150000"/>
                        </a:lnSpc>
                        <a:spcAft>
                          <a:spcPts val="0"/>
                        </a:spcAft>
                        <a:tabLst>
                          <a:tab pos="1405890" algn="ctr"/>
                        </a:tabLst>
                      </a:pPr>
                      <a:r>
                        <a:rPr lang="en-US" sz="2400">
                          <a:latin typeface="Times New Roman"/>
                          <a:ea typeface="Calibri"/>
                          <a:cs typeface="Times New Roman"/>
                        </a:rPr>
                        <a:t>Hớt váng nhanh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2540" algn="just">
                        <a:lnSpc>
                          <a:spcPct val="150000"/>
                        </a:lnSpc>
                        <a:spcAft>
                          <a:spcPts val="0"/>
                        </a:spcAft>
                      </a:pPr>
                      <a:r>
                        <a:rPr lang="en-US" sz="2400">
                          <a:latin typeface="Times New Roman"/>
                          <a:ea typeface="Calibri"/>
                          <a:cs typeface="Times New Roman"/>
                        </a:rPr>
                        <a:t>Chiến lược</a:t>
                      </a:r>
                    </a:p>
                    <a:p>
                      <a:pPr marR="2540" algn="just">
                        <a:lnSpc>
                          <a:spcPct val="150000"/>
                        </a:lnSpc>
                        <a:spcAft>
                          <a:spcPts val="0"/>
                        </a:spcAft>
                      </a:pPr>
                      <a:r>
                        <a:rPr lang="en-US" sz="2400">
                          <a:latin typeface="Times New Roman"/>
                          <a:ea typeface="Calibri"/>
                          <a:cs typeface="Times New Roman"/>
                        </a:rPr>
                        <a:t>Hớt váng chậm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600201">
                <a:tc>
                  <a:txBody>
                    <a:bodyPr/>
                    <a:lstStyle/>
                    <a:p>
                      <a:pPr marR="2540" algn="just">
                        <a:lnSpc>
                          <a:spcPct val="150000"/>
                        </a:lnSpc>
                        <a:spcAft>
                          <a:spcPts val="0"/>
                        </a:spcAft>
                      </a:pPr>
                      <a:r>
                        <a:rPr lang="en-US" sz="2400">
                          <a:latin typeface="Times New Roman"/>
                          <a:ea typeface="Calibri"/>
                          <a:cs typeface="Times New Roman"/>
                        </a:rPr>
                        <a:t>Chiến lược thâm </a:t>
                      </a:r>
                    </a:p>
                    <a:p>
                      <a:pPr marR="2540" algn="just">
                        <a:lnSpc>
                          <a:spcPct val="150000"/>
                        </a:lnSpc>
                        <a:spcAft>
                          <a:spcPts val="0"/>
                        </a:spcAft>
                      </a:pPr>
                      <a:r>
                        <a:rPr lang="en-US" sz="2400">
                          <a:latin typeface="Times New Roman"/>
                          <a:ea typeface="Calibri"/>
                          <a:cs typeface="Times New Roman"/>
                        </a:rPr>
                        <a:t>nhập nhanh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2540" algn="just">
                        <a:lnSpc>
                          <a:spcPct val="150000"/>
                        </a:lnSpc>
                        <a:spcAft>
                          <a:spcPts val="0"/>
                        </a:spcAft>
                      </a:pPr>
                      <a:r>
                        <a:rPr lang="en-US" sz="2400">
                          <a:latin typeface="Times New Roman"/>
                          <a:ea typeface="Calibri"/>
                          <a:cs typeface="Times New Roman"/>
                        </a:rPr>
                        <a:t>Chiến lược thâm </a:t>
                      </a:r>
                    </a:p>
                    <a:p>
                      <a:pPr marR="2540" algn="just">
                        <a:lnSpc>
                          <a:spcPct val="150000"/>
                        </a:lnSpc>
                        <a:spcAft>
                          <a:spcPts val="0"/>
                        </a:spcAft>
                      </a:pPr>
                      <a:r>
                        <a:rPr lang="en-US" sz="2400">
                          <a:latin typeface="Times New Roman"/>
                          <a:ea typeface="Calibri"/>
                          <a:cs typeface="Times New Roman"/>
                        </a:rPr>
                        <a:t>nhập chậm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4" name="Rectangle 3"/>
          <p:cNvSpPr/>
          <p:nvPr/>
        </p:nvSpPr>
        <p:spPr>
          <a:xfrm>
            <a:off x="304800" y="1219200"/>
            <a:ext cx="3475631" cy="523220"/>
          </a:xfrm>
          <a:prstGeom prst="rect">
            <a:avLst/>
          </a:prstGeom>
        </p:spPr>
        <p:txBody>
          <a:bodyPr wrap="none">
            <a:spAutoFit/>
          </a:bodyPr>
          <a:lstStyle/>
          <a:p>
            <a:r>
              <a:rPr lang="en-US" sz="2800" i="1" dirty="0" err="1"/>
              <a:t>Giai</a:t>
            </a:r>
            <a:r>
              <a:rPr lang="en-US" sz="2800" i="1" dirty="0"/>
              <a:t> </a:t>
            </a:r>
            <a:r>
              <a:rPr lang="en-US" sz="2800" i="1" dirty="0" err="1"/>
              <a:t>đoạn</a:t>
            </a:r>
            <a:r>
              <a:rPr lang="en-US" sz="2800" i="1" dirty="0"/>
              <a:t> </a:t>
            </a:r>
            <a:r>
              <a:rPr lang="en-US" sz="2800" i="1" dirty="0" err="1"/>
              <a:t>giới</a:t>
            </a:r>
            <a:r>
              <a:rPr lang="en-US" sz="2800" i="1" dirty="0"/>
              <a:t> </a:t>
            </a:r>
            <a:r>
              <a:rPr lang="en-US" sz="2800" i="1" dirty="0" err="1"/>
              <a:t>thiệu</a:t>
            </a:r>
            <a:r>
              <a:rPr lang="en-US" sz="2800" i="1" dirty="0"/>
              <a:t> </a:t>
            </a:r>
            <a:endParaRPr lang="en-US" sz="2800" dirty="0"/>
          </a:p>
        </p:txBody>
      </p:sp>
    </p:spTree>
    <p:extLst>
      <p:ext uri="{BB962C8B-B14F-4D97-AF65-F5344CB8AC3E}">
        <p14:creationId xmlns:p14="http://schemas.microsoft.com/office/powerpoint/2010/main" val="24720554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i="1" dirty="0" err="1"/>
              <a:t>Giai</a:t>
            </a:r>
            <a:r>
              <a:rPr lang="en-US" sz="3200" i="1" dirty="0"/>
              <a:t> </a:t>
            </a:r>
            <a:r>
              <a:rPr lang="en-US" sz="3200" i="1" dirty="0" err="1"/>
              <a:t>đoạn</a:t>
            </a:r>
            <a:r>
              <a:rPr lang="en-US" sz="3200" i="1" dirty="0"/>
              <a:t> </a:t>
            </a:r>
            <a:r>
              <a:rPr lang="en-US" sz="3200" i="1" dirty="0" err="1"/>
              <a:t>phát</a:t>
            </a:r>
            <a:r>
              <a:rPr lang="en-US" sz="3200" i="1" dirty="0"/>
              <a:t> </a:t>
            </a:r>
            <a:r>
              <a:rPr lang="en-US" sz="3200" i="1" dirty="0" err="1"/>
              <a:t>triển</a:t>
            </a:r>
            <a:br>
              <a:rPr lang="en-US" sz="3200" i="1" dirty="0"/>
            </a:br>
            <a:endParaRPr lang="en-US" sz="3200" i="1" dirty="0"/>
          </a:p>
        </p:txBody>
      </p:sp>
      <p:sp>
        <p:nvSpPr>
          <p:cNvPr id="3" name="Content Placeholder 2"/>
          <p:cNvSpPr>
            <a:spLocks noGrp="1"/>
          </p:cNvSpPr>
          <p:nvPr>
            <p:ph idx="1"/>
          </p:nvPr>
        </p:nvSpPr>
        <p:spPr/>
        <p:txBody>
          <a:bodyPr>
            <a:normAutofit/>
          </a:bodyPr>
          <a:lstStyle/>
          <a:p>
            <a:r>
              <a:rPr lang="en-US"/>
              <a:t>Chiến lược cải tiến chất lượng sản phẩm</a:t>
            </a:r>
          </a:p>
          <a:p>
            <a:r>
              <a:rPr lang="en-US"/>
              <a:t>Chiến lược thâm nhập vào những phân đoạn thị trường mới.</a:t>
            </a:r>
          </a:p>
          <a:p>
            <a:r>
              <a:rPr lang="en-US"/>
              <a:t>- Chiến lược mở rộng phạm vi phân phối, tham gia vào những kênh phân phối mới.</a:t>
            </a:r>
          </a:p>
          <a:p>
            <a:r>
              <a:rPr lang="en-US"/>
              <a:t>Chiến lược chuyển mục tiêu quảng cáo từ giới thiệu mặt hàng sang tạo niềm tin và sự ưa thích sản phẩm.</a:t>
            </a:r>
          </a:p>
          <a:p>
            <a:r>
              <a:rPr lang="en-US"/>
              <a:t>Chiến lược giảm giá đúng lúc để thu hút những khách hàng nhạy cảm với giá.</a:t>
            </a:r>
          </a:p>
          <a:p>
            <a:endParaRPr lang="en-US"/>
          </a:p>
        </p:txBody>
      </p:sp>
    </p:spTree>
    <p:extLst>
      <p:ext uri="{BB962C8B-B14F-4D97-AF65-F5344CB8AC3E}">
        <p14:creationId xmlns:p14="http://schemas.microsoft.com/office/powerpoint/2010/main" val="7293155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dirty="0" err="1"/>
              <a:t>Giai</a:t>
            </a:r>
            <a:r>
              <a:rPr lang="en-US" sz="3200" dirty="0"/>
              <a:t> </a:t>
            </a:r>
            <a:r>
              <a:rPr lang="en-US" sz="3200" dirty="0" err="1"/>
              <a:t>đoạn</a:t>
            </a:r>
            <a:r>
              <a:rPr lang="en-US" sz="3200" dirty="0"/>
              <a:t> sung </a:t>
            </a:r>
            <a:r>
              <a:rPr lang="en-US" sz="3200" dirty="0" err="1"/>
              <a:t>mãn</a:t>
            </a:r>
            <a:endParaRPr lang="en-US" sz="3200" dirty="0"/>
          </a:p>
        </p:txBody>
      </p:sp>
      <p:sp>
        <p:nvSpPr>
          <p:cNvPr id="3" name="Content Placeholder 2"/>
          <p:cNvSpPr>
            <a:spLocks noGrp="1"/>
          </p:cNvSpPr>
          <p:nvPr>
            <p:ph idx="1"/>
          </p:nvPr>
        </p:nvSpPr>
        <p:spPr/>
        <p:txBody>
          <a:bodyPr/>
          <a:lstStyle/>
          <a:p>
            <a:endParaRPr lang="en-US"/>
          </a:p>
        </p:txBody>
      </p:sp>
      <p:pic>
        <p:nvPicPr>
          <p:cNvPr id="80898" name="Picture 2" descr="http://hdbvietnam.files.wordpress.com/2012/12/1.jpg"/>
          <p:cNvPicPr>
            <a:picLocks noChangeAspect="1" noChangeArrowheads="1"/>
          </p:cNvPicPr>
          <p:nvPr/>
        </p:nvPicPr>
        <p:blipFill>
          <a:blip r:embed="rId2" cstate="print"/>
          <a:srcRect/>
          <a:stretch>
            <a:fillRect/>
          </a:stretch>
        </p:blipFill>
        <p:spPr bwMode="auto">
          <a:xfrm>
            <a:off x="304801" y="1295400"/>
            <a:ext cx="8405452" cy="5000626"/>
          </a:xfrm>
          <a:prstGeom prst="rect">
            <a:avLst/>
          </a:prstGeom>
          <a:noFill/>
        </p:spPr>
      </p:pic>
      <p:cxnSp>
        <p:nvCxnSpPr>
          <p:cNvPr id="6" name="Straight Connector 5"/>
          <p:cNvCxnSpPr/>
          <p:nvPr/>
        </p:nvCxnSpPr>
        <p:spPr>
          <a:xfrm rot="5400000">
            <a:off x="4801394" y="2209006"/>
            <a:ext cx="457200" cy="158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5400000">
            <a:off x="5944394" y="2209006"/>
            <a:ext cx="457200" cy="158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3429000" y="1905000"/>
            <a:ext cx="1366464" cy="646331"/>
          </a:xfrm>
          <a:prstGeom prst="rect">
            <a:avLst/>
          </a:prstGeom>
        </p:spPr>
        <p:style>
          <a:lnRef idx="3">
            <a:schemeClr val="lt1"/>
          </a:lnRef>
          <a:fillRef idx="1">
            <a:schemeClr val="accent2"/>
          </a:fillRef>
          <a:effectRef idx="1">
            <a:schemeClr val="accent2"/>
          </a:effectRef>
          <a:fontRef idx="minor">
            <a:schemeClr val="lt1"/>
          </a:fontRef>
        </p:style>
        <p:txBody>
          <a:bodyPr wrap="none">
            <a:spAutoFit/>
          </a:bodyPr>
          <a:lstStyle/>
          <a:p>
            <a:r>
              <a:rPr lang="en-US"/>
              <a:t>sung mãn</a:t>
            </a:r>
          </a:p>
          <a:p>
            <a:r>
              <a:rPr lang="en-US"/>
              <a:t> tăng trưởng</a:t>
            </a:r>
          </a:p>
        </p:txBody>
      </p:sp>
      <p:sp>
        <p:nvSpPr>
          <p:cNvPr id="10" name="Rectangle 9"/>
          <p:cNvSpPr/>
          <p:nvPr/>
        </p:nvSpPr>
        <p:spPr>
          <a:xfrm>
            <a:off x="5105400" y="1295400"/>
            <a:ext cx="1149674" cy="646331"/>
          </a:xfrm>
          <a:prstGeom prst="rect">
            <a:avLst/>
          </a:prstGeom>
        </p:spPr>
        <p:style>
          <a:lnRef idx="3">
            <a:schemeClr val="lt1"/>
          </a:lnRef>
          <a:fillRef idx="1">
            <a:schemeClr val="accent1"/>
          </a:fillRef>
          <a:effectRef idx="1">
            <a:schemeClr val="accent1"/>
          </a:effectRef>
          <a:fontRef idx="minor">
            <a:schemeClr val="lt1"/>
          </a:fontRef>
        </p:style>
        <p:txBody>
          <a:bodyPr wrap="none">
            <a:spAutoFit/>
          </a:bodyPr>
          <a:lstStyle/>
          <a:p>
            <a:r>
              <a:rPr lang="en-US"/>
              <a:t>sung mãn </a:t>
            </a:r>
          </a:p>
          <a:p>
            <a:r>
              <a:rPr lang="en-US"/>
              <a:t>ổn định </a:t>
            </a:r>
          </a:p>
        </p:txBody>
      </p:sp>
      <p:sp>
        <p:nvSpPr>
          <p:cNvPr id="11" name="Rectangle 10"/>
          <p:cNvSpPr/>
          <p:nvPr/>
        </p:nvSpPr>
        <p:spPr>
          <a:xfrm>
            <a:off x="6477000" y="1295400"/>
            <a:ext cx="1096775" cy="646331"/>
          </a:xfrm>
          <a:prstGeom prst="rect">
            <a:avLst/>
          </a:prstGeom>
        </p:spPr>
        <p:style>
          <a:lnRef idx="3">
            <a:schemeClr val="lt1"/>
          </a:lnRef>
          <a:fillRef idx="1">
            <a:schemeClr val="accent6"/>
          </a:fillRef>
          <a:effectRef idx="1">
            <a:schemeClr val="accent6"/>
          </a:effectRef>
          <a:fontRef idx="minor">
            <a:schemeClr val="lt1"/>
          </a:fontRef>
        </p:style>
        <p:txBody>
          <a:bodyPr wrap="none">
            <a:spAutoFit/>
          </a:bodyPr>
          <a:lstStyle/>
          <a:p>
            <a:r>
              <a:rPr lang="en-US"/>
              <a:t>sung mãn</a:t>
            </a:r>
          </a:p>
          <a:p>
            <a:r>
              <a:rPr lang="en-US"/>
              <a:t> suy tàn </a:t>
            </a:r>
          </a:p>
        </p:txBody>
      </p:sp>
    </p:spTree>
    <p:extLst>
      <p:ext uri="{BB962C8B-B14F-4D97-AF65-F5344CB8AC3E}">
        <p14:creationId xmlns:p14="http://schemas.microsoft.com/office/powerpoint/2010/main" val="1645119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533400" y="2332037"/>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p:cNvSpPr txBox="1">
            <a:spLocks/>
          </p:cNvSpPr>
          <p:nvPr/>
        </p:nvSpPr>
        <p:spPr>
          <a:xfrm>
            <a:off x="609600" y="381000"/>
            <a:ext cx="8229600" cy="1524000"/>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err="1">
                <a:ln>
                  <a:noFill/>
                </a:ln>
                <a:solidFill>
                  <a:schemeClr val="tx1"/>
                </a:solidFill>
                <a:effectLst/>
                <a:uLnTx/>
                <a:uFillTx/>
                <a:latin typeface="+mj-lt"/>
                <a:ea typeface="+mj-ea"/>
                <a:cs typeface="+mj-cs"/>
              </a:rPr>
              <a:t>Giai</a:t>
            </a:r>
            <a:r>
              <a:rPr kumimoji="0" lang="en-US" sz="3200" b="0" i="0" u="none" strike="noStrike" kern="1200" cap="none" spc="0" normalizeH="0" baseline="0" noProof="0" dirty="0">
                <a:ln>
                  <a:noFill/>
                </a:ln>
                <a:solidFill>
                  <a:schemeClr val="tx1"/>
                </a:solidFill>
                <a:effectLst/>
                <a:uLnTx/>
                <a:uFillTx/>
                <a:latin typeface="+mj-lt"/>
                <a:ea typeface="+mj-ea"/>
                <a:cs typeface="+mj-cs"/>
              </a:rPr>
              <a:t> </a:t>
            </a:r>
            <a:r>
              <a:rPr kumimoji="0" lang="en-US" sz="3200" b="0" i="0" u="none" strike="noStrike" kern="1200" cap="none" spc="0" normalizeH="0" baseline="0" noProof="0" dirty="0" err="1">
                <a:ln>
                  <a:noFill/>
                </a:ln>
                <a:solidFill>
                  <a:schemeClr val="tx1"/>
                </a:solidFill>
                <a:effectLst/>
                <a:uLnTx/>
                <a:uFillTx/>
                <a:latin typeface="+mj-lt"/>
                <a:ea typeface="+mj-ea"/>
                <a:cs typeface="+mj-cs"/>
              </a:rPr>
              <a:t>đoạn</a:t>
            </a:r>
            <a:r>
              <a:rPr kumimoji="0" lang="en-US" sz="3200" b="0" i="0" u="none" strike="noStrike" kern="1200" cap="none" spc="0" normalizeH="0" baseline="0" noProof="0" dirty="0">
                <a:ln>
                  <a:noFill/>
                </a:ln>
                <a:solidFill>
                  <a:schemeClr val="tx1"/>
                </a:solidFill>
                <a:effectLst/>
                <a:uLnTx/>
                <a:uFillTx/>
                <a:latin typeface="+mj-lt"/>
                <a:ea typeface="+mj-ea"/>
                <a:cs typeface="+mj-cs"/>
              </a:rPr>
              <a:t> sung </a:t>
            </a:r>
            <a:r>
              <a:rPr kumimoji="0" lang="en-US" sz="3200" b="0" i="0" u="none" strike="noStrike" kern="1200" cap="none" spc="0" normalizeH="0" baseline="0" noProof="0" dirty="0" err="1">
                <a:ln>
                  <a:noFill/>
                </a:ln>
                <a:solidFill>
                  <a:schemeClr val="tx1"/>
                </a:solidFill>
                <a:effectLst/>
                <a:uLnTx/>
                <a:uFillTx/>
                <a:latin typeface="+mj-lt"/>
                <a:ea typeface="+mj-ea"/>
                <a:cs typeface="+mj-cs"/>
              </a:rPr>
              <a:t>mãn</a:t>
            </a:r>
            <a:r>
              <a:rPr kumimoji="0" lang="en-US" sz="3200" b="0" i="0" u="none" strike="noStrike" kern="1200" cap="none" spc="0" normalizeH="0" baseline="0" noProof="0" dirty="0">
                <a:ln>
                  <a:noFill/>
                </a:ln>
                <a:solidFill>
                  <a:schemeClr val="tx1"/>
                </a:solidFill>
                <a:effectLst/>
                <a:uLnTx/>
                <a:uFillTx/>
                <a:latin typeface="+mj-lt"/>
                <a:ea typeface="+mj-ea"/>
                <a:cs typeface="+mj-cs"/>
              </a:rPr>
              <a:t> (</a:t>
            </a:r>
            <a:r>
              <a:rPr kumimoji="0" lang="en-US" sz="3200" b="0" i="0" u="none" strike="noStrike" kern="1200" cap="none" spc="0" normalizeH="0" baseline="0" noProof="0" dirty="0" err="1">
                <a:ln>
                  <a:noFill/>
                </a:ln>
                <a:solidFill>
                  <a:schemeClr val="tx1"/>
                </a:solidFill>
                <a:effectLst/>
                <a:uLnTx/>
                <a:uFillTx/>
                <a:latin typeface="+mj-lt"/>
                <a:ea typeface="+mj-ea"/>
                <a:cs typeface="+mj-cs"/>
              </a:rPr>
              <a:t>tt</a:t>
            </a:r>
            <a:r>
              <a:rPr kumimoji="0" lang="en-US" sz="3200" b="0" i="0" u="none" strike="noStrike" kern="1200" cap="none" spc="0" normalizeH="0" baseline="0" noProof="0" dirty="0">
                <a:ln>
                  <a:noFill/>
                </a:ln>
                <a:solidFill>
                  <a:schemeClr val="tx1"/>
                </a:solidFill>
                <a:effectLst/>
                <a:uLnTx/>
                <a:uFillTx/>
                <a:latin typeface="+mj-lt"/>
                <a:ea typeface="+mj-ea"/>
                <a:cs typeface="+mj-cs"/>
              </a:rPr>
              <a:t>)</a:t>
            </a:r>
          </a:p>
          <a:p>
            <a:pPr marL="0" marR="0" lvl="0" indent="0" algn="l" defTabSz="914400" rtl="0" eaLnBrk="1" fontAlgn="auto" latinLnBrk="0" hangingPunct="1">
              <a:lnSpc>
                <a:spcPct val="100000"/>
              </a:lnSpc>
              <a:spcBef>
                <a:spcPct val="0"/>
              </a:spcBef>
              <a:spcAft>
                <a:spcPts val="0"/>
              </a:spcAft>
              <a:buClrTx/>
              <a:buSzTx/>
              <a:buFontTx/>
              <a:buNone/>
              <a:tabLst/>
              <a:defRPr/>
            </a:pPr>
            <a:endParaRPr lang="en-US" sz="3200" dirty="0">
              <a:latin typeface="+mj-lt"/>
              <a:ea typeface="+mj-ea"/>
              <a:cs typeface="+mj-cs"/>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lang="en-US" sz="3200" dirty="0">
              <a:latin typeface="+mj-lt"/>
              <a:ea typeface="+mj-ea"/>
              <a:cs typeface="+mj-cs"/>
            </a:endParaRPr>
          </a:p>
          <a:p>
            <a:pPr marL="0" marR="0" lvl="0" indent="0" algn="l" defTabSz="914400" rtl="0" eaLnBrk="1" fontAlgn="auto" latinLnBrk="0" hangingPunct="1">
              <a:lnSpc>
                <a:spcPct val="100000"/>
              </a:lnSpc>
              <a:spcBef>
                <a:spcPct val="0"/>
              </a:spcBef>
              <a:spcAft>
                <a:spcPts val="0"/>
              </a:spcAft>
              <a:buClrTx/>
              <a:buSzTx/>
              <a:buFontTx/>
              <a:buNone/>
              <a:tabLst/>
              <a:defRPr/>
            </a:pPr>
            <a:r>
              <a:rPr lang="en-US" sz="3200" u="sng" dirty="0" err="1">
                <a:latin typeface="+mj-lt"/>
                <a:ea typeface="+mj-ea"/>
                <a:cs typeface="+mj-cs"/>
              </a:rPr>
              <a:t>Chiến</a:t>
            </a:r>
            <a:r>
              <a:rPr lang="en-US" sz="3200" u="sng" dirty="0">
                <a:latin typeface="+mj-lt"/>
                <a:ea typeface="+mj-ea"/>
                <a:cs typeface="+mj-cs"/>
              </a:rPr>
              <a:t> </a:t>
            </a:r>
            <a:r>
              <a:rPr lang="en-US" sz="3200" u="sng" dirty="0" err="1">
                <a:latin typeface="+mj-lt"/>
                <a:ea typeface="+mj-ea"/>
                <a:cs typeface="+mj-cs"/>
              </a:rPr>
              <a:t>lược</a:t>
            </a:r>
            <a:r>
              <a:rPr lang="en-US" sz="3200" dirty="0">
                <a:latin typeface="+mj-lt"/>
                <a:ea typeface="+mj-ea"/>
                <a:cs typeface="+mj-cs"/>
              </a:rPr>
              <a:t>: </a:t>
            </a:r>
            <a:endParaRPr kumimoji="0" lang="en-US" sz="3200" b="0" i="0" u="none" strike="noStrike" kern="1200" cap="none"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27654002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4191000" cy="1143000"/>
          </a:xfrm>
        </p:spPr>
        <p:style>
          <a:lnRef idx="3">
            <a:schemeClr val="lt1"/>
          </a:lnRef>
          <a:fillRef idx="1">
            <a:schemeClr val="accent2"/>
          </a:fillRef>
          <a:effectRef idx="1">
            <a:schemeClr val="accent2"/>
          </a:effectRef>
          <a:fontRef idx="minor">
            <a:schemeClr val="lt1"/>
          </a:fontRef>
        </p:style>
        <p:txBody>
          <a:bodyPr>
            <a:normAutofit/>
          </a:bodyPr>
          <a:lstStyle/>
          <a:p>
            <a:pPr algn="l"/>
            <a:r>
              <a:rPr lang="en-US" sz="2800" dirty="0" err="1"/>
              <a:t>Giai</a:t>
            </a:r>
            <a:r>
              <a:rPr lang="en-US" sz="2800" dirty="0"/>
              <a:t> </a:t>
            </a:r>
            <a:r>
              <a:rPr lang="en-US" sz="2800" dirty="0" err="1"/>
              <a:t>đoạn</a:t>
            </a:r>
            <a:r>
              <a:rPr lang="en-US" sz="2800" dirty="0"/>
              <a:t> </a:t>
            </a:r>
            <a:r>
              <a:rPr lang="en-US" sz="2800" dirty="0" err="1"/>
              <a:t>suy</a:t>
            </a:r>
            <a:r>
              <a:rPr lang="en-US" sz="2800" dirty="0"/>
              <a:t> </a:t>
            </a:r>
            <a:r>
              <a:rPr lang="en-US" sz="2800" dirty="0" err="1"/>
              <a:t>tàn</a:t>
            </a:r>
            <a:endParaRPr lang="en-US" sz="2800" dirty="0"/>
          </a:p>
        </p:txBody>
      </p:sp>
      <p:graphicFrame>
        <p:nvGraphicFramePr>
          <p:cNvPr id="6" name="Content Placeholder 5"/>
          <p:cNvGraphicFramePr>
            <a:graphicFrameLocks noGrp="1"/>
          </p:cNvGraphicFramePr>
          <p:nvPr>
            <p:ph idx="1"/>
          </p:nvPr>
        </p:nvGraphicFramePr>
        <p:xfrm>
          <a:off x="914400" y="2057400"/>
          <a:ext cx="6934200" cy="3763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334822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718CE-A567-405C-9C54-DDE3521980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F67536A-73E0-4705-AB00-CEF8C87B2FB1}"/>
              </a:ext>
            </a:extLst>
          </p:cNvPr>
          <p:cNvSpPr>
            <a:spLocks noGrp="1"/>
          </p:cNvSpPr>
          <p:nvPr>
            <p:ph idx="1"/>
          </p:nvPr>
        </p:nvSpPr>
        <p:spPr/>
        <p:txBody>
          <a:bodyPr/>
          <a:lstStyle/>
          <a:p>
            <a:endParaRPr lang="en-US"/>
          </a:p>
        </p:txBody>
      </p:sp>
      <p:pic>
        <p:nvPicPr>
          <p:cNvPr id="10242" name="Picture 2" descr="14 &#10;2.1. Giai đoạn triển khai &#10;- Doanh thu: tăng chậm (do NTD chưa có &#10;nhiều thông tin về sản phẩm, chưa từ bỏ thói &#10;quen ...">
            <a:extLst>
              <a:ext uri="{FF2B5EF4-FFF2-40B4-BE49-F238E27FC236}">
                <a16:creationId xmlns:a16="http://schemas.microsoft.com/office/drawing/2014/main" id="{EFAA52BA-60A2-4FAD-8A23-9737BB0176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5256"/>
            <a:ext cx="8631438" cy="6480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60971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EF754-86D7-47DA-ADDC-90C26D68205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279E789-539C-4595-A4CE-AF096D0B69B8}"/>
              </a:ext>
            </a:extLst>
          </p:cNvPr>
          <p:cNvSpPr>
            <a:spLocks noGrp="1"/>
          </p:cNvSpPr>
          <p:nvPr>
            <p:ph idx="1"/>
          </p:nvPr>
        </p:nvSpPr>
        <p:spPr/>
        <p:txBody>
          <a:bodyPr/>
          <a:lstStyle/>
          <a:p>
            <a:endParaRPr lang="en-US"/>
          </a:p>
        </p:txBody>
      </p:sp>
      <p:pic>
        <p:nvPicPr>
          <p:cNvPr id="11266" name="Picture 2" descr="2.1. Giai đoạn triển khai &#10;- Marketing-Mix: Tập trung thuyết phục nhóm KH có &#10;điều kiện sẵn sàng mua nhất; khuyến khích cá...">
            <a:extLst>
              <a:ext uri="{FF2B5EF4-FFF2-40B4-BE49-F238E27FC236}">
                <a16:creationId xmlns:a16="http://schemas.microsoft.com/office/drawing/2014/main" id="{0833836A-8F21-4357-A714-BBBC287728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10837"/>
            <a:ext cx="8174875" cy="6137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30542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28377-9139-4144-9665-3A5C18BE24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33F3E83-2965-4A79-8DEE-468C8F802B74}"/>
              </a:ext>
            </a:extLst>
          </p:cNvPr>
          <p:cNvSpPr>
            <a:spLocks noGrp="1"/>
          </p:cNvSpPr>
          <p:nvPr>
            <p:ph idx="1"/>
          </p:nvPr>
        </p:nvSpPr>
        <p:spPr/>
        <p:txBody>
          <a:bodyPr/>
          <a:lstStyle/>
          <a:p>
            <a:endParaRPr lang="en-US"/>
          </a:p>
        </p:txBody>
      </p:sp>
      <p:pic>
        <p:nvPicPr>
          <p:cNvPr id="12290" name="Picture 2" descr="2.2. Giai đoạn tăng trưởng &#10;- Doanh thu: khối lượng tiêu thụ và doanh thu bắt đầu &#10;tăng nhanh (do phân lớn KH đã chấp nhận...">
            <a:extLst>
              <a:ext uri="{FF2B5EF4-FFF2-40B4-BE49-F238E27FC236}">
                <a16:creationId xmlns:a16="http://schemas.microsoft.com/office/drawing/2014/main" id="{77FDF8ED-6A5E-4F82-9E6B-6905F4CC50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82466"/>
            <a:ext cx="7946274" cy="5965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41689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16585-C69B-4C1E-8C59-310C1D5310E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E931E18-5B65-4097-833C-907B1E653535}"/>
              </a:ext>
            </a:extLst>
          </p:cNvPr>
          <p:cNvSpPr>
            <a:spLocks noGrp="1"/>
          </p:cNvSpPr>
          <p:nvPr>
            <p:ph idx="1"/>
          </p:nvPr>
        </p:nvSpPr>
        <p:spPr/>
        <p:txBody>
          <a:bodyPr/>
          <a:lstStyle/>
          <a:p>
            <a:endParaRPr lang="en-US"/>
          </a:p>
        </p:txBody>
      </p:sp>
      <p:pic>
        <p:nvPicPr>
          <p:cNvPr id="13314" name="Picture 2" descr="2.2. Giai đoạn tăng trưởng &#10;- Marketing-Mix: KH tiên phong và nhóm KH mới; tận &#10;dụng ưu thế của giai đoạn triển khai để mở...">
            <a:extLst>
              <a:ext uri="{FF2B5EF4-FFF2-40B4-BE49-F238E27FC236}">
                <a16:creationId xmlns:a16="http://schemas.microsoft.com/office/drawing/2014/main" id="{4495A302-8F5B-4C8F-8608-8F636ACA44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68047"/>
            <a:ext cx="8200169" cy="6156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97529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05169-FE84-478E-A42D-15147C0A80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269FB7A-77B0-4AF2-8E9F-8DDBE1A9891C}"/>
              </a:ext>
            </a:extLst>
          </p:cNvPr>
          <p:cNvSpPr>
            <a:spLocks noGrp="1"/>
          </p:cNvSpPr>
          <p:nvPr>
            <p:ph idx="1"/>
          </p:nvPr>
        </p:nvSpPr>
        <p:spPr/>
        <p:txBody>
          <a:bodyPr/>
          <a:lstStyle/>
          <a:p>
            <a:endParaRPr lang="en-US"/>
          </a:p>
        </p:txBody>
      </p:sp>
      <p:pic>
        <p:nvPicPr>
          <p:cNvPr id="14338" name="Picture 2" descr="2.3. Giai đoạn chín muồi &#10;- Doanh thu và lợi nhuận: đạt cực đại, nhưng có xu &#10;hướng giảm vào cuối giai đoạn --&gt; đánh dấu s...">
            <a:extLst>
              <a:ext uri="{FF2B5EF4-FFF2-40B4-BE49-F238E27FC236}">
                <a16:creationId xmlns:a16="http://schemas.microsoft.com/office/drawing/2014/main" id="{6AD7EEAE-E82C-4D8A-929C-294961645C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5256"/>
            <a:ext cx="8834425" cy="66327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30597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650DA-6DC7-452B-A7A7-5A58D239A5E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4B28CBE-0D1C-4722-A7EA-9B265EF7491C}"/>
              </a:ext>
            </a:extLst>
          </p:cNvPr>
          <p:cNvSpPr>
            <a:spLocks noGrp="1"/>
          </p:cNvSpPr>
          <p:nvPr>
            <p:ph idx="1"/>
          </p:nvPr>
        </p:nvSpPr>
        <p:spPr/>
        <p:txBody>
          <a:bodyPr/>
          <a:lstStyle/>
          <a:p>
            <a:endParaRPr lang="en-US"/>
          </a:p>
        </p:txBody>
      </p:sp>
      <p:pic>
        <p:nvPicPr>
          <p:cNvPr id="15362" name="Picture 2" descr="2.3. Giai đoạn chín muồi &#10;- Marketing-Mix: giảm chi phí markeitng, kích thích &#10;trung gian phân phối, tiếp tục phục vụ KH t...">
            <a:extLst>
              <a:ext uri="{FF2B5EF4-FFF2-40B4-BE49-F238E27FC236}">
                <a16:creationId xmlns:a16="http://schemas.microsoft.com/office/drawing/2014/main" id="{7C2A8688-C83A-4926-B379-93169BFA81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1" y="533400"/>
            <a:ext cx="7612046"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73306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31032-EF55-467F-BB6E-F2E331E8B16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3FEF986-2C67-4523-9C5E-5F38CC8BA37C}"/>
              </a:ext>
            </a:extLst>
          </p:cNvPr>
          <p:cNvSpPr>
            <a:spLocks noGrp="1"/>
          </p:cNvSpPr>
          <p:nvPr>
            <p:ph idx="1"/>
          </p:nvPr>
        </p:nvSpPr>
        <p:spPr/>
        <p:txBody>
          <a:bodyPr/>
          <a:lstStyle/>
          <a:p>
            <a:endParaRPr lang="en-US"/>
          </a:p>
        </p:txBody>
      </p:sp>
      <p:pic>
        <p:nvPicPr>
          <p:cNvPr id="16386" name="Picture 2" descr="2.4. Giai đoạn suy thoái &#10;- Doanh thu và lợi nhuận: giảm sút liên tục (do sản phẩm &#10;thay thế; thị hiếu của KH thay đổi) &#10;Þ...">
            <a:extLst>
              <a:ext uri="{FF2B5EF4-FFF2-40B4-BE49-F238E27FC236}">
                <a16:creationId xmlns:a16="http://schemas.microsoft.com/office/drawing/2014/main" id="{4D9EEB44-B50E-46F0-88BE-1CEBE60B3E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39677"/>
            <a:ext cx="7594313" cy="5701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63507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51C28-C5CB-4E61-8D44-8EFE51898DA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0D11671-CFC1-48C4-9205-DFC832091F56}"/>
              </a:ext>
            </a:extLst>
          </p:cNvPr>
          <p:cNvSpPr>
            <a:spLocks noGrp="1"/>
          </p:cNvSpPr>
          <p:nvPr>
            <p:ph idx="1"/>
          </p:nvPr>
        </p:nvSpPr>
        <p:spPr/>
        <p:txBody>
          <a:bodyPr/>
          <a:lstStyle/>
          <a:p>
            <a:endParaRPr lang="en-US"/>
          </a:p>
        </p:txBody>
      </p:sp>
      <p:pic>
        <p:nvPicPr>
          <p:cNvPr id="17410" name="Picture 2" descr="2.4. Giai đoạn suy thoái Các chiến lược Marketing: &#10;- Phát hiện những sản phẩm yếu kém: xem xét trên các tiêu chuẩn: số &#10;n...">
            <a:extLst>
              <a:ext uri="{FF2B5EF4-FFF2-40B4-BE49-F238E27FC236}">
                <a16:creationId xmlns:a16="http://schemas.microsoft.com/office/drawing/2014/main" id="{D45D2FC8-417B-4148-B9AE-BEC17D38A9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 y="454095"/>
            <a:ext cx="7000876" cy="5256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887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0FE8B-E188-4096-B275-108B2D112C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06D50DF-DC4E-49D0-8ABD-206C62345F90}"/>
              </a:ext>
            </a:extLst>
          </p:cNvPr>
          <p:cNvSpPr>
            <a:spLocks noGrp="1"/>
          </p:cNvSpPr>
          <p:nvPr>
            <p:ph idx="1"/>
          </p:nvPr>
        </p:nvSpPr>
        <p:spPr/>
        <p:txBody>
          <a:bodyPr/>
          <a:lstStyle/>
          <a:p>
            <a:endParaRPr lang="en-US"/>
          </a:p>
        </p:txBody>
      </p:sp>
      <p:pic>
        <p:nvPicPr>
          <p:cNvPr id="18434" name="Picture 2" descr="25 &#10;2.4. Giai đoạn suy thoái Các chiến lược Marketing: &#10;- Quyết định loại bỏ &#10;+ Bán lại sản phẩm cho công ty khác &#10;+ Nếu k...">
            <a:extLst>
              <a:ext uri="{FF2B5EF4-FFF2-40B4-BE49-F238E27FC236}">
                <a16:creationId xmlns:a16="http://schemas.microsoft.com/office/drawing/2014/main" id="{7656DD37-3FF7-4443-8837-C67BD35325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39677"/>
            <a:ext cx="7594313" cy="5701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07810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A04F1-DDC3-424D-9138-966FA335BA8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8BB0042-9BF4-492F-A404-6EC98D16F619}"/>
              </a:ext>
            </a:extLst>
          </p:cNvPr>
          <p:cNvSpPr>
            <a:spLocks noGrp="1"/>
          </p:cNvSpPr>
          <p:nvPr>
            <p:ph idx="1"/>
          </p:nvPr>
        </p:nvSpPr>
        <p:spPr/>
        <p:txBody>
          <a:bodyPr/>
          <a:lstStyle/>
          <a:p>
            <a:endParaRPr lang="en-US"/>
          </a:p>
        </p:txBody>
      </p:sp>
      <p:pic>
        <p:nvPicPr>
          <p:cNvPr id="19458" name="Picture 2" descr="Đặc điểm Triển khai Tăng trưởng Chín muồi Suy thoái &#10;Doanh số Thấp Tăng nhanh Đỉnh cao Giảm dần &#10;Lợi nhuận Âm Bắt đầu tăng...">
            <a:extLst>
              <a:ext uri="{FF2B5EF4-FFF2-40B4-BE49-F238E27FC236}">
                <a16:creationId xmlns:a16="http://schemas.microsoft.com/office/drawing/2014/main" id="{EAD3CD6D-DAA6-496E-95DE-418F4018DE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565704"/>
            <a:ext cx="7670513" cy="5758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91630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8FC83-484B-4FAD-BA97-64BD35777A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A8E3CF4-4510-487C-94EB-42DFC18D8584}"/>
              </a:ext>
            </a:extLst>
          </p:cNvPr>
          <p:cNvSpPr>
            <a:spLocks noGrp="1"/>
          </p:cNvSpPr>
          <p:nvPr>
            <p:ph idx="1"/>
          </p:nvPr>
        </p:nvSpPr>
        <p:spPr/>
        <p:txBody>
          <a:bodyPr/>
          <a:lstStyle/>
          <a:p>
            <a:endParaRPr lang="en-US"/>
          </a:p>
        </p:txBody>
      </p:sp>
      <p:pic>
        <p:nvPicPr>
          <p:cNvPr id="20482" name="Picture 2" descr="27 &#10;Chiến lược &#10;Marketing &#10;Triển khai Tăng trưởng Chín muồi Suy thoái &#10;Sản phẩm Chào bán sản &#10;phẩm cơ bản &#10;Chào bán sản &#10;p...">
            <a:extLst>
              <a:ext uri="{FF2B5EF4-FFF2-40B4-BE49-F238E27FC236}">
                <a16:creationId xmlns:a16="http://schemas.microsoft.com/office/drawing/2014/main" id="{012A89E3-1473-4D96-A698-A577581BD1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5256"/>
            <a:ext cx="7819486" cy="58707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11465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lstStyle/>
          <a:p>
            <a:r>
              <a:rPr lang="en-US"/>
              <a:t>Câu hỏi ôn tập</a:t>
            </a:r>
          </a:p>
        </p:txBody>
      </p:sp>
      <p:sp>
        <p:nvSpPr>
          <p:cNvPr id="3" name="Content Placeholder 2"/>
          <p:cNvSpPr>
            <a:spLocks noGrp="1"/>
          </p:cNvSpPr>
          <p:nvPr>
            <p:ph idx="1"/>
          </p:nvPr>
        </p:nvSpPr>
        <p:spPr/>
        <p:txBody>
          <a:bodyPr/>
          <a:lstStyle/>
          <a:p>
            <a:pPr>
              <a:buNone/>
            </a:pPr>
            <a:r>
              <a:rPr lang="en-US" dirty="0"/>
              <a:t>1/ </a:t>
            </a:r>
            <a:r>
              <a:rPr lang="en-US" dirty="0" err="1"/>
              <a:t>Nhãn</a:t>
            </a:r>
            <a:r>
              <a:rPr lang="en-US" dirty="0"/>
              <a:t> </a:t>
            </a:r>
            <a:r>
              <a:rPr lang="en-US" dirty="0" err="1"/>
              <a:t>hiệu</a:t>
            </a:r>
            <a:r>
              <a:rPr lang="en-US" dirty="0"/>
              <a:t> </a:t>
            </a:r>
            <a:r>
              <a:rPr lang="en-US" dirty="0" err="1"/>
              <a:t>là</a:t>
            </a:r>
            <a:r>
              <a:rPr lang="en-US" dirty="0"/>
              <a:t> </a:t>
            </a:r>
            <a:r>
              <a:rPr lang="en-US" dirty="0" err="1"/>
              <a:t>gì</a:t>
            </a:r>
            <a:r>
              <a:rPr lang="en-US" dirty="0"/>
              <a:t>? </a:t>
            </a:r>
            <a:r>
              <a:rPr lang="en-US" dirty="0" err="1"/>
              <a:t>Nhãn</a:t>
            </a:r>
            <a:r>
              <a:rPr lang="en-US" dirty="0"/>
              <a:t> </a:t>
            </a:r>
            <a:r>
              <a:rPr lang="en-US" dirty="0" err="1"/>
              <a:t>hiệu</a:t>
            </a:r>
            <a:r>
              <a:rPr lang="en-US" dirty="0"/>
              <a:t> </a:t>
            </a:r>
            <a:r>
              <a:rPr lang="en-US" dirty="0" err="1"/>
              <a:t>gồm</a:t>
            </a:r>
            <a:r>
              <a:rPr lang="en-US" dirty="0"/>
              <a:t> </a:t>
            </a:r>
            <a:r>
              <a:rPr lang="en-US" dirty="0" err="1"/>
              <a:t>những</a:t>
            </a:r>
            <a:r>
              <a:rPr lang="en-US" dirty="0"/>
              <a:t> </a:t>
            </a:r>
            <a:r>
              <a:rPr lang="en-US" dirty="0" err="1"/>
              <a:t>bộ</a:t>
            </a:r>
            <a:r>
              <a:rPr lang="en-US" dirty="0"/>
              <a:t> </a:t>
            </a:r>
            <a:r>
              <a:rPr lang="en-US" dirty="0" err="1"/>
              <a:t>phận</a:t>
            </a:r>
            <a:r>
              <a:rPr lang="en-US" dirty="0"/>
              <a:t> </a:t>
            </a:r>
            <a:r>
              <a:rPr lang="en-US" dirty="0" err="1"/>
              <a:t>nào</a:t>
            </a:r>
            <a:r>
              <a:rPr lang="en-US" dirty="0"/>
              <a:t>?</a:t>
            </a:r>
          </a:p>
          <a:p>
            <a:pPr>
              <a:buNone/>
            </a:pPr>
            <a:r>
              <a:rPr lang="en-US" dirty="0"/>
              <a:t>2/ </a:t>
            </a:r>
            <a:r>
              <a:rPr lang="en-US" dirty="0" err="1"/>
              <a:t>Có</a:t>
            </a:r>
            <a:r>
              <a:rPr lang="en-US" dirty="0"/>
              <a:t> </a:t>
            </a:r>
            <a:r>
              <a:rPr lang="en-US" dirty="0" err="1"/>
              <a:t>nên</a:t>
            </a:r>
            <a:r>
              <a:rPr lang="en-US" dirty="0"/>
              <a:t> </a:t>
            </a:r>
            <a:r>
              <a:rPr lang="en-US" dirty="0" err="1"/>
              <a:t>đặt</a:t>
            </a:r>
            <a:r>
              <a:rPr lang="en-US" dirty="0"/>
              <a:t> </a:t>
            </a:r>
            <a:r>
              <a:rPr lang="en-US" dirty="0" err="1"/>
              <a:t>tên</a:t>
            </a:r>
            <a:r>
              <a:rPr lang="en-US" dirty="0"/>
              <a:t> </a:t>
            </a:r>
            <a:r>
              <a:rPr lang="en-US" dirty="0" err="1"/>
              <a:t>nhãn</a:t>
            </a:r>
            <a:r>
              <a:rPr lang="en-US" dirty="0"/>
              <a:t> </a:t>
            </a:r>
            <a:r>
              <a:rPr lang="en-US" dirty="0" err="1"/>
              <a:t>hiệu</a:t>
            </a:r>
            <a:r>
              <a:rPr lang="en-US" dirty="0"/>
              <a:t> </a:t>
            </a:r>
            <a:r>
              <a:rPr lang="en-US" dirty="0" err="1"/>
              <a:t>không</a:t>
            </a:r>
            <a:r>
              <a:rPr lang="en-US" dirty="0"/>
              <a:t>? </a:t>
            </a:r>
            <a:r>
              <a:rPr lang="en-US" dirty="0" err="1"/>
              <a:t>Lợi</a:t>
            </a:r>
            <a:r>
              <a:rPr lang="en-US" dirty="0"/>
              <a:t> </a:t>
            </a:r>
            <a:r>
              <a:rPr lang="en-US" dirty="0" err="1"/>
              <a:t>ích</a:t>
            </a:r>
            <a:r>
              <a:rPr lang="en-US" dirty="0"/>
              <a:t> </a:t>
            </a:r>
            <a:r>
              <a:rPr lang="en-US" dirty="0" err="1"/>
              <a:t>của</a:t>
            </a:r>
            <a:r>
              <a:rPr lang="en-US" dirty="0"/>
              <a:t> </a:t>
            </a:r>
            <a:r>
              <a:rPr lang="en-US" dirty="0" err="1"/>
              <a:t>việc</a:t>
            </a:r>
            <a:r>
              <a:rPr lang="en-US" dirty="0"/>
              <a:t> </a:t>
            </a:r>
            <a:r>
              <a:rPr lang="en-US" dirty="0" err="1"/>
              <a:t>đặt</a:t>
            </a:r>
            <a:r>
              <a:rPr lang="en-US" dirty="0"/>
              <a:t> </a:t>
            </a:r>
            <a:r>
              <a:rPr lang="en-US" dirty="0" err="1"/>
              <a:t>tên</a:t>
            </a:r>
            <a:r>
              <a:rPr lang="en-US" dirty="0"/>
              <a:t> </a:t>
            </a:r>
            <a:r>
              <a:rPr lang="en-US" dirty="0" err="1"/>
              <a:t>nhãn</a:t>
            </a:r>
            <a:r>
              <a:rPr lang="en-US" dirty="0"/>
              <a:t> </a:t>
            </a:r>
            <a:r>
              <a:rPr lang="en-US" dirty="0" err="1"/>
              <a:t>hiệu</a:t>
            </a:r>
            <a:r>
              <a:rPr lang="en-US" dirty="0"/>
              <a:t>?</a:t>
            </a:r>
          </a:p>
          <a:p>
            <a:pPr>
              <a:buNone/>
            </a:pPr>
            <a:r>
              <a:rPr lang="en-US" dirty="0"/>
              <a:t>3/ Ai </a:t>
            </a:r>
            <a:r>
              <a:rPr lang="en-US" dirty="0" err="1"/>
              <a:t>đặt</a:t>
            </a:r>
            <a:r>
              <a:rPr lang="en-US" dirty="0"/>
              <a:t> </a:t>
            </a:r>
            <a:r>
              <a:rPr lang="en-US" dirty="0" err="1"/>
              <a:t>tên</a:t>
            </a:r>
            <a:r>
              <a:rPr lang="en-US" dirty="0"/>
              <a:t> </a:t>
            </a:r>
            <a:r>
              <a:rPr lang="en-US" dirty="0" err="1"/>
              <a:t>nhãn</a:t>
            </a:r>
            <a:r>
              <a:rPr lang="en-US" dirty="0"/>
              <a:t> </a:t>
            </a:r>
            <a:r>
              <a:rPr lang="en-US" dirty="0" err="1"/>
              <a:t>hiệu</a:t>
            </a:r>
            <a:r>
              <a:rPr lang="en-US" dirty="0"/>
              <a:t> ? </a:t>
            </a:r>
            <a:r>
              <a:rPr lang="en-US" dirty="0" err="1"/>
              <a:t>Nên</a:t>
            </a:r>
            <a:r>
              <a:rPr lang="en-US" dirty="0"/>
              <a:t> </a:t>
            </a:r>
            <a:r>
              <a:rPr lang="en-US" dirty="0" err="1"/>
              <a:t>đặt</a:t>
            </a:r>
            <a:r>
              <a:rPr lang="en-US" dirty="0"/>
              <a:t> </a:t>
            </a:r>
            <a:r>
              <a:rPr lang="en-US" dirty="0" err="1"/>
              <a:t>tên</a:t>
            </a:r>
            <a:r>
              <a:rPr lang="en-US" dirty="0"/>
              <a:t> </a:t>
            </a:r>
            <a:r>
              <a:rPr lang="en-US" dirty="0" err="1"/>
              <a:t>chung</a:t>
            </a:r>
            <a:r>
              <a:rPr lang="en-US" dirty="0"/>
              <a:t> hay </a:t>
            </a:r>
            <a:r>
              <a:rPr lang="en-US" dirty="0" err="1"/>
              <a:t>tên</a:t>
            </a:r>
            <a:r>
              <a:rPr lang="en-US" dirty="0"/>
              <a:t> </a:t>
            </a:r>
            <a:r>
              <a:rPr lang="en-US" dirty="0" err="1"/>
              <a:t>riêng</a:t>
            </a:r>
            <a:r>
              <a:rPr lang="en-US" dirty="0"/>
              <a:t>?</a:t>
            </a:r>
          </a:p>
          <a:p>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21253E-E3F6-4A7F-BECA-EDBB766C8ECF}"/>
              </a:ext>
            </a:extLst>
          </p:cNvPr>
          <p:cNvSpPr>
            <a:spLocks noGrp="1"/>
          </p:cNvSpPr>
          <p:nvPr>
            <p:ph idx="1"/>
          </p:nvPr>
        </p:nvSpPr>
        <p:spPr>
          <a:xfrm>
            <a:off x="609599" y="2209800"/>
            <a:ext cx="6347714" cy="3880773"/>
          </a:xfrm>
        </p:spPr>
        <p:txBody>
          <a:bodyPr/>
          <a:lstStyle/>
          <a:p>
            <a:r>
              <a:rPr lang="en-US" b="1" dirty="0">
                <a:solidFill>
                  <a:srgbClr val="FF0000"/>
                </a:solidFill>
                <a:latin typeface="Times New Roman" panose="02020603050405020304" pitchFamily="18" charset="0"/>
                <a:cs typeface="Times New Roman" panose="02020603050405020304" pitchFamily="18" charset="0"/>
              </a:rPr>
              <a:t>HÃY PHÂN BIỆT HÀNG HÓA VÀ DỊCH VỤ</a:t>
            </a:r>
          </a:p>
          <a:p>
            <a:endParaRPr lang="en-US"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017B3597-B0C0-440C-847B-F86779845706}"/>
              </a:ext>
            </a:extLst>
          </p:cNvPr>
          <p:cNvGraphicFramePr>
            <a:graphicFrameLocks noGrp="1"/>
          </p:cNvGraphicFramePr>
          <p:nvPr>
            <p:extLst>
              <p:ext uri="{D42A27DB-BD31-4B8C-83A1-F6EECF244321}">
                <p14:modId xmlns:p14="http://schemas.microsoft.com/office/powerpoint/2010/main" val="3759832298"/>
              </p:ext>
            </p:extLst>
          </p:nvPr>
        </p:nvGraphicFramePr>
        <p:xfrm>
          <a:off x="743425" y="767427"/>
          <a:ext cx="7790976" cy="5602549"/>
        </p:xfrm>
        <a:graphic>
          <a:graphicData uri="http://schemas.openxmlformats.org/drawingml/2006/table">
            <a:tbl>
              <a:tblPr firstRow="1" firstCol="1" bandRow="1">
                <a:tableStyleId>{5C22544A-7EE6-4342-B048-85BDC9FD1C3A}</a:tableStyleId>
              </a:tblPr>
              <a:tblGrid>
                <a:gridCol w="3895488">
                  <a:extLst>
                    <a:ext uri="{9D8B030D-6E8A-4147-A177-3AD203B41FA5}">
                      <a16:colId xmlns:a16="http://schemas.microsoft.com/office/drawing/2014/main" val="828793883"/>
                    </a:ext>
                  </a:extLst>
                </a:gridCol>
                <a:gridCol w="3895488">
                  <a:extLst>
                    <a:ext uri="{9D8B030D-6E8A-4147-A177-3AD203B41FA5}">
                      <a16:colId xmlns:a16="http://schemas.microsoft.com/office/drawing/2014/main" val="2673660730"/>
                    </a:ext>
                  </a:extLst>
                </a:gridCol>
              </a:tblGrid>
              <a:tr h="821059">
                <a:tc>
                  <a:txBody>
                    <a:bodyPr/>
                    <a:lstStyle/>
                    <a:p>
                      <a:pPr marL="0" marR="0" algn="just" fontAlgn="base">
                        <a:lnSpc>
                          <a:spcPct val="150000"/>
                        </a:lnSpc>
                        <a:spcBef>
                          <a:spcPts val="600"/>
                        </a:spcBef>
                        <a:spcAft>
                          <a:spcPts val="1000"/>
                        </a:spcAft>
                      </a:pPr>
                      <a:r>
                        <a:rPr lang="it-IT" sz="2400" dirty="0">
                          <a:effectLst/>
                        </a:rPr>
                        <a:t>Hàng hoá</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fontAlgn="base">
                        <a:lnSpc>
                          <a:spcPct val="150000"/>
                        </a:lnSpc>
                        <a:spcBef>
                          <a:spcPts val="600"/>
                        </a:spcBef>
                        <a:spcAft>
                          <a:spcPts val="1000"/>
                        </a:spcAft>
                      </a:pPr>
                      <a:r>
                        <a:rPr lang="it-IT" sz="2400" dirty="0">
                          <a:effectLst/>
                        </a:rPr>
                        <a:t>Dịch vụ</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04518197"/>
                  </a:ext>
                </a:extLst>
              </a:tr>
              <a:tr h="965918">
                <a:tc>
                  <a:txBody>
                    <a:bodyPr/>
                    <a:lstStyle/>
                    <a:p>
                      <a:pPr marL="0" marR="0" algn="just" fontAlgn="base">
                        <a:lnSpc>
                          <a:spcPct val="150000"/>
                        </a:lnSpc>
                        <a:spcBef>
                          <a:spcPts val="600"/>
                        </a:spcBef>
                        <a:spcAft>
                          <a:spcPts val="1000"/>
                        </a:spcAft>
                      </a:pPr>
                      <a:r>
                        <a:rPr lang="it-IT" sz="2400">
                          <a:effectLst/>
                        </a:rPr>
                        <a:t>Hữu hình</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fontAlgn="base">
                        <a:lnSpc>
                          <a:spcPct val="150000"/>
                        </a:lnSpc>
                        <a:spcBef>
                          <a:spcPts val="600"/>
                        </a:spcBef>
                        <a:spcAft>
                          <a:spcPts val="1000"/>
                        </a:spcAft>
                      </a:pPr>
                      <a:r>
                        <a:rPr lang="it-IT" sz="2400">
                          <a:effectLst/>
                        </a:rPr>
                        <a:t>Vô hình</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29248034"/>
                  </a:ext>
                </a:extLst>
              </a:tr>
              <a:tr h="965918">
                <a:tc>
                  <a:txBody>
                    <a:bodyPr/>
                    <a:lstStyle/>
                    <a:p>
                      <a:pPr marL="0" marR="0" algn="just" fontAlgn="base">
                        <a:lnSpc>
                          <a:spcPct val="150000"/>
                        </a:lnSpc>
                        <a:spcBef>
                          <a:spcPts val="600"/>
                        </a:spcBef>
                        <a:spcAft>
                          <a:spcPts val="1000"/>
                        </a:spcAft>
                      </a:pPr>
                      <a:r>
                        <a:rPr lang="it-IT" sz="2400">
                          <a:effectLst/>
                        </a:rPr>
                        <a:t>Tiêu chuẩn hoá</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fontAlgn="base">
                        <a:lnSpc>
                          <a:spcPct val="150000"/>
                        </a:lnSpc>
                        <a:spcBef>
                          <a:spcPts val="600"/>
                        </a:spcBef>
                        <a:spcAft>
                          <a:spcPts val="1000"/>
                        </a:spcAft>
                      </a:pPr>
                      <a:r>
                        <a:rPr lang="it-IT" sz="2400">
                          <a:effectLst/>
                        </a:rPr>
                        <a:t>Phân tán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09469307"/>
                  </a:ext>
                </a:extLst>
              </a:tr>
              <a:tr h="2849654">
                <a:tc>
                  <a:txBody>
                    <a:bodyPr/>
                    <a:lstStyle/>
                    <a:p>
                      <a:pPr marL="0" marR="0" algn="just" fontAlgn="base">
                        <a:lnSpc>
                          <a:spcPct val="150000"/>
                        </a:lnSpc>
                        <a:spcBef>
                          <a:spcPts val="600"/>
                        </a:spcBef>
                        <a:spcAft>
                          <a:spcPts val="1000"/>
                        </a:spcAft>
                      </a:pPr>
                      <a:r>
                        <a:rPr lang="it-IT" sz="2400" dirty="0">
                          <a:effectLst/>
                        </a:rPr>
                        <a:t>Sản xuất tách rời tiêu dùng</a:t>
                      </a:r>
                    </a:p>
                    <a:p>
                      <a:pPr marL="0" marR="0" algn="just" fontAlgn="base">
                        <a:lnSpc>
                          <a:spcPct val="150000"/>
                        </a:lnSpc>
                        <a:spcBef>
                          <a:spcPts val="600"/>
                        </a:spcBef>
                        <a:spcAft>
                          <a:spcPts val="1000"/>
                        </a:spcAft>
                      </a:pPr>
                      <a:r>
                        <a:rPr lang="it-IT" sz="2400" dirty="0">
                          <a:effectLst/>
                        </a:rPr>
                        <a:t>DỄ HƯ HỎNG</a:t>
                      </a:r>
                      <a:endParaRPr lang="en-US" sz="2400" dirty="0">
                        <a:effectLst/>
                      </a:endParaRPr>
                    </a:p>
                  </a:txBody>
                  <a:tcPr marL="68580" marR="68580" marT="0" marB="0"/>
                </a:tc>
                <a:tc>
                  <a:txBody>
                    <a:bodyPr/>
                    <a:lstStyle/>
                    <a:p>
                      <a:pPr marL="0" marR="0" algn="just" fontAlgn="base">
                        <a:lnSpc>
                          <a:spcPct val="150000"/>
                        </a:lnSpc>
                        <a:spcBef>
                          <a:spcPts val="600"/>
                        </a:spcBef>
                        <a:spcAft>
                          <a:spcPts val="1000"/>
                        </a:spcAft>
                      </a:pPr>
                      <a:r>
                        <a:rPr lang="it-IT" sz="2400" dirty="0">
                          <a:effectLst/>
                        </a:rPr>
                        <a:t>đồng thời</a:t>
                      </a:r>
                      <a:endParaRPr lang="en-US" sz="2400" dirty="0">
                        <a:effectLst/>
                      </a:endParaRPr>
                    </a:p>
                    <a:p>
                      <a:pPr marL="0" marR="0" lvl="0" indent="0" algn="just" defTabSz="457200" rtl="0" eaLnBrk="1" fontAlgn="base" latinLnBrk="0" hangingPunct="1">
                        <a:lnSpc>
                          <a:spcPct val="150000"/>
                        </a:lnSpc>
                        <a:spcBef>
                          <a:spcPts val="600"/>
                        </a:spcBef>
                        <a:spcAft>
                          <a:spcPts val="1000"/>
                        </a:spcAft>
                        <a:buClrTx/>
                        <a:buSzTx/>
                        <a:buFontTx/>
                        <a:buNone/>
                        <a:tabLst/>
                        <a:defRPr/>
                      </a:pPr>
                      <a:endParaRPr lang="it-IT" sz="2400" dirty="0">
                        <a:effectLst/>
                      </a:endParaRPr>
                    </a:p>
                    <a:p>
                      <a:pPr marL="0" marR="0" lvl="0" indent="0" algn="just" defTabSz="457200" rtl="0" eaLnBrk="1" fontAlgn="base" latinLnBrk="0" hangingPunct="1">
                        <a:lnSpc>
                          <a:spcPct val="150000"/>
                        </a:lnSpc>
                        <a:spcBef>
                          <a:spcPts val="600"/>
                        </a:spcBef>
                        <a:spcAft>
                          <a:spcPts val="1000"/>
                        </a:spcAft>
                        <a:buClrTx/>
                        <a:buSzTx/>
                        <a:buFontTx/>
                        <a:buNone/>
                        <a:tabLst/>
                        <a:defRPr/>
                      </a:pPr>
                      <a:r>
                        <a:rPr lang="it-IT" sz="2400" dirty="0">
                          <a:effectLst/>
                        </a:rPr>
                        <a:t>Không hỏng</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fontAlgn="base">
                        <a:lnSpc>
                          <a:spcPct val="150000"/>
                        </a:lnSpc>
                        <a:spcBef>
                          <a:spcPts val="600"/>
                        </a:spcBef>
                        <a:spcAft>
                          <a:spcPts val="10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40612937"/>
                  </a:ext>
                </a:extLst>
              </a:tr>
            </a:tbl>
          </a:graphicData>
        </a:graphic>
      </p:graphicFrame>
    </p:spTree>
    <p:extLst>
      <p:ext uri="{BB962C8B-B14F-4D97-AF65-F5344CB8AC3E}">
        <p14:creationId xmlns:p14="http://schemas.microsoft.com/office/powerpoint/2010/main" val="42448056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B438F-4005-4875-BB74-D273036DAB5E}"/>
              </a:ext>
            </a:extLst>
          </p:cNvPr>
          <p:cNvSpPr>
            <a:spLocks noGrp="1"/>
          </p:cNvSpPr>
          <p:nvPr>
            <p:ph type="title"/>
          </p:nvPr>
        </p:nvSpPr>
        <p:spPr>
          <a:xfrm>
            <a:off x="609600" y="228600"/>
            <a:ext cx="6347714" cy="838200"/>
          </a:xfrm>
        </p:spPr>
        <p:txBody>
          <a:bodyPr/>
          <a:lstStyle/>
          <a:p>
            <a:r>
              <a:rPr lang="en-US" dirty="0">
                <a:solidFill>
                  <a:srgbClr val="FF0000"/>
                </a:solidFill>
                <a:latin typeface="Times New Roman" panose="02020603050405020304" pitchFamily="18" charset="0"/>
                <a:cs typeface="Times New Roman" panose="02020603050405020304" pitchFamily="18" charset="0"/>
              </a:rPr>
              <a:t>MÔI TRƯỜNG MARKETING</a:t>
            </a:r>
          </a:p>
        </p:txBody>
      </p:sp>
      <p:sp>
        <p:nvSpPr>
          <p:cNvPr id="3" name="Content Placeholder 2">
            <a:extLst>
              <a:ext uri="{FF2B5EF4-FFF2-40B4-BE49-F238E27FC236}">
                <a16:creationId xmlns:a16="http://schemas.microsoft.com/office/drawing/2014/main" id="{12BFF784-2D71-4F37-B571-62AED20B4A49}"/>
              </a:ext>
            </a:extLst>
          </p:cNvPr>
          <p:cNvSpPr>
            <a:spLocks noGrp="1"/>
          </p:cNvSpPr>
          <p:nvPr>
            <p:ph idx="1"/>
          </p:nvPr>
        </p:nvSpPr>
        <p:spPr>
          <a:xfrm>
            <a:off x="609598" y="1066800"/>
            <a:ext cx="6934201" cy="4974563"/>
          </a:xfrm>
        </p:spPr>
        <p:txBody>
          <a:bodyPr>
            <a:noAutofit/>
          </a:bodyPr>
          <a:lstStyle/>
          <a:p>
            <a:r>
              <a:rPr lang="en-US" sz="2800" b="1" dirty="0" err="1">
                <a:latin typeface="Times New Roman" panose="02020603050405020304" pitchFamily="18" charset="0"/>
                <a:cs typeface="Times New Roman" panose="02020603050405020304" pitchFamily="18" charset="0"/>
              </a:rPr>
              <a:t>Giống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nhau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đều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tập</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hợp</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những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yếu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tố</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có</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tác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động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ảnh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hưởng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đến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hoạt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động</a:t>
            </a:r>
            <a:r>
              <a:rPr lang="en-US" sz="2800" b="1" dirty="0">
                <a:latin typeface="Times New Roman" panose="02020603050405020304" pitchFamily="18" charset="0"/>
                <a:cs typeface="Times New Roman" panose="02020603050405020304" pitchFamily="18" charset="0"/>
              </a:rPr>
              <a:t> Mar </a:t>
            </a:r>
            <a:r>
              <a:rPr lang="en-US" sz="2800" b="1" dirty="0" err="1">
                <a:latin typeface="Times New Roman" panose="02020603050405020304" pitchFamily="18" charset="0"/>
                <a:cs typeface="Times New Roman" panose="02020603050405020304" pitchFamily="18" charset="0"/>
              </a:rPr>
              <a:t>và</a:t>
            </a:r>
            <a:r>
              <a:rPr lang="en-US" sz="2800" b="1" dirty="0">
                <a:latin typeface="Times New Roman" panose="02020603050405020304" pitchFamily="18" charset="0"/>
                <a:cs typeface="Times New Roman" panose="02020603050405020304" pitchFamily="18" charset="0"/>
              </a:rPr>
              <a:t> HĐKD </a:t>
            </a:r>
            <a:r>
              <a:rPr lang="en-US" sz="2800" b="1" dirty="0" err="1">
                <a:latin typeface="Times New Roman" panose="02020603050405020304" pitchFamily="18" charset="0"/>
                <a:cs typeface="Times New Roman" panose="02020603050405020304" pitchFamily="18" charset="0"/>
              </a:rPr>
              <a:t>của</a:t>
            </a:r>
            <a:r>
              <a:rPr lang="en-US" sz="2800" b="1" dirty="0">
                <a:latin typeface="Times New Roman" panose="02020603050405020304" pitchFamily="18" charset="0"/>
                <a:cs typeface="Times New Roman" panose="02020603050405020304" pitchFamily="18" charset="0"/>
              </a:rPr>
              <a:t> DN</a:t>
            </a:r>
          </a:p>
          <a:p>
            <a:r>
              <a:rPr lang="en-US" sz="2800" b="1" dirty="0">
                <a:latin typeface="Times New Roman" panose="02020603050405020304" pitchFamily="18" charset="0"/>
                <a:cs typeface="Times New Roman" panose="02020603050405020304" pitchFamily="18" charset="0"/>
              </a:rPr>
              <a:t>MT vi </a:t>
            </a:r>
            <a:r>
              <a:rPr lang="en-US" sz="2800" b="1" dirty="0" err="1">
                <a:latin typeface="Times New Roman" panose="02020603050405020304" pitchFamily="18" charset="0"/>
                <a:cs typeface="Times New Roman" panose="02020603050405020304" pitchFamily="18" charset="0"/>
              </a:rPr>
              <a:t>mô</a:t>
            </a:r>
            <a:r>
              <a:rPr lang="en-US" sz="2800" b="1" dirty="0">
                <a:latin typeface="Times New Roman" panose="02020603050405020304" pitchFamily="18" charset="0"/>
                <a:cs typeface="Times New Roman" panose="02020603050405020304" pitchFamily="18" charset="0"/>
              </a:rPr>
              <a:t>-&gt; </a:t>
            </a:r>
            <a:r>
              <a:rPr lang="en-US" sz="2800" b="1" dirty="0" err="1">
                <a:latin typeface="Times New Roman" panose="02020603050405020304" pitchFamily="18" charset="0"/>
                <a:cs typeface="Times New Roman" panose="02020603050405020304" pitchFamily="18" charset="0"/>
              </a:rPr>
              <a:t>trực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tiếp</a:t>
            </a:r>
            <a:r>
              <a:rPr lang="en-US" sz="2800" b="1" dirty="0">
                <a:latin typeface="Times New Roman" panose="02020603050405020304" pitchFamily="18" charset="0"/>
                <a:cs typeface="Times New Roman" panose="02020603050405020304" pitchFamily="18" charset="0"/>
              </a:rPr>
              <a:t>-&gt; DN </a:t>
            </a:r>
            <a:r>
              <a:rPr lang="en-US" sz="2800" b="1" dirty="0" err="1">
                <a:latin typeface="Times New Roman" panose="02020603050405020304" pitchFamily="18" charset="0"/>
                <a:cs typeface="Times New Roman" panose="02020603050405020304" pitchFamily="18" charset="0"/>
              </a:rPr>
              <a:t>có</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knang</a:t>
            </a:r>
            <a:r>
              <a:rPr lang="en-US" sz="2800" b="1" dirty="0">
                <a:latin typeface="Times New Roman" panose="02020603050405020304" pitchFamily="18" charset="0"/>
                <a:cs typeface="Times New Roman" panose="02020603050405020304" pitchFamily="18" charset="0"/>
              </a:rPr>
              <a:t> Control</a:t>
            </a:r>
          </a:p>
          <a:p>
            <a:r>
              <a:rPr lang="en-US" sz="2800" b="1" dirty="0">
                <a:latin typeface="Times New Roman" panose="02020603050405020304" pitchFamily="18" charset="0"/>
                <a:cs typeface="Times New Roman" panose="02020603050405020304" pitchFamily="18" charset="0"/>
              </a:rPr>
              <a:t>Mt </a:t>
            </a:r>
            <a:r>
              <a:rPr lang="en-US" sz="2800" b="1" dirty="0" err="1">
                <a:latin typeface="Times New Roman" panose="02020603050405020304" pitchFamily="18" charset="0"/>
                <a:cs typeface="Times New Roman" panose="02020603050405020304" pitchFamily="18" charset="0"/>
              </a:rPr>
              <a:t>vĩ</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mô</a:t>
            </a:r>
            <a:r>
              <a:rPr lang="en-US" sz="2800" b="1" dirty="0">
                <a:latin typeface="Times New Roman" panose="02020603050405020304" pitchFamily="18" charset="0"/>
                <a:cs typeface="Times New Roman" panose="02020603050405020304" pitchFamily="18" charset="0"/>
              </a:rPr>
              <a:t>-&gt; </a:t>
            </a:r>
            <a:r>
              <a:rPr lang="en-US" sz="2800" b="1" dirty="0" err="1">
                <a:latin typeface="Times New Roman" panose="02020603050405020304" pitchFamily="18" charset="0"/>
                <a:cs typeface="Times New Roman" panose="02020603050405020304" pitchFamily="18" charset="0"/>
              </a:rPr>
              <a:t>gián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tiếp</a:t>
            </a:r>
            <a:r>
              <a:rPr lang="en-US" sz="2800" b="1" dirty="0">
                <a:latin typeface="Times New Roman" panose="02020603050405020304" pitchFamily="18" charset="0"/>
                <a:cs typeface="Times New Roman" panose="02020603050405020304" pitchFamily="18" charset="0"/>
              </a:rPr>
              <a:t>-&gt; DN k </a:t>
            </a:r>
            <a:r>
              <a:rPr lang="en-US" sz="2800" b="1" dirty="0" err="1">
                <a:latin typeface="Times New Roman" panose="02020603050405020304" pitchFamily="18" charset="0"/>
                <a:cs typeface="Times New Roman" panose="02020603050405020304" pitchFamily="18" charset="0"/>
              </a:rPr>
              <a:t>thể</a:t>
            </a:r>
            <a:r>
              <a:rPr lang="en-US" sz="2800" b="1" dirty="0">
                <a:latin typeface="Times New Roman" panose="02020603050405020304" pitchFamily="18" charset="0"/>
                <a:cs typeface="Times New Roman" panose="02020603050405020304" pitchFamily="18" charset="0"/>
              </a:rPr>
              <a:t> control</a:t>
            </a:r>
          </a:p>
          <a:p>
            <a:pPr marL="0" indent="0">
              <a:buNone/>
            </a:pPr>
            <a:r>
              <a:rPr lang="en-US" sz="2800" b="1" dirty="0">
                <a:highlight>
                  <a:srgbClr val="FFFF00"/>
                </a:highlight>
                <a:latin typeface="Times New Roman" panose="02020603050405020304" pitchFamily="18" charset="0"/>
                <a:cs typeface="Times New Roman" panose="02020603050405020304" pitchFamily="18" charset="0"/>
              </a:rPr>
              <a:t>TẠI SAO DN PHẢI HIỂU RÕ CÁC YẾU TỐ MT MARKETING? BẠN HÃY ĐÁNH GIÁ YẾU TỐ MT (A) ẢNH HƯỞNG ĐẾN HOẠT ĐỘNG MARKETING CỦA DN</a:t>
            </a:r>
          </a:p>
        </p:txBody>
      </p:sp>
    </p:spTree>
    <p:extLst>
      <p:ext uri="{BB962C8B-B14F-4D97-AF65-F5344CB8AC3E}">
        <p14:creationId xmlns:p14="http://schemas.microsoft.com/office/powerpoint/2010/main" val="28090916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7CB59-C32B-4E8E-9F08-57B1F967F614}"/>
              </a:ext>
            </a:extLst>
          </p:cNvPr>
          <p:cNvSpPr>
            <a:spLocks noGrp="1"/>
          </p:cNvSpPr>
          <p:nvPr>
            <p:ph type="title"/>
          </p:nvPr>
        </p:nvSpPr>
        <p:spPr/>
        <p:txBody>
          <a:bodyPr/>
          <a:lstStyle/>
          <a:p>
            <a:r>
              <a:rPr lang="en-US" b="1" dirty="0">
                <a:solidFill>
                  <a:srgbClr val="FF0000"/>
                </a:solidFill>
                <a:highlight>
                  <a:srgbClr val="FFFF00"/>
                </a:highlight>
              </a:rPr>
              <a:t>HÀNH VI MUA CỦA KHÁCH HÀNG</a:t>
            </a:r>
          </a:p>
        </p:txBody>
      </p:sp>
      <p:sp>
        <p:nvSpPr>
          <p:cNvPr id="3" name="Content Placeholder 2">
            <a:extLst>
              <a:ext uri="{FF2B5EF4-FFF2-40B4-BE49-F238E27FC236}">
                <a16:creationId xmlns:a16="http://schemas.microsoft.com/office/drawing/2014/main" id="{DA2FED3C-A7C4-4B6E-97F7-B7D67C749D93}"/>
              </a:ext>
            </a:extLst>
          </p:cNvPr>
          <p:cNvSpPr>
            <a:spLocks noGrp="1"/>
          </p:cNvSpPr>
          <p:nvPr>
            <p:ph idx="1"/>
          </p:nvPr>
        </p:nvSpPr>
        <p:spPr/>
        <p:txBody>
          <a:bodyPr>
            <a:normAutofit lnSpcReduction="10000"/>
          </a:bodyPr>
          <a:lstStyle/>
          <a:p>
            <a:r>
              <a:rPr lang="en-US" sz="2800" b="1" dirty="0">
                <a:latin typeface="Times New Roman" panose="02020603050405020304" pitchFamily="18" charset="0"/>
                <a:cs typeface="Times New Roman" panose="02020603050405020304" pitchFamily="18" charset="0"/>
              </a:rPr>
              <a:t>-&gt; </a:t>
            </a:r>
            <a:r>
              <a:rPr lang="en-US" sz="2800" b="1" dirty="0" err="1">
                <a:latin typeface="Times New Roman" panose="02020603050405020304" pitchFamily="18" charset="0"/>
                <a:cs typeface="Times New Roman" panose="02020603050405020304" pitchFamily="18" charset="0"/>
              </a:rPr>
              <a:t>Khách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hàng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cá</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nhân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có</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phản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ứng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như</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thế</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nào</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đối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với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loại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hàng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hóa</a:t>
            </a:r>
            <a:r>
              <a:rPr lang="en-US" sz="2800" b="1" dirty="0">
                <a:latin typeface="Times New Roman" panose="02020603050405020304" pitchFamily="18" charset="0"/>
                <a:cs typeface="Times New Roman" panose="02020603050405020304" pitchFamily="18" charset="0"/>
              </a:rPr>
              <a:t>:</a:t>
            </a:r>
          </a:p>
          <a:p>
            <a:r>
              <a:rPr lang="en-US" sz="2800" b="1" dirty="0" err="1">
                <a:latin typeface="Times New Roman" panose="02020603050405020304" pitchFamily="18" charset="0"/>
                <a:cs typeface="Times New Roman" panose="02020603050405020304" pitchFamily="18" charset="0"/>
              </a:rPr>
              <a:t>Hàng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hóa</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thông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thường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có</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giá</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cả</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phải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chăng</a:t>
            </a:r>
            <a:r>
              <a:rPr lang="en-US" sz="2800" b="1" dirty="0">
                <a:latin typeface="Times New Roman" panose="02020603050405020304" pitchFamily="18" charset="0"/>
                <a:cs typeface="Times New Roman" panose="02020603050405020304" pitchFamily="18" charset="0"/>
              </a:rPr>
              <a:t>-&gt; </a:t>
            </a:r>
            <a:r>
              <a:rPr lang="en-US" sz="2800" b="1" dirty="0" err="1">
                <a:latin typeface="Times New Roman" panose="02020603050405020304" pitchFamily="18" charset="0"/>
                <a:cs typeface="Times New Roman" panose="02020603050405020304" pitchFamily="18" charset="0"/>
              </a:rPr>
              <a:t>Hành</a:t>
            </a:r>
            <a:r>
              <a:rPr lang="en-US" sz="2800" b="1" dirty="0">
                <a:latin typeface="Times New Roman" panose="02020603050405020304" pitchFamily="18" charset="0"/>
                <a:cs typeface="Times New Roman" panose="02020603050405020304" pitchFamily="18" charset="0"/>
              </a:rPr>
              <a:t> vi ra </a:t>
            </a:r>
            <a:r>
              <a:rPr lang="en-US" sz="2800" b="1" dirty="0" err="1">
                <a:latin typeface="Times New Roman" panose="02020603050405020304" pitchFamily="18" charset="0"/>
                <a:cs typeface="Times New Roman" panose="02020603050405020304" pitchFamily="18" charset="0"/>
              </a:rPr>
              <a:t>sao</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Khách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hàng</a:t>
            </a:r>
            <a:r>
              <a:rPr lang="en-US" sz="2800" b="1" dirty="0">
                <a:latin typeface="Times New Roman" panose="02020603050405020304" pitchFamily="18" charset="0"/>
                <a:cs typeface="Times New Roman" panose="02020603050405020304" pitchFamily="18" charset="0"/>
              </a:rPr>
              <a:t>/DN)</a:t>
            </a:r>
          </a:p>
          <a:p>
            <a:endParaRPr lang="en-US" sz="2800" b="1" dirty="0">
              <a:latin typeface="Times New Roman" panose="02020603050405020304" pitchFamily="18" charset="0"/>
              <a:cs typeface="Times New Roman" panose="02020603050405020304" pitchFamily="18" charset="0"/>
            </a:endParaRPr>
          </a:p>
          <a:p>
            <a:r>
              <a:rPr lang="en-US" sz="2800" b="1" dirty="0" err="1">
                <a:latin typeface="Times New Roman" panose="02020603050405020304" pitchFamily="18" charset="0"/>
                <a:cs typeface="Times New Roman" panose="02020603050405020304" pitchFamily="18" charset="0"/>
              </a:rPr>
              <a:t>Hàng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hóa</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đắt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tiền</a:t>
            </a:r>
            <a:r>
              <a:rPr lang="en-US" sz="2800" b="1" dirty="0">
                <a:latin typeface="Times New Roman" panose="02020603050405020304" pitchFamily="18" charset="0"/>
                <a:cs typeface="Times New Roman" panose="02020603050405020304" pitchFamily="18" charset="0"/>
              </a:rPr>
              <a:t>-&gt; </a:t>
            </a:r>
            <a:r>
              <a:rPr lang="en-US" sz="2800" b="1" dirty="0" err="1">
                <a:latin typeface="Times New Roman" panose="02020603050405020304" pitchFamily="18" charset="0"/>
                <a:cs typeface="Times New Roman" panose="02020603050405020304" pitchFamily="18" charset="0"/>
              </a:rPr>
              <a:t>Hành</a:t>
            </a:r>
            <a:r>
              <a:rPr lang="en-US" sz="2800" b="1" dirty="0">
                <a:latin typeface="Times New Roman" panose="02020603050405020304" pitchFamily="18" charset="0"/>
                <a:cs typeface="Times New Roman" panose="02020603050405020304" pitchFamily="18" charset="0"/>
              </a:rPr>
              <a:t> vi ra </a:t>
            </a:r>
            <a:r>
              <a:rPr lang="en-US" sz="2800" b="1" dirty="0" err="1">
                <a:latin typeface="Times New Roman" panose="02020603050405020304" pitchFamily="18" charset="0"/>
                <a:cs typeface="Times New Roman" panose="02020603050405020304" pitchFamily="18" charset="0"/>
              </a:rPr>
              <a:t>sao</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Khách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hàng</a:t>
            </a:r>
            <a:r>
              <a:rPr lang="en-US" sz="2800" b="1" dirty="0">
                <a:latin typeface="Times New Roman" panose="02020603050405020304" pitchFamily="18" charset="0"/>
                <a:cs typeface="Times New Roman" panose="02020603050405020304" pitchFamily="18" charset="0"/>
              </a:rPr>
              <a:t>/</a:t>
            </a:r>
            <a:r>
              <a:rPr lang="en-US" sz="2800" b="1" dirty="0" err="1">
                <a:latin typeface="Times New Roman" panose="02020603050405020304" pitchFamily="18" charset="0"/>
                <a:cs typeface="Times New Roman" panose="02020603050405020304" pitchFamily="18" charset="0"/>
              </a:rPr>
              <a:t>Doanh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nghiệp</a:t>
            </a:r>
            <a:r>
              <a:rPr lang="en-US" sz="2800" b="1" dirty="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180105812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2D680-648C-44EA-AE66-F3EE67C92FD1}"/>
              </a:ext>
            </a:extLst>
          </p:cNvPr>
          <p:cNvSpPr>
            <a:spLocks noGrp="1"/>
          </p:cNvSpPr>
          <p:nvPr>
            <p:ph type="title"/>
          </p:nvPr>
        </p:nvSpPr>
        <p:spPr/>
        <p:txBody>
          <a:bodyPr/>
          <a:lstStyle/>
          <a:p>
            <a:r>
              <a:rPr lang="en-US" b="1" dirty="0" err="1">
                <a:solidFill>
                  <a:srgbClr val="FF0000"/>
                </a:solidFill>
                <a:highlight>
                  <a:srgbClr val="FFFF00"/>
                </a:highlight>
                <a:latin typeface="Times New Roman" panose="02020603050405020304" pitchFamily="18" charset="0"/>
                <a:cs typeface="Times New Roman" panose="02020603050405020304" pitchFamily="18" charset="0"/>
              </a:rPr>
              <a:t>Kiến</a:t>
            </a:r>
            <a:r>
              <a:rPr lang="en-US" b="1" dirty="0">
                <a:solidFill>
                  <a:srgbClr val="FF0000"/>
                </a:solidFill>
                <a:highlight>
                  <a:srgbClr val="FFFF00"/>
                </a:highlight>
                <a:latin typeface="Times New Roman" panose="02020603050405020304" pitchFamily="18" charset="0"/>
                <a:cs typeface="Times New Roman" panose="02020603050405020304" pitchFamily="18" charset="0"/>
              </a:rPr>
              <a:t> </a:t>
            </a:r>
            <a:r>
              <a:rPr lang="en-US" b="1" dirty="0" err="1">
                <a:solidFill>
                  <a:srgbClr val="FF0000"/>
                </a:solidFill>
                <a:highlight>
                  <a:srgbClr val="FFFF00"/>
                </a:highlight>
                <a:latin typeface="Times New Roman" panose="02020603050405020304" pitchFamily="18" charset="0"/>
                <a:cs typeface="Times New Roman" panose="02020603050405020304" pitchFamily="18" charset="0"/>
              </a:rPr>
              <a:t>thức</a:t>
            </a:r>
            <a:r>
              <a:rPr lang="en-US" b="1" dirty="0">
                <a:solidFill>
                  <a:srgbClr val="FF0000"/>
                </a:solidFill>
                <a:highlight>
                  <a:srgbClr val="FFFF00"/>
                </a:highlight>
                <a:latin typeface="Times New Roman" panose="02020603050405020304" pitchFamily="18" charset="0"/>
                <a:cs typeface="Times New Roman" panose="02020603050405020304" pitchFamily="18" charset="0"/>
              </a:rPr>
              <a:t> </a:t>
            </a:r>
            <a:r>
              <a:rPr lang="en-US" b="1" dirty="0" err="1">
                <a:solidFill>
                  <a:srgbClr val="FF0000"/>
                </a:solidFill>
                <a:highlight>
                  <a:srgbClr val="FFFF00"/>
                </a:highlight>
                <a:latin typeface="Times New Roman" panose="02020603050405020304" pitchFamily="18" charset="0"/>
                <a:cs typeface="Times New Roman" panose="02020603050405020304" pitchFamily="18" charset="0"/>
              </a:rPr>
              <a:t>chương</a:t>
            </a:r>
            <a:r>
              <a:rPr lang="en-US" b="1" dirty="0">
                <a:solidFill>
                  <a:srgbClr val="FF0000"/>
                </a:solidFill>
                <a:highlight>
                  <a:srgbClr val="FFFF00"/>
                </a:highlight>
                <a:latin typeface="Times New Roman" panose="02020603050405020304" pitchFamily="18" charset="0"/>
                <a:cs typeface="Times New Roman" panose="02020603050405020304" pitchFamily="18" charset="0"/>
              </a:rPr>
              <a:t> 4</a:t>
            </a:r>
            <a:br>
              <a:rPr lang="en-US" b="1" dirty="0">
                <a:solidFill>
                  <a:srgbClr val="FF0000"/>
                </a:solidFill>
                <a:highlight>
                  <a:srgbClr val="FFFF00"/>
                </a:highlight>
                <a:latin typeface="Times New Roman" panose="02020603050405020304" pitchFamily="18" charset="0"/>
                <a:cs typeface="Times New Roman" panose="02020603050405020304" pitchFamily="18" charset="0"/>
              </a:rPr>
            </a:br>
            <a:r>
              <a:rPr lang="en-US" b="1" dirty="0" err="1">
                <a:solidFill>
                  <a:srgbClr val="FF0000"/>
                </a:solidFill>
                <a:highlight>
                  <a:srgbClr val="FFFF00"/>
                </a:highlight>
                <a:latin typeface="Times New Roman" panose="02020603050405020304" pitchFamily="18" charset="0"/>
                <a:cs typeface="Times New Roman" panose="02020603050405020304" pitchFamily="18" charset="0"/>
              </a:rPr>
              <a:t>Chính</a:t>
            </a:r>
            <a:r>
              <a:rPr lang="en-US" b="1" dirty="0">
                <a:solidFill>
                  <a:srgbClr val="FF0000"/>
                </a:solidFill>
                <a:highlight>
                  <a:srgbClr val="FFFF00"/>
                </a:highlight>
                <a:latin typeface="Times New Roman" panose="02020603050405020304" pitchFamily="18" charset="0"/>
                <a:cs typeface="Times New Roman" panose="02020603050405020304" pitchFamily="18" charset="0"/>
              </a:rPr>
              <a:t> </a:t>
            </a:r>
            <a:r>
              <a:rPr lang="en-US" b="1" dirty="0" err="1">
                <a:solidFill>
                  <a:srgbClr val="FF0000"/>
                </a:solidFill>
                <a:highlight>
                  <a:srgbClr val="FFFF00"/>
                </a:highlight>
                <a:latin typeface="Times New Roman" panose="02020603050405020304" pitchFamily="18" charset="0"/>
                <a:cs typeface="Times New Roman" panose="02020603050405020304" pitchFamily="18" charset="0"/>
              </a:rPr>
              <a:t>sách</a:t>
            </a:r>
            <a:r>
              <a:rPr lang="en-US" b="1" dirty="0">
                <a:solidFill>
                  <a:srgbClr val="FF0000"/>
                </a:solidFill>
                <a:highlight>
                  <a:srgbClr val="FFFF00"/>
                </a:highlight>
                <a:latin typeface="Times New Roman" panose="02020603050405020304" pitchFamily="18" charset="0"/>
                <a:cs typeface="Times New Roman" panose="02020603050405020304" pitchFamily="18" charset="0"/>
              </a:rPr>
              <a:t> </a:t>
            </a:r>
            <a:r>
              <a:rPr lang="en-US" b="1" dirty="0" err="1">
                <a:solidFill>
                  <a:srgbClr val="FF0000"/>
                </a:solidFill>
                <a:highlight>
                  <a:srgbClr val="FFFF00"/>
                </a:highlight>
                <a:latin typeface="Times New Roman" panose="02020603050405020304" pitchFamily="18" charset="0"/>
                <a:cs typeface="Times New Roman" panose="02020603050405020304" pitchFamily="18" charset="0"/>
              </a:rPr>
              <a:t>sản</a:t>
            </a:r>
            <a:r>
              <a:rPr lang="en-US" b="1" dirty="0">
                <a:solidFill>
                  <a:srgbClr val="FF0000"/>
                </a:solidFill>
                <a:highlight>
                  <a:srgbClr val="FFFF00"/>
                </a:highlight>
                <a:latin typeface="Times New Roman" panose="02020603050405020304" pitchFamily="18" charset="0"/>
                <a:cs typeface="Times New Roman" panose="02020603050405020304" pitchFamily="18" charset="0"/>
              </a:rPr>
              <a:t> </a:t>
            </a:r>
            <a:r>
              <a:rPr lang="en-US" b="1" dirty="0" err="1">
                <a:solidFill>
                  <a:srgbClr val="FF0000"/>
                </a:solidFill>
                <a:highlight>
                  <a:srgbClr val="FFFF00"/>
                </a:highlight>
                <a:latin typeface="Times New Roman" panose="02020603050405020304" pitchFamily="18" charset="0"/>
                <a:cs typeface="Times New Roman" panose="02020603050405020304" pitchFamily="18" charset="0"/>
              </a:rPr>
              <a:t>phẩm</a:t>
            </a:r>
            <a:endParaRPr lang="en-US" b="1" dirty="0">
              <a:solidFill>
                <a:srgbClr val="FF0000"/>
              </a:solidFill>
              <a:highlight>
                <a:srgbClr val="FFFF00"/>
              </a:highligh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2EC1989-5502-4DFA-82B2-4B59BD6986CE}"/>
              </a:ext>
            </a:extLst>
          </p:cNvPr>
          <p:cNvSpPr>
            <a:spLocks noGrp="1"/>
          </p:cNvSpPr>
          <p:nvPr>
            <p:ph idx="1"/>
          </p:nvPr>
        </p:nvSpPr>
        <p:spPr>
          <a:xfrm>
            <a:off x="609598" y="2160590"/>
            <a:ext cx="8229601" cy="4392610"/>
          </a:xfrm>
        </p:spPr>
        <p:txBody>
          <a:bodyPr/>
          <a:lstStyle/>
          <a:p>
            <a:r>
              <a:rPr lang="en-US" sz="2800" b="1" dirty="0" err="1">
                <a:latin typeface="Times New Roman" panose="02020603050405020304" pitchFamily="18" charset="0"/>
                <a:cs typeface="Times New Roman" panose="02020603050405020304" pitchFamily="18" charset="0"/>
              </a:rPr>
              <a:t>Khái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niệm</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sản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phẩm</a:t>
            </a:r>
            <a:endParaRPr lang="en-US" sz="2800" b="1" dirty="0">
              <a:latin typeface="Times New Roman" panose="02020603050405020304" pitchFamily="18" charset="0"/>
              <a:cs typeface="Times New Roman" panose="02020603050405020304" pitchFamily="18" charset="0"/>
            </a:endParaRPr>
          </a:p>
          <a:p>
            <a:r>
              <a:rPr lang="en-US" sz="2800" b="1" dirty="0" err="1">
                <a:latin typeface="Times New Roman" panose="02020603050405020304" pitchFamily="18" charset="0"/>
                <a:cs typeface="Times New Roman" panose="02020603050405020304" pitchFamily="18" charset="0"/>
              </a:rPr>
              <a:t>Phân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loại</a:t>
            </a:r>
            <a:r>
              <a:rPr lang="en-US" sz="2800" b="1" dirty="0">
                <a:latin typeface="Times New Roman" panose="02020603050405020304" pitchFamily="18" charset="0"/>
                <a:cs typeface="Times New Roman" panose="02020603050405020304" pitchFamily="18" charset="0"/>
              </a:rPr>
              <a:t> : </a:t>
            </a:r>
            <a:r>
              <a:rPr lang="en-US" sz="2800" b="1" dirty="0" err="1">
                <a:latin typeface="Times New Roman" panose="02020603050405020304" pitchFamily="18" charset="0"/>
                <a:cs typeface="Times New Roman" panose="02020603050405020304" pitchFamily="18" charset="0"/>
              </a:rPr>
              <a:t>hữu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hình</a:t>
            </a:r>
            <a:r>
              <a:rPr lang="en-US" sz="2800" b="1" dirty="0">
                <a:latin typeface="Times New Roman" panose="02020603050405020304" pitchFamily="18" charset="0"/>
                <a:cs typeface="Times New Roman" panose="02020603050405020304" pitchFamily="18" charset="0"/>
              </a:rPr>
              <a:t>  &amp; </a:t>
            </a:r>
            <a:r>
              <a:rPr lang="en-US" sz="2800" b="1" dirty="0" err="1">
                <a:latin typeface="Times New Roman" panose="02020603050405020304" pitchFamily="18" charset="0"/>
                <a:cs typeface="Times New Roman" panose="02020603050405020304" pitchFamily="18" charset="0"/>
              </a:rPr>
              <a:t>vô</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hình</a:t>
            </a:r>
            <a:r>
              <a:rPr lang="en-US" sz="2800" b="1" dirty="0">
                <a:latin typeface="Times New Roman" panose="02020603050405020304" pitchFamily="18" charset="0"/>
                <a:cs typeface="Times New Roman" panose="02020603050405020304" pitchFamily="18" charset="0"/>
              </a:rPr>
              <a:t> (so </a:t>
            </a:r>
            <a:r>
              <a:rPr lang="en-US" sz="2800" b="1" dirty="0" err="1">
                <a:latin typeface="Times New Roman" panose="02020603050405020304" pitchFamily="18" charset="0"/>
                <a:cs typeface="Times New Roman" panose="02020603050405020304" pitchFamily="18" charset="0"/>
              </a:rPr>
              <a:t>sánh</a:t>
            </a:r>
            <a:r>
              <a:rPr lang="en-US" sz="2800" b="1" dirty="0">
                <a:latin typeface="Times New Roman" panose="02020603050405020304" pitchFamily="18" charset="0"/>
                <a:cs typeface="Times New Roman" panose="02020603050405020304" pitchFamily="18" charset="0"/>
              </a:rPr>
              <a:t>)</a:t>
            </a:r>
          </a:p>
          <a:p>
            <a:r>
              <a:rPr lang="en-US" sz="2800" b="1" dirty="0" err="1">
                <a:highlight>
                  <a:srgbClr val="FFFF00"/>
                </a:highlight>
                <a:latin typeface="Times New Roman" panose="02020603050405020304" pitchFamily="18" charset="0"/>
                <a:cs typeface="Times New Roman" panose="02020603050405020304" pitchFamily="18" charset="0"/>
              </a:rPr>
              <a:t>Cấu</a:t>
            </a:r>
            <a:r>
              <a:rPr lang="en-US" sz="2800" b="1" dirty="0">
                <a:highlight>
                  <a:srgbClr val="FFFF00"/>
                </a:highlight>
                <a:latin typeface="Times New Roman" panose="02020603050405020304" pitchFamily="18" charset="0"/>
                <a:cs typeface="Times New Roman" panose="02020603050405020304" pitchFamily="18" charset="0"/>
              </a:rPr>
              <a:t> </a:t>
            </a:r>
            <a:r>
              <a:rPr lang="en-US" sz="2800" b="1" dirty="0" err="1">
                <a:highlight>
                  <a:srgbClr val="FFFF00"/>
                </a:highlight>
                <a:latin typeface="Times New Roman" panose="02020603050405020304" pitchFamily="18" charset="0"/>
                <a:cs typeface="Times New Roman" panose="02020603050405020304" pitchFamily="18" charset="0"/>
              </a:rPr>
              <a:t>tạo</a:t>
            </a:r>
            <a:r>
              <a:rPr lang="en-US" sz="2800" b="1" dirty="0">
                <a:highlight>
                  <a:srgbClr val="FFFF00"/>
                </a:highlight>
                <a:latin typeface="Times New Roman" panose="02020603050405020304" pitchFamily="18" charset="0"/>
                <a:cs typeface="Times New Roman" panose="02020603050405020304" pitchFamily="18" charset="0"/>
              </a:rPr>
              <a:t> </a:t>
            </a:r>
            <a:r>
              <a:rPr lang="en-US" sz="2800" b="1" dirty="0" err="1">
                <a:highlight>
                  <a:srgbClr val="FFFF00"/>
                </a:highlight>
                <a:latin typeface="Times New Roman" panose="02020603050405020304" pitchFamily="18" charset="0"/>
                <a:cs typeface="Times New Roman" panose="02020603050405020304" pitchFamily="18" charset="0"/>
              </a:rPr>
              <a:t>của</a:t>
            </a:r>
            <a:r>
              <a:rPr lang="en-US" sz="2800" b="1" dirty="0">
                <a:highlight>
                  <a:srgbClr val="FFFF00"/>
                </a:highlight>
                <a:latin typeface="Times New Roman" panose="02020603050405020304" pitchFamily="18" charset="0"/>
                <a:cs typeface="Times New Roman" panose="02020603050405020304" pitchFamily="18" charset="0"/>
              </a:rPr>
              <a:t> </a:t>
            </a:r>
            <a:r>
              <a:rPr lang="en-US" sz="2800" b="1" dirty="0" err="1">
                <a:highlight>
                  <a:srgbClr val="FFFF00"/>
                </a:highlight>
                <a:latin typeface="Times New Roman" panose="02020603050405020304" pitchFamily="18" charset="0"/>
                <a:cs typeface="Times New Roman" panose="02020603050405020304" pitchFamily="18" charset="0"/>
              </a:rPr>
              <a:t>sản</a:t>
            </a:r>
            <a:r>
              <a:rPr lang="en-US" sz="2800" b="1" dirty="0">
                <a:highlight>
                  <a:srgbClr val="FFFF00"/>
                </a:highlight>
                <a:latin typeface="Times New Roman" panose="02020603050405020304" pitchFamily="18" charset="0"/>
                <a:cs typeface="Times New Roman" panose="02020603050405020304" pitchFamily="18" charset="0"/>
              </a:rPr>
              <a:t> </a:t>
            </a:r>
            <a:r>
              <a:rPr lang="en-US" sz="2800" b="1" dirty="0" err="1">
                <a:highlight>
                  <a:srgbClr val="FFFF00"/>
                </a:highlight>
                <a:latin typeface="Times New Roman" panose="02020603050405020304" pitchFamily="18" charset="0"/>
                <a:cs typeface="Times New Roman" panose="02020603050405020304" pitchFamily="18" charset="0"/>
              </a:rPr>
              <a:t>phẩm</a:t>
            </a:r>
            <a:r>
              <a:rPr lang="en-US" sz="2800" b="1" dirty="0">
                <a:highlight>
                  <a:srgbClr val="FFFF00"/>
                </a:highlight>
                <a:latin typeface="Times New Roman" panose="02020603050405020304" pitchFamily="18" charset="0"/>
                <a:cs typeface="Times New Roman" panose="02020603050405020304" pitchFamily="18" charset="0"/>
              </a:rPr>
              <a:t>? Chia </a:t>
            </a:r>
            <a:r>
              <a:rPr lang="en-US" sz="2800" b="1" dirty="0" err="1">
                <a:highlight>
                  <a:srgbClr val="FFFF00"/>
                </a:highlight>
                <a:latin typeface="Times New Roman" panose="02020603050405020304" pitchFamily="18" charset="0"/>
                <a:cs typeface="Times New Roman" panose="02020603050405020304" pitchFamily="18" charset="0"/>
              </a:rPr>
              <a:t>theo</a:t>
            </a:r>
            <a:r>
              <a:rPr lang="en-US" sz="2800" b="1" dirty="0">
                <a:highlight>
                  <a:srgbClr val="FFFF00"/>
                </a:highlight>
                <a:latin typeface="Times New Roman" panose="02020603050405020304" pitchFamily="18" charset="0"/>
                <a:cs typeface="Times New Roman" panose="02020603050405020304" pitchFamily="18" charset="0"/>
              </a:rPr>
              <a:t> </a:t>
            </a:r>
            <a:r>
              <a:rPr lang="en-US" sz="2800" b="1" dirty="0" err="1">
                <a:highlight>
                  <a:srgbClr val="FFFF00"/>
                </a:highlight>
                <a:latin typeface="Times New Roman" panose="02020603050405020304" pitchFamily="18" charset="0"/>
                <a:cs typeface="Times New Roman" panose="02020603050405020304" pitchFamily="18" charset="0"/>
              </a:rPr>
              <a:t>lớp</a:t>
            </a:r>
            <a:r>
              <a:rPr lang="en-US" sz="2800" b="1" dirty="0">
                <a:highlight>
                  <a:srgbClr val="FFFF00"/>
                </a:highlight>
                <a:latin typeface="Times New Roman" panose="02020603050405020304" pitchFamily="18" charset="0"/>
                <a:cs typeface="Times New Roman" panose="02020603050405020304" pitchFamily="18" charset="0"/>
              </a:rPr>
              <a:t> or </a:t>
            </a:r>
            <a:r>
              <a:rPr lang="en-US" sz="2800" b="1" dirty="0" err="1">
                <a:highlight>
                  <a:srgbClr val="FFFF00"/>
                </a:highlight>
                <a:latin typeface="Times New Roman" panose="02020603050405020304" pitchFamily="18" charset="0"/>
                <a:cs typeface="Times New Roman" panose="02020603050405020304" pitchFamily="18" charset="0"/>
              </a:rPr>
              <a:t>cấp</a:t>
            </a:r>
            <a:r>
              <a:rPr lang="en-US" sz="2800" b="1" dirty="0">
                <a:highlight>
                  <a:srgbClr val="FFFF00"/>
                </a:highlight>
                <a:latin typeface="Times New Roman" panose="02020603050405020304" pitchFamily="18" charset="0"/>
                <a:cs typeface="Times New Roman" panose="02020603050405020304" pitchFamily="18" charset="0"/>
              </a:rPr>
              <a:t> </a:t>
            </a:r>
            <a:r>
              <a:rPr lang="en-US" sz="2800" b="1" dirty="0" err="1">
                <a:highlight>
                  <a:srgbClr val="FFFF00"/>
                </a:highlight>
                <a:latin typeface="Times New Roman" panose="02020603050405020304" pitchFamily="18" charset="0"/>
                <a:cs typeface="Times New Roman" panose="02020603050405020304" pitchFamily="18" charset="0"/>
              </a:rPr>
              <a:t>độ</a:t>
            </a:r>
            <a:r>
              <a:rPr lang="en-US" sz="2800" b="1" dirty="0">
                <a:highlight>
                  <a:srgbClr val="FFFF00"/>
                </a:highlight>
                <a:latin typeface="Times New Roman" panose="02020603050405020304" pitchFamily="18" charset="0"/>
                <a:cs typeface="Times New Roman" panose="02020603050405020304" pitchFamily="18" charset="0"/>
              </a:rPr>
              <a:t>?</a:t>
            </a:r>
          </a:p>
          <a:p>
            <a:r>
              <a:rPr lang="en-US" sz="2800" b="1" dirty="0" err="1">
                <a:solidFill>
                  <a:srgbClr val="FF0000"/>
                </a:solidFill>
                <a:highlight>
                  <a:srgbClr val="FFFF00"/>
                </a:highlight>
                <a:latin typeface="Times New Roman" panose="02020603050405020304" pitchFamily="18" charset="0"/>
                <a:cs typeface="Times New Roman" panose="02020603050405020304" pitchFamily="18" charset="0"/>
              </a:rPr>
              <a:t>Không</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được</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phép</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đồng</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nhất</a:t>
            </a:r>
            <a:r>
              <a:rPr lang="en-US" sz="2800" b="1" dirty="0">
                <a:solidFill>
                  <a:srgbClr val="FF0000"/>
                </a:solidFill>
                <a:latin typeface="Times New Roman" panose="02020603050405020304" pitchFamily="18" charset="0"/>
                <a:cs typeface="Times New Roman" panose="02020603050405020304" pitchFamily="18" charset="0"/>
              </a:rPr>
              <a:t> Marketing </a:t>
            </a:r>
            <a:r>
              <a:rPr lang="en-US" sz="2800" b="1" dirty="0" err="1">
                <a:solidFill>
                  <a:srgbClr val="FF0000"/>
                </a:solidFill>
                <a:latin typeface="Times New Roman" panose="02020603050405020304" pitchFamily="18" charset="0"/>
                <a:cs typeface="Times New Roman" panose="02020603050405020304" pitchFamily="18" charset="0"/>
              </a:rPr>
              <a:t>với</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quảng</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cáo</a:t>
            </a:r>
            <a:r>
              <a:rPr lang="en-US" sz="2800" b="1" dirty="0">
                <a:solidFill>
                  <a:srgbClr val="FF0000"/>
                </a:solidFill>
                <a:latin typeface="Times New Roman" panose="02020603050405020304" pitchFamily="18" charset="0"/>
                <a:cs typeface="Times New Roman" panose="02020603050405020304" pitchFamily="18" charset="0"/>
              </a:rPr>
              <a:t>/</a:t>
            </a:r>
            <a:r>
              <a:rPr lang="en-US" sz="2800" b="1" dirty="0" err="1">
                <a:solidFill>
                  <a:srgbClr val="FF0000"/>
                </a:solidFill>
                <a:latin typeface="Times New Roman" panose="02020603050405020304" pitchFamily="18" charset="0"/>
                <a:cs typeface="Times New Roman" panose="02020603050405020304" pitchFamily="18" charset="0"/>
              </a:rPr>
              <a:t>tiếp</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thị</a:t>
            </a:r>
            <a:r>
              <a:rPr lang="en-US" sz="2800" b="1" dirty="0">
                <a:solidFill>
                  <a:srgbClr val="FF0000"/>
                </a:solidFill>
                <a:latin typeface="Times New Roman" panose="02020603050405020304" pitchFamily="18" charset="0"/>
                <a:cs typeface="Times New Roman" panose="02020603050405020304" pitchFamily="18" charset="0"/>
              </a:rPr>
              <a:t>/</a:t>
            </a:r>
            <a:r>
              <a:rPr lang="en-US" sz="2800" b="1" dirty="0" err="1">
                <a:solidFill>
                  <a:srgbClr val="FF0000"/>
                </a:solidFill>
                <a:latin typeface="Times New Roman" panose="02020603050405020304" pitchFamily="18" charset="0"/>
                <a:cs typeface="Times New Roman" panose="02020603050405020304" pitchFamily="18" charset="0"/>
              </a:rPr>
              <a:t>phân</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phối</a:t>
            </a:r>
            <a:r>
              <a:rPr lang="en-US" sz="2800" b="1" dirty="0">
                <a:solidFill>
                  <a:srgbClr val="FF0000"/>
                </a:solidFill>
                <a:latin typeface="Times New Roman" panose="02020603050405020304" pitchFamily="18" charset="0"/>
                <a:cs typeface="Times New Roman" panose="02020603050405020304" pitchFamily="18" charset="0"/>
              </a:rPr>
              <a:t>/</a:t>
            </a:r>
            <a:r>
              <a:rPr lang="en-US" sz="2800" b="1" dirty="0" err="1">
                <a:solidFill>
                  <a:srgbClr val="FF0000"/>
                </a:solidFill>
                <a:latin typeface="Times New Roman" panose="02020603050405020304" pitchFamily="18" charset="0"/>
                <a:cs typeface="Times New Roman" panose="02020603050405020304" pitchFamily="18" charset="0"/>
              </a:rPr>
              <a:t>bán</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hàng</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cá</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nhân</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a:solidFill>
                  <a:srgbClr val="FF0000"/>
                </a:solidFill>
                <a:highlight>
                  <a:srgbClr val="FFFF00"/>
                </a:highlight>
                <a:latin typeface="Times New Roman" panose="02020603050405020304" pitchFamily="18" charset="0"/>
                <a:cs typeface="Times New Roman" panose="02020603050405020304" pitchFamily="18" charset="0"/>
              </a:rPr>
              <a:t>(</a:t>
            </a:r>
            <a:r>
              <a:rPr lang="en-US" sz="2800" b="1" dirty="0" err="1">
                <a:solidFill>
                  <a:srgbClr val="FF0000"/>
                </a:solidFill>
                <a:highlight>
                  <a:srgbClr val="FFFF00"/>
                </a:highlight>
                <a:latin typeface="Times New Roman" panose="02020603050405020304" pitchFamily="18" charset="0"/>
                <a:cs typeface="Times New Roman" panose="02020603050405020304" pitchFamily="18" charset="0"/>
              </a:rPr>
              <a:t>chương</a:t>
            </a:r>
            <a:r>
              <a:rPr lang="en-US" sz="2800" b="1" dirty="0">
                <a:solidFill>
                  <a:srgbClr val="FF0000"/>
                </a:solidFill>
                <a:highlight>
                  <a:srgbClr val="FFFF00"/>
                </a:highlight>
                <a:latin typeface="Times New Roman" panose="02020603050405020304" pitchFamily="18" charset="0"/>
                <a:cs typeface="Times New Roman" panose="02020603050405020304" pitchFamily="18" charset="0"/>
              </a:rPr>
              <a:t> 1)</a:t>
            </a:r>
          </a:p>
          <a:p>
            <a:pPr marL="0" indent="0">
              <a:buNone/>
            </a:pPr>
            <a:endParaRPr lang="en-US" sz="28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9474723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4EAA0-E520-4458-B985-8A3883154AF4}"/>
              </a:ext>
            </a:extLst>
          </p:cNvPr>
          <p:cNvSpPr>
            <a:spLocks noGrp="1"/>
          </p:cNvSpPr>
          <p:nvPr>
            <p:ph type="title"/>
          </p:nvPr>
        </p:nvSpPr>
        <p:spPr>
          <a:xfrm>
            <a:off x="609599" y="609600"/>
            <a:ext cx="6347713" cy="1295400"/>
          </a:xfrm>
        </p:spPr>
        <p:txBody>
          <a:bodyPr/>
          <a:lstStyle/>
          <a:p>
            <a:r>
              <a:rPr lang="en-US" dirty="0">
                <a:solidFill>
                  <a:srgbClr val="FF0000"/>
                </a:solidFill>
                <a:highlight>
                  <a:srgbClr val="FFFF00"/>
                </a:highlight>
              </a:rPr>
              <a:t>KÊNH PHÂN PHỐI</a:t>
            </a:r>
          </a:p>
        </p:txBody>
      </p:sp>
      <p:sp>
        <p:nvSpPr>
          <p:cNvPr id="3" name="Content Placeholder 2">
            <a:extLst>
              <a:ext uri="{FF2B5EF4-FFF2-40B4-BE49-F238E27FC236}">
                <a16:creationId xmlns:a16="http://schemas.microsoft.com/office/drawing/2014/main" id="{B8FFB9BE-2EE6-4A68-AC19-0D4D2E6F2F88}"/>
              </a:ext>
            </a:extLst>
          </p:cNvPr>
          <p:cNvSpPr>
            <a:spLocks noGrp="1"/>
          </p:cNvSpPr>
          <p:nvPr>
            <p:ph idx="1"/>
          </p:nvPr>
        </p:nvSpPr>
        <p:spPr>
          <a:xfrm>
            <a:off x="609598" y="2160591"/>
            <a:ext cx="7620001" cy="3859210"/>
          </a:xfrm>
        </p:spPr>
        <p:txBody>
          <a:bodyPr/>
          <a:lstStyle/>
          <a:p>
            <a:r>
              <a:rPr lang="en-US" dirty="0" err="1"/>
              <a:t>Khái</a:t>
            </a:r>
            <a:r>
              <a:rPr lang="en-US" dirty="0"/>
              <a:t> </a:t>
            </a:r>
            <a:r>
              <a:rPr lang="en-US" dirty="0" err="1"/>
              <a:t>niệm</a:t>
            </a:r>
            <a:endParaRPr lang="en-US" dirty="0"/>
          </a:p>
          <a:p>
            <a:r>
              <a:rPr lang="it-IT" sz="2800" b="1" i="1" dirty="0">
                <a:effectLst/>
                <a:latin typeface="Times New Roman" panose="02020603050405020304" pitchFamily="18" charset="0"/>
                <a:ea typeface="Calibri" panose="020F0502020204030204" pitchFamily="34" charset="0"/>
                <a:cs typeface="Times New Roman" panose="02020603050405020304" pitchFamily="18" charset="0"/>
              </a:rPr>
              <a:t>Kênh PP là tập hợp cá nhân hay tổ chức </a:t>
            </a:r>
            <a:r>
              <a:rPr lang="it-IT" sz="2800" b="1" i="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độc lập</a:t>
            </a:r>
            <a:r>
              <a:rPr lang="it-IT" sz="2800" b="1" i="1" dirty="0">
                <a:effectLst/>
                <a:latin typeface="Times New Roman" panose="02020603050405020304" pitchFamily="18" charset="0"/>
                <a:ea typeface="Calibri" panose="020F0502020204030204" pitchFamily="34" charset="0"/>
                <a:cs typeface="Times New Roman" panose="02020603050405020304" pitchFamily="18" charset="0"/>
              </a:rPr>
              <a:t> và </a:t>
            </a:r>
            <a:r>
              <a:rPr lang="it-IT" sz="2800" b="1" i="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phụ thuộc </a:t>
            </a:r>
            <a:r>
              <a:rPr lang="it-IT" sz="2800" b="1" i="1" dirty="0">
                <a:effectLst/>
                <a:latin typeface="Times New Roman" panose="02020603050405020304" pitchFamily="18" charset="0"/>
                <a:ea typeface="Calibri" panose="020F0502020204030204" pitchFamily="34" charset="0"/>
                <a:cs typeface="Times New Roman" panose="02020603050405020304" pitchFamily="18" charset="0"/>
              </a:rPr>
              <a:t>lẫn nhau thực hiện công việc liên quan đến việc làm cho hàng hóa hay dịch vụ sẵn sàng sẵn sàng để người tiêu dùng hoặc khách hàng tổ chức tiêu dùng hay sử dụng chúng</a:t>
            </a:r>
            <a:r>
              <a:rPr lang="it-IT" sz="28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2800" b="1"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7142079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E0966-77D3-4C5C-8F95-5D7B155573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2443EC4-0694-423E-B649-2C9F98B8A80C}"/>
              </a:ext>
            </a:extLst>
          </p:cNvPr>
          <p:cNvSpPr>
            <a:spLocks noGrp="1"/>
          </p:cNvSpPr>
          <p:nvPr>
            <p:ph idx="1"/>
          </p:nvPr>
        </p:nvSpPr>
        <p:spPr/>
        <p:txBody>
          <a:bodyPr/>
          <a:lstStyle/>
          <a:p>
            <a:r>
              <a:rPr lang="en-US" dirty="0" err="1"/>
              <a:t>Kênh</a:t>
            </a:r>
            <a:r>
              <a:rPr lang="en-US" dirty="0"/>
              <a:t> PP </a:t>
            </a:r>
            <a:r>
              <a:rPr lang="en-US" dirty="0" err="1"/>
              <a:t>cấp</a:t>
            </a:r>
            <a:r>
              <a:rPr lang="en-US" dirty="0"/>
              <a:t> 0 = </a:t>
            </a:r>
            <a:r>
              <a:rPr lang="en-US" dirty="0" err="1"/>
              <a:t>Kênh</a:t>
            </a:r>
            <a:r>
              <a:rPr lang="en-US" dirty="0"/>
              <a:t> PP </a:t>
            </a:r>
            <a:r>
              <a:rPr lang="en-US" dirty="0" err="1"/>
              <a:t>trực</a:t>
            </a:r>
            <a:r>
              <a:rPr lang="en-US" dirty="0"/>
              <a:t> </a:t>
            </a:r>
            <a:r>
              <a:rPr lang="en-US" dirty="0" err="1"/>
              <a:t>tiếp</a:t>
            </a:r>
            <a:r>
              <a:rPr lang="en-US" dirty="0"/>
              <a:t> = (</a:t>
            </a:r>
            <a:r>
              <a:rPr lang="en-US" dirty="0" err="1"/>
              <a:t>không</a:t>
            </a:r>
            <a:r>
              <a:rPr lang="en-US" dirty="0"/>
              <a:t> </a:t>
            </a:r>
            <a:r>
              <a:rPr lang="en-US" dirty="0" err="1"/>
              <a:t>có</a:t>
            </a:r>
            <a:r>
              <a:rPr lang="en-US" dirty="0"/>
              <a:t> </a:t>
            </a:r>
            <a:r>
              <a:rPr lang="en-US" dirty="0" err="1"/>
              <a:t>trung</a:t>
            </a:r>
            <a:r>
              <a:rPr lang="en-US" dirty="0"/>
              <a:t> </a:t>
            </a:r>
            <a:r>
              <a:rPr lang="en-US" dirty="0" err="1"/>
              <a:t>gian</a:t>
            </a:r>
            <a:r>
              <a:rPr lang="en-US" dirty="0"/>
              <a:t> </a:t>
            </a:r>
            <a:r>
              <a:rPr lang="en-US" dirty="0" err="1"/>
              <a:t>môi</a:t>
            </a:r>
            <a:r>
              <a:rPr lang="en-US" dirty="0"/>
              <a:t> </a:t>
            </a:r>
            <a:r>
              <a:rPr lang="en-US" dirty="0" err="1"/>
              <a:t>giới</a:t>
            </a:r>
            <a:r>
              <a:rPr lang="en-US" dirty="0"/>
              <a:t> TM)-&gt; </a:t>
            </a:r>
            <a:r>
              <a:rPr lang="en-US" dirty="0" err="1"/>
              <a:t>Nhà</a:t>
            </a:r>
            <a:r>
              <a:rPr lang="en-US" dirty="0"/>
              <a:t> PP </a:t>
            </a:r>
            <a:r>
              <a:rPr lang="en-US" dirty="0" err="1"/>
              <a:t>là</a:t>
            </a:r>
            <a:r>
              <a:rPr lang="en-US" dirty="0"/>
              <a:t> ai? </a:t>
            </a:r>
            <a:r>
              <a:rPr lang="en-US" dirty="0" err="1"/>
              <a:t>Họ</a:t>
            </a:r>
            <a:r>
              <a:rPr lang="en-US" dirty="0"/>
              <a:t> </a:t>
            </a:r>
            <a:r>
              <a:rPr lang="en-US" dirty="0" err="1"/>
              <a:t>là</a:t>
            </a:r>
            <a:r>
              <a:rPr lang="en-US" dirty="0"/>
              <a:t> </a:t>
            </a:r>
            <a:r>
              <a:rPr lang="en-US" dirty="0" err="1"/>
              <a:t>Đại</a:t>
            </a:r>
            <a:r>
              <a:rPr lang="en-US" dirty="0"/>
              <a:t> </a:t>
            </a:r>
            <a:r>
              <a:rPr lang="en-US" dirty="0" err="1"/>
              <a:t>lý</a:t>
            </a:r>
            <a:r>
              <a:rPr lang="en-US" dirty="0"/>
              <a:t> </a:t>
            </a:r>
            <a:r>
              <a:rPr lang="en-US" dirty="0" err="1"/>
              <a:t>của</a:t>
            </a:r>
            <a:r>
              <a:rPr lang="en-US" dirty="0"/>
              <a:t> DN </a:t>
            </a:r>
          </a:p>
          <a:p>
            <a:r>
              <a:rPr lang="en-US" dirty="0" err="1"/>
              <a:t>Cơ</a:t>
            </a:r>
            <a:r>
              <a:rPr lang="en-US" dirty="0"/>
              <a:t> </a:t>
            </a:r>
            <a:r>
              <a:rPr lang="en-US" dirty="0" err="1"/>
              <a:t>chế</a:t>
            </a:r>
            <a:r>
              <a:rPr lang="en-US" dirty="0"/>
              <a:t> HĐ: </a:t>
            </a:r>
            <a:r>
              <a:rPr lang="en-US" dirty="0" err="1"/>
              <a:t>Vận</a:t>
            </a:r>
            <a:r>
              <a:rPr lang="en-US" dirty="0"/>
              <a:t> </a:t>
            </a:r>
            <a:r>
              <a:rPr lang="en-US" dirty="0" err="1"/>
              <a:t>dụng</a:t>
            </a:r>
            <a:r>
              <a:rPr lang="en-US" dirty="0"/>
              <a:t> Mar-Mix </a:t>
            </a:r>
            <a:r>
              <a:rPr lang="en-US" dirty="0" err="1"/>
              <a:t>của</a:t>
            </a:r>
            <a:r>
              <a:rPr lang="en-US" dirty="0"/>
              <a:t> DNSX-&gt; </a:t>
            </a:r>
            <a:r>
              <a:rPr lang="en-US" dirty="0" err="1"/>
              <a:t>không</a:t>
            </a:r>
            <a:r>
              <a:rPr lang="en-US" dirty="0"/>
              <a:t> </a:t>
            </a:r>
            <a:r>
              <a:rPr lang="en-US" dirty="0" err="1"/>
              <a:t>hưởng</a:t>
            </a:r>
            <a:r>
              <a:rPr lang="en-US" dirty="0"/>
              <a:t> LN-&gt; </a:t>
            </a:r>
            <a:r>
              <a:rPr lang="en-US" dirty="0" err="1"/>
              <a:t>là</a:t>
            </a:r>
            <a:r>
              <a:rPr lang="en-US" dirty="0"/>
              <a:t> </a:t>
            </a:r>
            <a:r>
              <a:rPr lang="en-US" dirty="0" err="1"/>
              <a:t>Hoa</a:t>
            </a:r>
            <a:r>
              <a:rPr lang="en-US" dirty="0"/>
              <a:t> </a:t>
            </a:r>
            <a:r>
              <a:rPr lang="en-US" dirty="0" err="1"/>
              <a:t>hồng</a:t>
            </a:r>
            <a:endParaRPr lang="en-US" dirty="0"/>
          </a:p>
          <a:p>
            <a:r>
              <a:rPr lang="en-US" dirty="0" err="1"/>
              <a:t>Kênh</a:t>
            </a:r>
            <a:r>
              <a:rPr lang="en-US" dirty="0"/>
              <a:t> PP </a:t>
            </a:r>
            <a:r>
              <a:rPr lang="en-US" dirty="0" err="1"/>
              <a:t>Bán</a:t>
            </a:r>
            <a:r>
              <a:rPr lang="en-US" dirty="0"/>
              <a:t> </a:t>
            </a:r>
            <a:r>
              <a:rPr lang="en-US" dirty="0" err="1"/>
              <a:t>buôn-Bán</a:t>
            </a:r>
            <a:r>
              <a:rPr lang="en-US" dirty="0"/>
              <a:t> </a:t>
            </a:r>
            <a:r>
              <a:rPr lang="en-US" dirty="0" err="1"/>
              <a:t>lẻ</a:t>
            </a:r>
            <a:r>
              <a:rPr lang="en-US" dirty="0"/>
              <a:t> = </a:t>
            </a:r>
            <a:r>
              <a:rPr lang="en-US" dirty="0" err="1"/>
              <a:t>Kênh</a:t>
            </a:r>
            <a:r>
              <a:rPr lang="en-US" dirty="0"/>
              <a:t> PP </a:t>
            </a:r>
            <a:r>
              <a:rPr lang="en-US" dirty="0" err="1"/>
              <a:t>gián</a:t>
            </a:r>
            <a:r>
              <a:rPr lang="en-US" dirty="0"/>
              <a:t> </a:t>
            </a:r>
            <a:r>
              <a:rPr lang="en-US" dirty="0" err="1"/>
              <a:t>tiếp</a:t>
            </a:r>
            <a:r>
              <a:rPr lang="en-US" dirty="0"/>
              <a:t> -&gt;  </a:t>
            </a:r>
          </a:p>
          <a:p>
            <a:r>
              <a:rPr lang="en-US" dirty="0" err="1"/>
              <a:t>Cơ</a:t>
            </a:r>
            <a:r>
              <a:rPr lang="en-US" dirty="0"/>
              <a:t> </a:t>
            </a:r>
            <a:r>
              <a:rPr lang="en-US" dirty="0" err="1"/>
              <a:t>chế</a:t>
            </a:r>
            <a:r>
              <a:rPr lang="en-US" dirty="0"/>
              <a:t> HĐ: </a:t>
            </a:r>
            <a:r>
              <a:rPr lang="en-US" dirty="0" err="1"/>
              <a:t>tự</a:t>
            </a:r>
            <a:r>
              <a:rPr lang="en-US" dirty="0"/>
              <a:t> </a:t>
            </a:r>
            <a:r>
              <a:rPr lang="en-US" dirty="0" err="1"/>
              <a:t>thiết</a:t>
            </a:r>
            <a:r>
              <a:rPr lang="en-US" dirty="0"/>
              <a:t> </a:t>
            </a:r>
            <a:r>
              <a:rPr lang="en-US" dirty="0" err="1"/>
              <a:t>kế</a:t>
            </a:r>
            <a:r>
              <a:rPr lang="en-US" dirty="0"/>
              <a:t> </a:t>
            </a:r>
            <a:r>
              <a:rPr lang="en-US" dirty="0" err="1"/>
              <a:t>chính</a:t>
            </a:r>
            <a:r>
              <a:rPr lang="en-US" dirty="0"/>
              <a:t> </a:t>
            </a:r>
            <a:r>
              <a:rPr lang="en-US" dirty="0" err="1"/>
              <a:t>sách</a:t>
            </a:r>
            <a:r>
              <a:rPr lang="en-US" dirty="0"/>
              <a:t> mar: </a:t>
            </a:r>
            <a:r>
              <a:rPr lang="en-US" dirty="0" err="1"/>
              <a:t>giá</a:t>
            </a:r>
            <a:r>
              <a:rPr lang="en-US" dirty="0"/>
              <a:t>, PP, XTHH</a:t>
            </a:r>
          </a:p>
          <a:p>
            <a:r>
              <a:rPr lang="en-US" dirty="0"/>
              <a:t>-&gt; </a:t>
            </a:r>
            <a:r>
              <a:rPr lang="en-US" dirty="0" err="1"/>
              <a:t>được</a:t>
            </a:r>
            <a:r>
              <a:rPr lang="en-US" dirty="0"/>
              <a:t> </a:t>
            </a:r>
            <a:r>
              <a:rPr lang="en-US" dirty="0" err="1"/>
              <a:t>sở</a:t>
            </a:r>
            <a:r>
              <a:rPr lang="en-US" dirty="0"/>
              <a:t> </a:t>
            </a:r>
            <a:r>
              <a:rPr lang="en-US" dirty="0" err="1"/>
              <a:t>hữu</a:t>
            </a:r>
            <a:r>
              <a:rPr lang="en-US" dirty="0"/>
              <a:t> </a:t>
            </a:r>
            <a:r>
              <a:rPr lang="en-US" dirty="0" err="1"/>
              <a:t>sản</a:t>
            </a:r>
            <a:r>
              <a:rPr lang="en-US" dirty="0"/>
              <a:t> </a:t>
            </a:r>
            <a:r>
              <a:rPr lang="en-US" dirty="0" err="1"/>
              <a:t>phẩm</a:t>
            </a:r>
            <a:r>
              <a:rPr lang="en-US" dirty="0"/>
              <a:t> </a:t>
            </a:r>
            <a:r>
              <a:rPr lang="en-US" dirty="0" err="1"/>
              <a:t>của</a:t>
            </a:r>
            <a:r>
              <a:rPr lang="en-US" dirty="0"/>
              <a:t> </a:t>
            </a:r>
            <a:r>
              <a:rPr lang="en-US" dirty="0" err="1"/>
              <a:t>cty</a:t>
            </a:r>
            <a:r>
              <a:rPr lang="en-US" dirty="0"/>
              <a:t> (</a:t>
            </a:r>
            <a:r>
              <a:rPr lang="en-US" dirty="0" err="1"/>
              <a:t>mua</a:t>
            </a:r>
            <a:r>
              <a:rPr lang="en-US" dirty="0"/>
              <a:t> </a:t>
            </a:r>
            <a:r>
              <a:rPr lang="en-US" dirty="0" err="1"/>
              <a:t>rồi</a:t>
            </a:r>
            <a:r>
              <a:rPr lang="en-US" dirty="0"/>
              <a:t>)-&gt;</a:t>
            </a:r>
            <a:r>
              <a:rPr lang="en-US" dirty="0" err="1"/>
              <a:t>có</a:t>
            </a:r>
            <a:r>
              <a:rPr lang="en-US" dirty="0"/>
              <a:t> </a:t>
            </a:r>
            <a:r>
              <a:rPr lang="en-US" dirty="0" err="1"/>
              <a:t>quyền</a:t>
            </a:r>
            <a:r>
              <a:rPr lang="en-US" dirty="0"/>
              <a:t> </a:t>
            </a:r>
            <a:r>
              <a:rPr lang="en-US" dirty="0" err="1"/>
              <a:t>định</a:t>
            </a:r>
            <a:r>
              <a:rPr lang="en-US" dirty="0"/>
              <a:t> </a:t>
            </a:r>
            <a:r>
              <a:rPr lang="en-US" dirty="0" err="1"/>
              <a:t>đoạt</a:t>
            </a:r>
            <a:endParaRPr lang="en-US" dirty="0"/>
          </a:p>
        </p:txBody>
      </p:sp>
    </p:spTree>
    <p:extLst>
      <p:ext uri="{BB962C8B-B14F-4D97-AF65-F5344CB8AC3E}">
        <p14:creationId xmlns:p14="http://schemas.microsoft.com/office/powerpoint/2010/main" val="7874738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B8BE8-5564-4581-8398-7DCD61927C8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20D8BB3-27E6-457A-B894-FD4093117521}"/>
              </a:ext>
            </a:extLst>
          </p:cNvPr>
          <p:cNvSpPr>
            <a:spLocks noGrp="1"/>
          </p:cNvSpPr>
          <p:nvPr>
            <p:ph idx="1"/>
          </p:nvPr>
        </p:nvSpPr>
        <p:spPr/>
        <p:txBody>
          <a:bodyPr/>
          <a:lstStyle/>
          <a:p>
            <a:r>
              <a:rPr lang="en-US" dirty="0" err="1"/>
              <a:t>Cấp</a:t>
            </a:r>
            <a:r>
              <a:rPr lang="en-US" dirty="0"/>
              <a:t> 0: DN-(</a:t>
            </a:r>
            <a:r>
              <a:rPr lang="en-US" dirty="0" err="1"/>
              <a:t>Đly</a:t>
            </a:r>
            <a:r>
              <a:rPr lang="en-US" dirty="0"/>
              <a:t>)-KH: 0</a:t>
            </a:r>
          </a:p>
          <a:p>
            <a:r>
              <a:rPr lang="en-US" dirty="0" err="1"/>
              <a:t>Cấp</a:t>
            </a:r>
            <a:r>
              <a:rPr lang="en-US" dirty="0"/>
              <a:t> 1: DN-</a:t>
            </a:r>
            <a:r>
              <a:rPr lang="en-US" dirty="0" err="1"/>
              <a:t>BLẻ_KH</a:t>
            </a:r>
            <a:endParaRPr lang="en-US" dirty="0"/>
          </a:p>
          <a:p>
            <a:r>
              <a:rPr lang="en-US" dirty="0"/>
              <a:t>Caap2: DN-BB-</a:t>
            </a:r>
            <a:r>
              <a:rPr lang="en-US" dirty="0" err="1"/>
              <a:t>Ble</a:t>
            </a:r>
            <a:r>
              <a:rPr lang="en-US"/>
              <a:t>-KH</a:t>
            </a:r>
            <a:endParaRPr lang="en-US" dirty="0"/>
          </a:p>
        </p:txBody>
      </p:sp>
    </p:spTree>
    <p:extLst>
      <p:ext uri="{BB962C8B-B14F-4D97-AF65-F5344CB8AC3E}">
        <p14:creationId xmlns:p14="http://schemas.microsoft.com/office/powerpoint/2010/main" val="131754927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2485</TotalTime>
  <Words>3765</Words>
  <Application>Microsoft Office PowerPoint</Application>
  <PresentationFormat>On-screen Show (4:3)</PresentationFormat>
  <Paragraphs>407</Paragraphs>
  <Slides>75</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3</vt:i4>
      </vt:variant>
      <vt:variant>
        <vt:lpstr>Slide Titles</vt:lpstr>
      </vt:variant>
      <vt:variant>
        <vt:i4>75</vt:i4>
      </vt:variant>
    </vt:vector>
  </HeadingPairs>
  <TitlesOfParts>
    <vt:vector size="86" baseType="lpstr">
      <vt:lpstr>Arial</vt:lpstr>
      <vt:lpstr>Calibri</vt:lpstr>
      <vt:lpstr>Cambria</vt:lpstr>
      <vt:lpstr>Times New Roman</vt:lpstr>
      <vt:lpstr>Trebuchet MS</vt:lpstr>
      <vt:lpstr>Wingdings</vt:lpstr>
      <vt:lpstr>Wingdings 3</vt:lpstr>
      <vt:lpstr>Facet</vt:lpstr>
      <vt:lpstr>Clip</vt:lpstr>
      <vt:lpstr>Bitmap Image</vt:lpstr>
      <vt:lpstr>GALLERY</vt:lpstr>
      <vt:lpstr> CHƯƠNG IV: HOẠCH ĐỊNH CHÍNH SÁCH SẢN PHẨM </vt:lpstr>
      <vt:lpstr>Công việc của nhà QT Mar</vt:lpstr>
      <vt:lpstr>I. Khái niệm sản phẩm</vt:lpstr>
      <vt:lpstr> Khái niệm sản phẩm theo theo quan điểm marketing</vt:lpstr>
      <vt:lpstr>Các cấp độ sản phẩm</vt:lpstr>
      <vt:lpstr>Lớp</vt:lpstr>
      <vt:lpstr>Phân loại sản phẩm</vt:lpstr>
      <vt:lpstr>  Hàng tiêu dùng</vt:lpstr>
      <vt:lpstr>PowerPoint Presentation</vt:lpstr>
      <vt:lpstr>Hàng tư liệu sản xuất</vt:lpstr>
      <vt:lpstr>Vị trí của chính sách sản phẩm</vt:lpstr>
      <vt:lpstr>Vị trí của chính sách sản phẩm</vt:lpstr>
      <vt:lpstr>II. Các quyết định marketing chủ yếu trong chính sách sản phẩm</vt:lpstr>
      <vt:lpstr>II. Các quyết định marketing chủ yếu trong chính sách sản phẩm (tt)</vt:lpstr>
      <vt:lpstr> Khái niệm thương hiệu </vt:lpstr>
      <vt:lpstr>2.1. Các yếu tố cốt lõi của thương hiệu </vt:lpstr>
      <vt:lpstr>2.2. Các yếu nhận diện thương hiệu </vt:lpstr>
      <vt:lpstr>2.3. Các yếu cấu thành nhãn hiệu </vt:lpstr>
      <vt:lpstr>2.3. Các yếu cấu thành nhãn hiệu </vt:lpstr>
      <vt:lpstr>Tên nhãn hiệu ( Brand Name)</vt:lpstr>
      <vt:lpstr>- Nhãn hiệu thương mại ( Trade Mark) </vt:lpstr>
      <vt:lpstr>PowerPoint Presentation</vt:lpstr>
      <vt:lpstr>Vai trò của nhãn hiệu</vt:lpstr>
      <vt:lpstr>Vai trò của nhãn hiệu</vt:lpstr>
      <vt:lpstr>Vai trò của nhãn hiệu</vt:lpstr>
      <vt:lpstr>PowerPoint Presentation</vt:lpstr>
      <vt:lpstr>PowerPoint Presentation</vt:lpstr>
      <vt:lpstr>PowerPoint Presentation</vt:lpstr>
      <vt:lpstr>PowerPoint Presentation</vt:lpstr>
      <vt:lpstr>Phân biệt thương hiệu và nhãn hiệu</vt:lpstr>
      <vt:lpstr>Phân biệt thương hiệu và nhãn hiệu</vt:lpstr>
      <vt:lpstr>PowerPoint Presentation</vt:lpstr>
      <vt:lpstr>Quyết định về bao bì sản phẩm</vt:lpstr>
      <vt:lpstr>Quyết định về bao bì sản phẩm</vt:lpstr>
      <vt:lpstr>Quyết định phát triển sản phẩm mới</vt:lpstr>
      <vt:lpstr>Quyết định về danh mục sản phẩm </vt:lpstr>
      <vt:lpstr>Danh mục sản phẩm Unilever</vt:lpstr>
      <vt:lpstr>Danh mục sản phẩm của P&amp;G</vt:lpstr>
      <vt:lpstr>PowerPoint Presentation</vt:lpstr>
      <vt:lpstr>PowerPoint Presentation</vt:lpstr>
      <vt:lpstr>QUYẾT ĐỊNH CHỦNG LOẠI SẢN PHẨM (Production line)</vt:lpstr>
      <vt:lpstr>QUYẾT ĐỊNH THAY ĐỔI CHIỀU DÀI CHỦNG LOẠI SẢN PHẨM</vt:lpstr>
      <vt:lpstr>QUYẾT ĐỊNH CHỦNG LOẠI SẢN PHẨM (tt)</vt:lpstr>
      <vt:lpstr>Các quyết định về dịch vụ khách hàng </vt:lpstr>
      <vt:lpstr>Các quyết định về dịch vụ khách hàng</vt:lpstr>
      <vt:lpstr>Quyết định về nội dung dịch vụ cung cấp cho khách hàng</vt:lpstr>
      <vt:lpstr>PowerPoint Presentation</vt:lpstr>
      <vt:lpstr>Quyết định về hình thức cung cấp dịch vụ cho khách hàng</vt:lpstr>
      <vt:lpstr>Chăm sóc khách hàng</vt:lpstr>
      <vt:lpstr>Các chiến lược theo chu kỳ sống sản phẩm  </vt:lpstr>
      <vt:lpstr>Các dạng chu kỳ sống của sản phẩm</vt:lpstr>
      <vt:lpstr>Các chiến lược marketing theo cùng chu kỳ sống của sản phẩm</vt:lpstr>
      <vt:lpstr>Giai đoạn phát triển </vt:lpstr>
      <vt:lpstr>Giai đoạn sung mãn</vt:lpstr>
      <vt:lpstr>PowerPoint Presentation</vt:lpstr>
      <vt:lpstr>Giai đoạn suy tàn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Câu hỏi ôn tập</vt:lpstr>
      <vt:lpstr>PowerPoint Presentation</vt:lpstr>
      <vt:lpstr>MÔI TRƯỜNG MARKETING</vt:lpstr>
      <vt:lpstr>HÀNH VI MUA CỦA KHÁCH HÀNG</vt:lpstr>
      <vt:lpstr>Kiến thức chương 4 Chính sách sản phẩm</vt:lpstr>
      <vt:lpstr>KÊNH PHÂN PHỐI</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Đàm Thị Hiền APD</cp:lastModifiedBy>
  <cp:revision>150</cp:revision>
  <dcterms:created xsi:type="dcterms:W3CDTF">2013-03-31T08:00:16Z</dcterms:created>
  <dcterms:modified xsi:type="dcterms:W3CDTF">2023-10-13T04:58:55Z</dcterms:modified>
</cp:coreProperties>
</file>